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38"/>
  </p:notesMasterIdLst>
  <p:sldIdLst>
    <p:sldId id="256" r:id="rId5"/>
    <p:sldId id="257" r:id="rId6"/>
    <p:sldId id="259" r:id="rId7"/>
    <p:sldId id="258" r:id="rId8"/>
    <p:sldId id="270" r:id="rId9"/>
    <p:sldId id="271" r:id="rId10"/>
    <p:sldId id="272" r:id="rId11"/>
    <p:sldId id="273" r:id="rId12"/>
    <p:sldId id="274" r:id="rId13"/>
    <p:sldId id="290" r:id="rId14"/>
    <p:sldId id="261" r:id="rId15"/>
    <p:sldId id="277" r:id="rId16"/>
    <p:sldId id="267" r:id="rId17"/>
    <p:sldId id="283" r:id="rId18"/>
    <p:sldId id="262" r:id="rId19"/>
    <p:sldId id="284" r:id="rId20"/>
    <p:sldId id="285" r:id="rId21"/>
    <p:sldId id="286" r:id="rId22"/>
    <p:sldId id="268" r:id="rId23"/>
    <p:sldId id="289" r:id="rId24"/>
    <p:sldId id="269" r:id="rId25"/>
    <p:sldId id="278" r:id="rId26"/>
    <p:sldId id="291" r:id="rId27"/>
    <p:sldId id="292" r:id="rId28"/>
    <p:sldId id="293" r:id="rId29"/>
    <p:sldId id="297" r:id="rId30"/>
    <p:sldId id="296" r:id="rId31"/>
    <p:sldId id="294" r:id="rId32"/>
    <p:sldId id="295" r:id="rId33"/>
    <p:sldId id="287" r:id="rId34"/>
    <p:sldId id="288" r:id="rId35"/>
    <p:sldId id="281" r:id="rId36"/>
    <p:sldId id="282"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58" autoAdjust="0"/>
    <p:restoredTop sz="91540" autoAdjust="0"/>
  </p:normalViewPr>
  <p:slideViewPr>
    <p:cSldViewPr>
      <p:cViewPr varScale="1">
        <p:scale>
          <a:sx n="147" d="100"/>
          <a:sy n="147" d="100"/>
        </p:scale>
        <p:origin x="2188" y="96"/>
      </p:cViewPr>
      <p:guideLst>
        <p:guide orient="horz" pos="2160"/>
        <p:guide pos="2880"/>
      </p:guideLst>
    </p:cSldViewPr>
  </p:slideViewPr>
  <p:notesTextViewPr>
    <p:cViewPr>
      <p:scale>
        <a:sx n="1" d="1"/>
        <a:sy n="1" d="1"/>
      </p:scale>
      <p:origin x="0" y="0"/>
    </p:cViewPr>
  </p:notesTextViewPr>
  <p:sorterViewPr>
    <p:cViewPr>
      <p:scale>
        <a:sx n="100" d="100"/>
        <a:sy n="100" d="100"/>
      </p:scale>
      <p:origin x="0" y="516"/>
    </p:cViewPr>
  </p:sorterViewPr>
  <p:notesViewPr>
    <p:cSldViewPr>
      <p:cViewPr varScale="1">
        <p:scale>
          <a:sx n="77" d="100"/>
          <a:sy n="77" d="100"/>
        </p:scale>
        <p:origin x="-834"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3F5D42-D8C1-4DAB-B388-35B930361576}" type="datetimeFigureOut">
              <a:rPr lang="en-US" smtClean="0"/>
              <a:t>6/27/2023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2D4B71-1EF1-4D07-950D-945192FC58E8}" type="slidenum">
              <a:rPr lang="en-US" smtClean="0"/>
              <a:t>‹#›</a:t>
            </a:fld>
            <a:endParaRPr lang="en-US"/>
          </a:p>
        </p:txBody>
      </p:sp>
    </p:spTree>
    <p:extLst>
      <p:ext uri="{BB962C8B-B14F-4D97-AF65-F5344CB8AC3E}">
        <p14:creationId xmlns:p14="http://schemas.microsoft.com/office/powerpoint/2010/main" val="4093332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cran.r-project.org/web/packages/dendextend/vignettes/Cluster_Analysis.htm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2D4B71-1EF1-4D07-950D-945192FC58E8}" type="slidenum">
              <a:rPr lang="en-US" smtClean="0"/>
              <a:t>1</a:t>
            </a:fld>
            <a:endParaRPr lang="en-US"/>
          </a:p>
        </p:txBody>
      </p:sp>
    </p:spTree>
    <p:extLst>
      <p:ext uri="{BB962C8B-B14F-4D97-AF65-F5344CB8AC3E}">
        <p14:creationId xmlns:p14="http://schemas.microsoft.com/office/powerpoint/2010/main" val="3294751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lecture begins the discussion about unsupervised learning.  We’ve discussed supervised learning a lot.  Supervised learning involves some data, typically called a training set that can be used to develop a model that can be used for a variety of reasons, e.g. predicting future events.  The model can be as simple as an equation that represents the functional relationship between an independent, predictor variable and a dependent, response variable.  Or, the model can be considerably more complicated, e.g. involving a cost function used to minimize the loss or error between predicted values of dependent or response variables and the one or many features, i.e. independent variables that impact a response.  In using a training set to develop a model we are essentially training a model or engaging in supervised machine learning.  Now, we are going to start discussing unsupervised learning.  </a:t>
            </a:r>
          </a:p>
          <a:p>
            <a:endParaRPr lang="en-US" dirty="0"/>
          </a:p>
          <a:p>
            <a:r>
              <a:rPr lang="en-US" dirty="0"/>
              <a:t>Unsupervised learning involves developing a model, or engaging in machine learning, by looking for the relationship or relationships between predictor and response variables without the advantage of having data available in a form that allows us to supervise learning.  This includes knowledge discovery in databases or KDD.  We will still have data.  But this data is often referred to as “unlabeled” data.  Meaning that we do not know what the features are or have any way of determining what, if any, relationship or relationships may exist or form between the data we have.  In other words, in unsupervised learning the model is not provided with the correct results as part of training.  </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2</a:t>
            </a:fld>
            <a:endParaRPr lang="en-US"/>
          </a:p>
        </p:txBody>
      </p:sp>
    </p:spTree>
    <p:extLst>
      <p:ext uri="{BB962C8B-B14F-4D97-AF65-F5344CB8AC3E}">
        <p14:creationId xmlns:p14="http://schemas.microsoft.com/office/powerpoint/2010/main" val="1900751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152400"/>
            <a:ext cx="4572000" cy="3429000"/>
          </a:xfrm>
        </p:spPr>
      </p:sp>
      <p:sp>
        <p:nvSpPr>
          <p:cNvPr id="3" name="Notes Placeholder 2"/>
          <p:cNvSpPr>
            <a:spLocks noGrp="1"/>
          </p:cNvSpPr>
          <p:nvPr>
            <p:ph type="body" idx="1"/>
          </p:nvPr>
        </p:nvSpPr>
        <p:spPr>
          <a:xfrm>
            <a:off x="228600" y="3657600"/>
            <a:ext cx="6324600" cy="4800600"/>
          </a:xfrm>
        </p:spPr>
        <p:txBody>
          <a:bodyPr/>
          <a:lstStyle/>
          <a:p>
            <a:r>
              <a:rPr lang="en-US" dirty="0"/>
              <a:t>I want to take a minute to put in a plug for ANLY 506 Exploratory Data Analysis again.  That is an entire course devoted to getting the data required for a specific analysis, taking a preliminary look at the data, cleaning up the data or pre-processing it as required.  In general, it goes from the requirements for an analysis up to the point of actually conducting the analysis and reporting the results.  I cannot overstate the importance of paying attention to the data.  Data characteristics are important for many reasons but particularly for determining which technique to use in specific situations.  For example if an algorithm has a time or space complexity of what we call in computer science </a:t>
            </a:r>
            <a:r>
              <a:rPr lang="en-US" i="1" dirty="0"/>
              <a:t>O(m</a:t>
            </a:r>
            <a:r>
              <a:rPr lang="en-US" i="1" baseline="30000" dirty="0"/>
              <a:t>2</a:t>
            </a:r>
            <a:r>
              <a:rPr lang="en-US" i="1" dirty="0"/>
              <a:t>)</a:t>
            </a:r>
            <a:r>
              <a:rPr lang="en-US" dirty="0"/>
              <a:t> where m is the number of objects it will not be suitable for large data sets.  </a:t>
            </a:r>
          </a:p>
          <a:p>
            <a:r>
              <a:rPr lang="en-US" dirty="0"/>
              <a:t>For right now I’ll give a very abbreviated version of Exploratory Data Analysis or EDA, just the basic steps and what they entail.  </a:t>
            </a:r>
          </a:p>
          <a:p>
            <a:pPr marL="228600" lvl="0" indent="-228600">
              <a:buFont typeface="+mj-lt"/>
              <a:buAutoNum type="arabicPeriod"/>
            </a:pPr>
            <a:r>
              <a:rPr lang="en-US" dirty="0"/>
              <a:t>The first step is to determine what data is required to conduct a desired analysis.  We typically do not just get handed a data set and asked what this data means, although that can happen.  There is a process that has been developed over millennia that is used to design and conduct experiments of all kinds, including surveys.  So, the first step is to determine for a specific analysis what data are required.  </a:t>
            </a:r>
          </a:p>
          <a:p>
            <a:pPr marL="228600" lvl="0" indent="-228600">
              <a:buFont typeface="+mj-lt"/>
              <a:buAutoNum type="arabicPeriod"/>
            </a:pPr>
            <a:r>
              <a:rPr lang="en-US" dirty="0"/>
              <a:t>Then, the second step involves finding and retrieving the data in whatever format and state it might be in.  Only rarely will you get data that is in a nice table format with no missing values, etc.  Often data will be in binary format, blocked according to a data acquisition program, etc.  To retrieve data can involve a wide variety of methods, e.g. if the analysis involves social media web-scraping might be needed.  </a:t>
            </a:r>
          </a:p>
          <a:p>
            <a:pPr marL="228600" lvl="0" indent="-228600">
              <a:buFont typeface="+mj-lt"/>
              <a:buAutoNum type="arabicPeriod"/>
            </a:pPr>
            <a:r>
              <a:rPr lang="en-US" dirty="0"/>
              <a:t>Having retrieved the data, the next step is to take a preliminary look at the data and perform any pre-processing that is required.  Pre-processing can involve everything or anything from dealing with missing values to feature scaling so that the final analysis is not biased do to different features being reported on very different scales, and so on.</a:t>
            </a:r>
          </a:p>
          <a:p>
            <a:pPr marL="228600" lvl="0" indent="-228600">
              <a:buFont typeface="+mj-lt"/>
              <a:buAutoNum type="arabicPeriod"/>
            </a:pPr>
            <a:r>
              <a:rPr lang="en-US" dirty="0"/>
              <a:t>Next, EDA will produce a variety of summary and/or descriptive statistics about the data and often associated plots of the data.</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3</a:t>
            </a:fld>
            <a:endParaRPr lang="en-US"/>
          </a:p>
        </p:txBody>
      </p:sp>
    </p:spTree>
    <p:extLst>
      <p:ext uri="{BB962C8B-B14F-4D97-AF65-F5344CB8AC3E}">
        <p14:creationId xmlns:p14="http://schemas.microsoft.com/office/powerpoint/2010/main" val="38711985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228600"/>
            <a:ext cx="4572000" cy="3429000"/>
          </a:xfrm>
        </p:spPr>
      </p:sp>
      <p:sp>
        <p:nvSpPr>
          <p:cNvPr id="3" name="Notes Placeholder 2"/>
          <p:cNvSpPr>
            <a:spLocks noGrp="1"/>
          </p:cNvSpPr>
          <p:nvPr>
            <p:ph type="body" idx="1"/>
          </p:nvPr>
        </p:nvSpPr>
        <p:spPr>
          <a:xfrm>
            <a:off x="228600" y="3810000"/>
            <a:ext cx="6400800" cy="4648200"/>
          </a:xfrm>
        </p:spPr>
        <p:txBody>
          <a:bodyPr/>
          <a:lstStyle/>
          <a:p>
            <a:r>
              <a:rPr lang="en-US" dirty="0"/>
              <a:t>Often the way we start with such data sets falls in the realm of exploratory data analysis.  The most common method of unsupervised learning is cluster analysis.  Basically cluster analysis is used to find hidden patterns or groups in data.  The most common clustering algorithms include:</a:t>
            </a:r>
          </a:p>
          <a:p>
            <a:r>
              <a:rPr lang="en-US" dirty="0"/>
              <a:t>•	Hierarchical clustering</a:t>
            </a:r>
          </a:p>
          <a:p>
            <a:r>
              <a:rPr lang="en-US" dirty="0"/>
              <a:t>•	k-Means clustering</a:t>
            </a:r>
          </a:p>
          <a:p>
            <a:r>
              <a:rPr lang="en-US" dirty="0"/>
              <a:t>•	Gaussian mixture models</a:t>
            </a:r>
          </a:p>
          <a:p>
            <a:r>
              <a:rPr lang="en-US" dirty="0"/>
              <a:t>•	Self-organizing maps</a:t>
            </a:r>
          </a:p>
          <a:p>
            <a:r>
              <a:rPr lang="en-US" dirty="0"/>
              <a:t>•	and, hidden Markov models</a:t>
            </a:r>
          </a:p>
          <a:p>
            <a:r>
              <a:rPr lang="en-US" dirty="0"/>
              <a:t>Some of these, e.g. k-Means clustering consider “distances” such as the distance between the centroids of clusters to determine relationships.  For example, clusters may be formed on categorical data such as gender and the distance between the centroids of male versus female cluster may represent the relationship between male and female purchases of a particular product or belief in some particular value.  Self-organizing maps typically involve neural networks that form and learn a topology or distribution of the data.  Or, knowledge discovery in databases, KDD, has been defined as “The non trivial process of identifying valid, novel, potentially useful, and ultimately understandable patterns in data” (Fayyad, et al, 1996)</a:t>
            </a:r>
          </a:p>
          <a:p>
            <a:r>
              <a:rPr lang="en-US" dirty="0"/>
              <a:t>Fayyad, U., </a:t>
            </a:r>
            <a:r>
              <a:rPr lang="en-US" dirty="0" err="1"/>
              <a:t>Piatetsky</a:t>
            </a:r>
            <a:r>
              <a:rPr lang="en-US" dirty="0"/>
              <a:t>-Shapiro, G &amp; Smyth, P. (1996). “The KDD Process for Extracting Useful Knowledge from Volumes of Data”. Communications of the ACM, Vol 39: No 11.    </a:t>
            </a:r>
          </a:p>
          <a:p>
            <a:r>
              <a:rPr lang="en-US" dirty="0"/>
              <a:t> Examples of the applications of unsupervised learning include:</a:t>
            </a:r>
          </a:p>
          <a:p>
            <a:r>
              <a:rPr lang="en-US" dirty="0"/>
              <a:t>•	Bioinformatics, specifically sequence analysis and genetic clustering</a:t>
            </a:r>
          </a:p>
          <a:p>
            <a:r>
              <a:rPr lang="en-US" dirty="0"/>
              <a:t>•	Data mining or more specifically pattern mining such as is used in medical imaging</a:t>
            </a:r>
          </a:p>
          <a:p>
            <a:r>
              <a:rPr lang="en-US" dirty="0"/>
              <a:t>•	and, computer vision such as object or pattern recognition.</a:t>
            </a:r>
          </a:p>
          <a:p>
            <a:r>
              <a:rPr lang="en-US" dirty="0"/>
              <a:t>As we go through our discussion of unsupervised learning we will eventually cover all the types of algorithms mentioned and look at specific examples and how we can use R/RStudio to conduct unsupervised learning.</a:t>
            </a:r>
          </a:p>
          <a:p>
            <a:endParaRPr lang="en-US" dirty="0"/>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4</a:t>
            </a:fld>
            <a:endParaRPr lang="en-US"/>
          </a:p>
        </p:txBody>
      </p:sp>
    </p:spTree>
    <p:extLst>
      <p:ext uri="{BB962C8B-B14F-4D97-AF65-F5344CB8AC3E}">
        <p14:creationId xmlns:p14="http://schemas.microsoft.com/office/powerpoint/2010/main" val="1179003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152400"/>
            <a:ext cx="4572000" cy="3429000"/>
          </a:xfrm>
        </p:spPr>
      </p:sp>
      <p:sp>
        <p:nvSpPr>
          <p:cNvPr id="3" name="Notes Placeholder 2"/>
          <p:cNvSpPr>
            <a:spLocks noGrp="1"/>
          </p:cNvSpPr>
          <p:nvPr>
            <p:ph type="body" idx="1"/>
          </p:nvPr>
        </p:nvSpPr>
        <p:spPr>
          <a:xfrm>
            <a:off x="228600" y="3810000"/>
            <a:ext cx="6477000" cy="4800600"/>
          </a:xfrm>
        </p:spPr>
        <p:txBody>
          <a:bodyPr/>
          <a:lstStyle/>
          <a:p>
            <a:r>
              <a:rPr lang="en-US" dirty="0"/>
              <a:t>Just a few more points to mention so that you’ll have them in mind as we go through the various unsupervised learning techniques.  </a:t>
            </a:r>
          </a:p>
          <a:p>
            <a:r>
              <a:rPr lang="en-US" dirty="0"/>
              <a:t>Similarity – Dissimilarity Inter-Cluster and Intra-Cluster similarity can be defined in a number of ways.  Let’s look at Inter-cluster similarity from Tan’s Introduction to Data Mining.  In his book, Tan defines Inter-cluster similarity using a “proximity matrix” as the </a:t>
            </a:r>
          </a:p>
          <a:p>
            <a:pPr marL="171450" lvl="0" indent="-171450">
              <a:buFont typeface="Arial" panose="020B0604020202020204" pitchFamily="34" charset="0"/>
              <a:buChar char="•"/>
            </a:pPr>
            <a:r>
              <a:rPr lang="en-US" dirty="0"/>
              <a:t>Minimum or the minimum distance between points in two clusters</a:t>
            </a:r>
          </a:p>
          <a:p>
            <a:pPr marL="171450" lvl="0" indent="-171450">
              <a:buFont typeface="Arial" panose="020B0604020202020204" pitchFamily="34" charset="0"/>
              <a:buChar char="•"/>
            </a:pPr>
            <a:r>
              <a:rPr lang="en-US" dirty="0"/>
              <a:t>Maximum or the maximum distance between points in two clusters</a:t>
            </a:r>
          </a:p>
          <a:p>
            <a:pPr marL="171450" lvl="0" indent="-171450">
              <a:buFont typeface="Arial" panose="020B0604020202020204" pitchFamily="34" charset="0"/>
              <a:buChar char="•"/>
            </a:pPr>
            <a:r>
              <a:rPr lang="en-US" dirty="0"/>
              <a:t>Group Average or the average distance between all points in two clusters</a:t>
            </a:r>
          </a:p>
          <a:p>
            <a:pPr marL="171450" lvl="0" indent="-171450">
              <a:buFont typeface="Arial" panose="020B0604020202020204" pitchFamily="34" charset="0"/>
              <a:buChar char="•"/>
            </a:pPr>
            <a:r>
              <a:rPr lang="en-US" dirty="0"/>
              <a:t>Distance between Centroids</a:t>
            </a:r>
          </a:p>
          <a:p>
            <a:pPr marL="171450" lvl="0" indent="-171450">
              <a:buFont typeface="Arial" panose="020B0604020202020204" pitchFamily="34" charset="0"/>
              <a:buChar char="•"/>
            </a:pPr>
            <a:r>
              <a:rPr lang="en-US" dirty="0"/>
              <a:t>Other Methods driven by an objective function, e.g. Ward’s Method using the squared error</a:t>
            </a:r>
          </a:p>
          <a:p>
            <a:r>
              <a:rPr lang="en-US" dirty="0"/>
              <a:t>This is illustrated on Slides 5 through 10.  </a:t>
            </a:r>
          </a:p>
          <a:p>
            <a:endParaRPr lang="en-US" dirty="0"/>
          </a:p>
          <a:p>
            <a:r>
              <a:rPr lang="en-US" dirty="0"/>
              <a:t>Measures of distance include the Euclidean distance or sum of the squared Euclidean distance, Manhattan distance, correlation distance and many, many more.  There are many sources that discuss the calculations for these measures of distance including our FML textbook beginning on page 183.  Keep in mind that these calculations are of distances in “feature space”.  For example, how similar are round shapes to each other than they are to square shapes.  The more similar the closer data points should be together or the smaller the distance.    </a:t>
            </a:r>
          </a:p>
          <a:p>
            <a:endParaRPr lang="en-US" dirty="0"/>
          </a:p>
          <a:p>
            <a:r>
              <a:rPr lang="en-US" dirty="0"/>
              <a:t>What you want to focus on is the type of analysis you are conducting and then pick the measure of distance appropriate for that type of analysis.  For example, should the “distance” reflect an “absolute magnitude”?  If so, either the Euclidean or Manhattan distance calculations should work.  Or, does the analysis follow a response that will fluctuate over time?  If so, calculating the correlation distance would probably be more appropriate.  </a:t>
            </a:r>
          </a:p>
          <a:p>
            <a:endParaRPr lang="en-US" dirty="0"/>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5</a:t>
            </a:fld>
            <a:endParaRPr lang="en-US"/>
          </a:p>
        </p:txBody>
      </p:sp>
    </p:spTree>
    <p:extLst>
      <p:ext uri="{BB962C8B-B14F-4D97-AF65-F5344CB8AC3E}">
        <p14:creationId xmlns:p14="http://schemas.microsoft.com/office/powerpoint/2010/main" val="150537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you might want to test.  If the results of the analysis do not change for different appropriate measures of distance then you are at least on the right track.  If your analysis changes drastically with different appropriate measures of distance then there is likely another inconsistency in the overall analysis that beyond this will cause additional problems in the results.</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6</a:t>
            </a:fld>
            <a:endParaRPr lang="en-US"/>
          </a:p>
        </p:txBody>
      </p:sp>
    </p:spTree>
    <p:extLst>
      <p:ext uri="{BB962C8B-B14F-4D97-AF65-F5344CB8AC3E}">
        <p14:creationId xmlns:p14="http://schemas.microsoft.com/office/powerpoint/2010/main" val="857771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2D4B71-1EF1-4D07-950D-945192FC58E8}" type="slidenum">
              <a:rPr lang="en-US" smtClean="0"/>
              <a:t>7</a:t>
            </a:fld>
            <a:endParaRPr lang="en-US"/>
          </a:p>
        </p:txBody>
      </p:sp>
    </p:spTree>
    <p:extLst>
      <p:ext uri="{BB962C8B-B14F-4D97-AF65-F5344CB8AC3E}">
        <p14:creationId xmlns:p14="http://schemas.microsoft.com/office/powerpoint/2010/main" val="10545217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2D4B71-1EF1-4D07-950D-945192FC58E8}" type="slidenum">
              <a:rPr lang="en-US" smtClean="0"/>
              <a:t>8</a:t>
            </a:fld>
            <a:endParaRPr lang="en-US"/>
          </a:p>
        </p:txBody>
      </p:sp>
    </p:spTree>
    <p:extLst>
      <p:ext uri="{BB962C8B-B14F-4D97-AF65-F5344CB8AC3E}">
        <p14:creationId xmlns:p14="http://schemas.microsoft.com/office/powerpoint/2010/main" val="34336618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2D4B71-1EF1-4D07-950D-945192FC58E8}" type="slidenum">
              <a:rPr lang="en-US" smtClean="0"/>
              <a:t>9</a:t>
            </a:fld>
            <a:endParaRPr lang="en-US"/>
          </a:p>
        </p:txBody>
      </p:sp>
    </p:spTree>
    <p:extLst>
      <p:ext uri="{BB962C8B-B14F-4D97-AF65-F5344CB8AC3E}">
        <p14:creationId xmlns:p14="http://schemas.microsoft.com/office/powerpoint/2010/main" val="3568512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general, hierarchical clustering involves successively finding clusters using previously established clusters.  There are two primary approaches to hierarchical clustering, top down or bottoms up.  That is, </a:t>
            </a:r>
          </a:p>
          <a:p>
            <a:endParaRPr lang="en-US" dirty="0"/>
          </a:p>
          <a:p>
            <a:pPr marL="171450" lvl="0" indent="-171450">
              <a:buFont typeface="Arial" panose="020B0604020202020204" pitchFamily="34" charset="0"/>
              <a:buChar char="•"/>
            </a:pPr>
            <a:r>
              <a:rPr lang="en-US" dirty="0"/>
              <a:t>Divisive hierarchical clustering works by recursively splitting the initial cluster into successive clusters moving down through a hierarchy.  </a:t>
            </a:r>
          </a:p>
          <a:p>
            <a:pPr marL="171450" lvl="0" indent="-171450">
              <a:buFont typeface="Arial" panose="020B0604020202020204" pitchFamily="34" charset="0"/>
              <a:buChar char="•"/>
            </a:pPr>
            <a:r>
              <a:rPr lang="en-US" dirty="0"/>
              <a:t>Agglomerative clustering is the bottoms up approach that starts with a set of clusters then successively merges clusters until all are merged up through a hierarchy into one cluster.  </a:t>
            </a:r>
          </a:p>
          <a:p>
            <a:pPr lvl="0"/>
            <a:endParaRPr lang="en-US" dirty="0"/>
          </a:p>
          <a:p>
            <a:r>
              <a:rPr lang="en-US" dirty="0"/>
              <a:t>Hierarchical clustering can be hard to do even for simple cases.  For example, we’ve looked at the Iris data set several times and used several machine learning techniques to look at that data set. </a:t>
            </a:r>
          </a:p>
        </p:txBody>
      </p:sp>
      <p:sp>
        <p:nvSpPr>
          <p:cNvPr id="4" name="Slide Number Placeholder 3"/>
          <p:cNvSpPr>
            <a:spLocks noGrp="1"/>
          </p:cNvSpPr>
          <p:nvPr>
            <p:ph type="sldNum" sz="quarter" idx="10"/>
          </p:nvPr>
        </p:nvSpPr>
        <p:spPr/>
        <p:txBody>
          <a:bodyPr/>
          <a:lstStyle/>
          <a:p>
            <a:fld id="{072D4B71-1EF1-4D07-950D-945192FC58E8}" type="slidenum">
              <a:rPr lang="en-US" smtClean="0"/>
              <a:t>11</a:t>
            </a:fld>
            <a:endParaRPr lang="en-US"/>
          </a:p>
        </p:txBody>
      </p:sp>
    </p:spTree>
    <p:extLst>
      <p:ext uri="{BB962C8B-B14F-4D97-AF65-F5344CB8AC3E}">
        <p14:creationId xmlns:p14="http://schemas.microsoft.com/office/powerpoint/2010/main" val="2767887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illustrates the results of hierarchical clustering for the Iris data set.  Here you see the effect of data points that are in the intersection of the two species, </a:t>
            </a:r>
            <a:r>
              <a:rPr lang="en-US" dirty="0" err="1"/>
              <a:t>Virginica</a:t>
            </a:r>
            <a:r>
              <a:rPr lang="en-US" dirty="0"/>
              <a:t> and Versicolor, i.e. the red and green branches formed from the divisive hierarchical clustering.  This would be a problem, for example, if we wanted to use a support vector machine technique to separate the data in these species.  We can talk about how to handle situations like this in the discussion about support vector machines.  The figure shown on this slide is from the </a:t>
            </a:r>
            <a:r>
              <a:rPr lang="en-US" dirty="0" err="1"/>
              <a:t>cran.r</a:t>
            </a:r>
            <a:r>
              <a:rPr lang="en-US" dirty="0"/>
              <a:t>-project webpage: </a:t>
            </a:r>
            <a:r>
              <a:rPr lang="en-US" u="sng" dirty="0">
                <a:hlinkClick r:id="rId3"/>
              </a:rPr>
              <a:t>https://cran.r-project.org/web/packages/dendextend/vignettes/Cluster_Analysis.html</a:t>
            </a:r>
            <a:r>
              <a:rPr lang="en-US" dirty="0"/>
              <a:t> </a:t>
            </a:r>
          </a:p>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13</a:t>
            </a:fld>
            <a:endParaRPr lang="en-US"/>
          </a:p>
        </p:txBody>
      </p:sp>
    </p:spTree>
    <p:extLst>
      <p:ext uri="{BB962C8B-B14F-4D97-AF65-F5344CB8AC3E}">
        <p14:creationId xmlns:p14="http://schemas.microsoft.com/office/powerpoint/2010/main" val="1092432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14</a:t>
            </a:fld>
            <a:endParaRPr lang="en-US"/>
          </a:p>
        </p:txBody>
      </p:sp>
    </p:spTree>
    <p:extLst>
      <p:ext uri="{BB962C8B-B14F-4D97-AF65-F5344CB8AC3E}">
        <p14:creationId xmlns:p14="http://schemas.microsoft.com/office/powerpoint/2010/main" val="2029016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begins our discussion about k-Means Clustering.  K-Means clustering seeks to divide or partition data into k (a number of) clusters based on features.  Each cluster is defined by its centroid.  Each data point is assigned to a cluster based on the closest centroid.  The goal for k-Means clustering is to minimize intra-cluster variance, e.g. minimize dissimilarities.  Keep in mind that dissimilarities or distances are not necessarily measured numerically like we do geographically.  </a:t>
            </a:r>
          </a:p>
          <a:p>
            <a:endParaRPr lang="en-US" dirty="0"/>
          </a:p>
          <a:p>
            <a:r>
              <a:rPr lang="en-US" dirty="0"/>
              <a:t>Using k-Means typically means using an iterative clustering algorithm with the following steps:</a:t>
            </a:r>
          </a:p>
          <a:p>
            <a:pPr marL="228600" lvl="0" indent="-228600">
              <a:buFont typeface="+mj-lt"/>
              <a:buAutoNum type="arabicPeriod"/>
            </a:pPr>
            <a:r>
              <a:rPr lang="en-US" dirty="0"/>
              <a:t>Initialize, i.e. pick k random points as cluster centers.</a:t>
            </a:r>
          </a:p>
          <a:p>
            <a:pPr marL="228600" lvl="0" indent="-228600">
              <a:buFont typeface="+mj-lt"/>
              <a:buAutoNum type="arabicPeriod"/>
            </a:pPr>
            <a:r>
              <a:rPr lang="en-US" dirty="0"/>
              <a:t>Assign data points to the closest center.</a:t>
            </a:r>
          </a:p>
          <a:p>
            <a:pPr marL="228600" lvl="0" indent="-228600">
              <a:buFont typeface="+mj-lt"/>
              <a:buAutoNum type="arabicPeriod"/>
            </a:pPr>
            <a:r>
              <a:rPr lang="en-US" dirty="0"/>
              <a:t>Change the cluster center to the average of its assigned points.</a:t>
            </a:r>
          </a:p>
          <a:p>
            <a:pPr lvl="0"/>
            <a:endParaRPr lang="en-US" dirty="0"/>
          </a:p>
          <a:p>
            <a:r>
              <a:rPr lang="en-US" dirty="0"/>
              <a:t>Repeat until no points change location during an iteration.  The figure on this slide, Slide 15, illustrates the initial center points and their movement through the first iteration. </a:t>
            </a:r>
          </a:p>
        </p:txBody>
      </p:sp>
      <p:sp>
        <p:nvSpPr>
          <p:cNvPr id="4" name="Slide Number Placeholder 3"/>
          <p:cNvSpPr>
            <a:spLocks noGrp="1"/>
          </p:cNvSpPr>
          <p:nvPr>
            <p:ph type="sldNum" sz="quarter" idx="10"/>
          </p:nvPr>
        </p:nvSpPr>
        <p:spPr/>
        <p:txBody>
          <a:bodyPr/>
          <a:lstStyle/>
          <a:p>
            <a:fld id="{072D4B71-1EF1-4D07-950D-945192FC58E8}" type="slidenum">
              <a:rPr lang="en-US" smtClean="0"/>
              <a:t>15</a:t>
            </a:fld>
            <a:endParaRPr lang="en-US"/>
          </a:p>
        </p:txBody>
      </p:sp>
    </p:spTree>
    <p:extLst>
      <p:ext uri="{BB962C8B-B14F-4D97-AF65-F5344CB8AC3E}">
        <p14:creationId xmlns:p14="http://schemas.microsoft.com/office/powerpoint/2010/main" val="1506215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16</a:t>
            </a:fld>
            <a:endParaRPr lang="en-US"/>
          </a:p>
        </p:txBody>
      </p:sp>
    </p:spTree>
    <p:extLst>
      <p:ext uri="{BB962C8B-B14F-4D97-AF65-F5344CB8AC3E}">
        <p14:creationId xmlns:p14="http://schemas.microsoft.com/office/powerpoint/2010/main" val="29916991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17</a:t>
            </a:fld>
            <a:endParaRPr lang="en-US"/>
          </a:p>
        </p:txBody>
      </p:sp>
    </p:spTree>
    <p:extLst>
      <p:ext uri="{BB962C8B-B14F-4D97-AF65-F5344CB8AC3E}">
        <p14:creationId xmlns:p14="http://schemas.microsoft.com/office/powerpoint/2010/main" val="12061872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18</a:t>
            </a:fld>
            <a:endParaRPr lang="en-US"/>
          </a:p>
        </p:txBody>
      </p:sp>
    </p:spTree>
    <p:extLst>
      <p:ext uri="{BB962C8B-B14F-4D97-AF65-F5344CB8AC3E}">
        <p14:creationId xmlns:p14="http://schemas.microsoft.com/office/powerpoint/2010/main" val="40924042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on Slide 16 illustrates setting up the k-Means clustering algorithm.  In this figure k=5, i.e. 5 points are established as cluster centers.  Next, data points are moved to the closest center.  Then, the centers are moved to the centroids of the clusters formed.  Notice that some of the cluster centers are moving to locations where many points will have to move considerable distance together to form a single cluster.  This raises the question about how to determine k. </a:t>
            </a:r>
          </a:p>
        </p:txBody>
      </p:sp>
      <p:sp>
        <p:nvSpPr>
          <p:cNvPr id="4" name="Slide Number Placeholder 3"/>
          <p:cNvSpPr>
            <a:spLocks noGrp="1"/>
          </p:cNvSpPr>
          <p:nvPr>
            <p:ph type="sldNum" sz="quarter" idx="10"/>
          </p:nvPr>
        </p:nvSpPr>
        <p:spPr/>
        <p:txBody>
          <a:bodyPr/>
          <a:lstStyle/>
          <a:p>
            <a:fld id="{072D4B71-1EF1-4D07-950D-945192FC58E8}" type="slidenum">
              <a:rPr lang="en-US" smtClean="0"/>
              <a:t>19</a:t>
            </a:fld>
            <a:endParaRPr lang="en-US"/>
          </a:p>
        </p:txBody>
      </p:sp>
    </p:spTree>
    <p:extLst>
      <p:ext uri="{BB962C8B-B14F-4D97-AF65-F5344CB8AC3E}">
        <p14:creationId xmlns:p14="http://schemas.microsoft.com/office/powerpoint/2010/main" val="15740097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a:ln/>
        </p:spPr>
      </p:sp>
      <p:sp>
        <p:nvSpPr>
          <p:cNvPr id="1771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341997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21</a:t>
            </a:fld>
            <a:endParaRPr lang="en-US"/>
          </a:p>
        </p:txBody>
      </p:sp>
    </p:spTree>
    <p:extLst>
      <p:ext uri="{BB962C8B-B14F-4D97-AF65-F5344CB8AC3E}">
        <p14:creationId xmlns:p14="http://schemas.microsoft.com/office/powerpoint/2010/main" val="26961575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26</a:t>
            </a:fld>
            <a:endParaRPr lang="en-US"/>
          </a:p>
        </p:txBody>
      </p:sp>
    </p:spTree>
    <p:extLst>
      <p:ext uri="{BB962C8B-B14F-4D97-AF65-F5344CB8AC3E}">
        <p14:creationId xmlns:p14="http://schemas.microsoft.com/office/powerpoint/2010/main" val="30579327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27</a:t>
            </a:fld>
            <a:endParaRPr lang="en-US"/>
          </a:p>
        </p:txBody>
      </p:sp>
    </p:spTree>
    <p:extLst>
      <p:ext uri="{BB962C8B-B14F-4D97-AF65-F5344CB8AC3E}">
        <p14:creationId xmlns:p14="http://schemas.microsoft.com/office/powerpoint/2010/main" val="4420660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30</a:t>
            </a:fld>
            <a:endParaRPr lang="en-US"/>
          </a:p>
        </p:txBody>
      </p:sp>
    </p:spTree>
    <p:extLst>
      <p:ext uri="{BB962C8B-B14F-4D97-AF65-F5344CB8AC3E}">
        <p14:creationId xmlns:p14="http://schemas.microsoft.com/office/powerpoint/2010/main" val="14993672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D4B71-1EF1-4D07-950D-945192FC58E8}" type="slidenum">
              <a:rPr lang="en-US" smtClean="0"/>
              <a:t>31</a:t>
            </a:fld>
            <a:endParaRPr lang="en-US"/>
          </a:p>
        </p:txBody>
      </p:sp>
    </p:spTree>
    <p:extLst>
      <p:ext uri="{BB962C8B-B14F-4D97-AF65-F5344CB8AC3E}">
        <p14:creationId xmlns:p14="http://schemas.microsoft.com/office/powerpoint/2010/main" val="3537554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BE812FC-60A3-4268-AA2E-4FA524787E25}" type="datetime1">
              <a:rPr lang="en-US" smtClean="0"/>
              <a:t>6/27/2023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304301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A209CA-0F0C-4AF2-94DD-A885B34F2BD1}" type="datetime1">
              <a:rPr lang="en-US" smtClean="0"/>
              <a:t>6/27/2023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611924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EDB357F-F7B9-4B42-A9B0-43413011776D}" type="datetime1">
              <a:rPr lang="en-US" smtClean="0"/>
              <a:t>6/27/2023</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437157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60586C-1AEC-41AD-ADAD-A09C8CF10864}" type="datetime1">
              <a:rPr lang="en-US" smtClean="0"/>
              <a:t>6/27/2023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833793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88DC5E2-0047-43F6-9AA3-8E5A806D34AA}" type="datetime1">
              <a:rPr lang="en-US" smtClean="0"/>
              <a:t>6/27/2023</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2335880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35D5DD-6A9C-4595-8B7C-A53D62132C61}" type="datetime1">
              <a:rPr lang="en-US" smtClean="0"/>
              <a:t>6/27/2023</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934901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5628B2-19A0-4665-AE39-5A4B725A714D}" type="datetime1">
              <a:rPr lang="en-US" smtClean="0"/>
              <a:t>6/27/2023</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098762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08377BC-068B-49E9-908C-A35853BFAFB5}" type="datetime1">
              <a:rPr lang="en-US" smtClean="0"/>
              <a:t>6/27/2023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48658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8F1C51C-4C97-434A-B8D8-2E5BC80817FB}" type="datetime1">
              <a:rPr lang="en-US" smtClean="0"/>
              <a:t>6/27/2023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488045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109109-A421-421B-AEF1-C7EB63046BDE}" type="datetime1">
              <a:rPr lang="en-US" smtClean="0"/>
              <a:t>6/27/2023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62134087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109109-A421-421B-AEF1-C7EB63046BDE}" type="datetime1">
              <a:rPr lang="en-US" smtClean="0"/>
              <a:t>6/27/2023</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76F96C40-0356-46F5-90E5-FF57DE76D9A0}"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5960427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D109109-A421-421B-AEF1-C7EB63046BDE}" type="datetime1">
              <a:rPr lang="en-US" smtClean="0"/>
              <a:t>6/27/2023</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45724967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D109109-A421-421B-AEF1-C7EB63046BDE}" type="datetime1">
              <a:rPr lang="en-US" smtClean="0"/>
              <a:t>6/27/2023</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7333136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D109109-A421-421B-AEF1-C7EB63046BDE}" type="datetime1">
              <a:rPr lang="en-US" smtClean="0"/>
              <a:t>6/27/2023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514047158"/>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6BA16E-A510-4FCE-973A-835FDA8A6F1C}" type="datetime1">
              <a:rPr lang="en-US" smtClean="0"/>
              <a:t>6/27/2023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24434874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D566CE-843B-4C37-B5D7-2B9385E9446B}" type="datetime1">
              <a:rPr lang="en-US" smtClean="0"/>
              <a:t>6/27/2023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661150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1D109109-A421-421B-AEF1-C7EB63046BDE}" type="datetime1">
              <a:rPr lang="en-US" smtClean="0"/>
              <a:t>6/27/2023</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76F96C40-0356-46F5-90E5-FF57DE76D9A0}" type="slidenum">
              <a:rPr lang="en-US" smtClean="0"/>
              <a:t>‹#›</a:t>
            </a:fld>
            <a:endParaRPr lang="en-US"/>
          </a:p>
        </p:txBody>
      </p:sp>
    </p:spTree>
    <p:extLst>
      <p:ext uri="{BB962C8B-B14F-4D97-AF65-F5344CB8AC3E}">
        <p14:creationId xmlns:p14="http://schemas.microsoft.com/office/powerpoint/2010/main" val="277582657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1.emf"/><Relationship Id="rId7"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2.emf"/><Relationship Id="rId9" Type="http://schemas.openxmlformats.org/officeDocument/2006/relationships/image" Target="../media/image7.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hyperlink" Target="https://www.youtube.com/channel/UC5zx8Owijmv-bbhAK6Z9apg" TargetMode="Externa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2.png"/><Relationship Id="rId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 Id="rId5" Type="http://schemas.openxmlformats.org/officeDocument/2006/relationships/image" Target="../media/image36.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Machine Learning</a:t>
            </a:r>
          </a:p>
        </p:txBody>
      </p:sp>
      <p:sp>
        <p:nvSpPr>
          <p:cNvPr id="3" name="Subtitle 2"/>
          <p:cNvSpPr>
            <a:spLocks noGrp="1"/>
          </p:cNvSpPr>
          <p:nvPr>
            <p:ph type="subTitle" idx="1"/>
          </p:nvPr>
        </p:nvSpPr>
        <p:spPr/>
        <p:txBody>
          <a:bodyPr>
            <a:normAutofit/>
          </a:bodyPr>
          <a:lstStyle/>
          <a:p>
            <a:r>
              <a:rPr lang="en-US" sz="2400" dirty="0">
                <a:latin typeface="Times New Roman" panose="02020603050405020304" pitchFamily="18" charset="0"/>
                <a:cs typeface="Times New Roman" panose="02020603050405020304" pitchFamily="18" charset="0"/>
              </a:rPr>
              <a:t>Lecture 8</a:t>
            </a:r>
          </a:p>
          <a:p>
            <a:r>
              <a:rPr lang="en-US" sz="2400" dirty="0">
                <a:latin typeface="Times New Roman" panose="02020603050405020304" pitchFamily="18" charset="0"/>
                <a:cs typeface="Times New Roman" panose="02020603050405020304" pitchFamily="18" charset="0"/>
              </a:rPr>
              <a:t>Unsupervised Learning</a:t>
            </a:r>
          </a:p>
        </p:txBody>
      </p:sp>
      <p:sp>
        <p:nvSpPr>
          <p:cNvPr id="4" name="Slide Number Placeholder 3"/>
          <p:cNvSpPr>
            <a:spLocks noGrp="1"/>
          </p:cNvSpPr>
          <p:nvPr>
            <p:ph type="sldNum" sz="quarter" idx="12"/>
          </p:nvPr>
        </p:nvSpPr>
        <p:spPr/>
        <p:txBody>
          <a:bodyPr/>
          <a:lstStyle/>
          <a:p>
            <a:fld id="{76F96C40-0356-46F5-90E5-FF57DE76D9A0}" type="slidenum">
              <a:rPr lang="en-US" smtClean="0"/>
              <a:t>1</a:t>
            </a:fld>
            <a:endParaRPr lang="en-US"/>
          </a:p>
        </p:txBody>
      </p:sp>
    </p:spTree>
    <p:extLst>
      <p:ext uri="{BB962C8B-B14F-4D97-AF65-F5344CB8AC3E}">
        <p14:creationId xmlns:p14="http://schemas.microsoft.com/office/powerpoint/2010/main" val="137754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Lesson Outline</a:t>
            </a:r>
          </a:p>
        </p:txBody>
      </p:sp>
      <p:sp>
        <p:nvSpPr>
          <p:cNvPr id="3" name="Content Placeholder 2"/>
          <p:cNvSpPr>
            <a:spLocks noGrp="1"/>
          </p:cNvSpPr>
          <p:nvPr>
            <p:ph idx="1"/>
          </p:nvPr>
        </p:nvSpPr>
        <p:spPr>
          <a:xfrm>
            <a:off x="685800" y="1524000"/>
            <a:ext cx="8229600" cy="4118050"/>
          </a:xfrm>
        </p:spPr>
        <p:txBody>
          <a:bodyPr>
            <a:normAutofit/>
          </a:bodyPr>
          <a:lstStyle/>
          <a:p>
            <a:pPr lvl="0"/>
            <a:r>
              <a:rPr lang="en-US" sz="2400" dirty="0">
                <a:latin typeface="Times New Roman" panose="02020603050405020304" pitchFamily="18" charset="0"/>
                <a:cs typeface="Times New Roman" panose="02020603050405020304" pitchFamily="18" charset="0"/>
              </a:rPr>
              <a:t>Background and Introduction</a:t>
            </a:r>
          </a:p>
          <a:p>
            <a:pPr lvl="1"/>
            <a:r>
              <a:rPr lang="en-US" sz="2400" dirty="0">
                <a:latin typeface="Times New Roman" panose="02020603050405020304" pitchFamily="18" charset="0"/>
                <a:cs typeface="Times New Roman" panose="02020603050405020304" pitchFamily="18" charset="0"/>
              </a:rPr>
              <a:t>What is Unsupervised Learning? Supervised versus Unsupervised Learning</a:t>
            </a:r>
          </a:p>
          <a:p>
            <a:pPr lvl="1"/>
            <a:r>
              <a:rPr lang="en-US" sz="2400" dirty="0">
                <a:latin typeface="Times New Roman" panose="02020603050405020304" pitchFamily="18" charset="0"/>
                <a:cs typeface="Times New Roman" panose="02020603050405020304" pitchFamily="18" charset="0"/>
              </a:rPr>
              <a:t>Approaches to Unsupervised Learning</a:t>
            </a:r>
          </a:p>
          <a:p>
            <a:pPr lvl="1"/>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 general, how do we conduct unsupervised learning?</a:t>
            </a:r>
          </a:p>
          <a:p>
            <a:r>
              <a:rPr lang="en-US" sz="2400" dirty="0">
                <a:latin typeface="Times New Roman" panose="02020603050405020304" pitchFamily="18" charset="0"/>
                <a:cs typeface="Times New Roman" panose="02020603050405020304" pitchFamily="18" charset="0"/>
              </a:rPr>
              <a:t>Unsupervised Learning Analyses and Algorithms</a:t>
            </a:r>
          </a:p>
        </p:txBody>
      </p:sp>
      <p:sp>
        <p:nvSpPr>
          <p:cNvPr id="4" name="Slide Number Placeholder 3"/>
          <p:cNvSpPr>
            <a:spLocks noGrp="1"/>
          </p:cNvSpPr>
          <p:nvPr>
            <p:ph type="sldNum" sz="quarter" idx="12"/>
          </p:nvPr>
        </p:nvSpPr>
        <p:spPr/>
        <p:txBody>
          <a:bodyPr/>
          <a:lstStyle/>
          <a:p>
            <a:fld id="{76F96C40-0356-46F5-90E5-FF57DE76D9A0}" type="slidenum">
              <a:rPr lang="en-US" smtClean="0"/>
              <a:t>2</a:t>
            </a:fld>
            <a:endParaRPr lang="en-US"/>
          </a:p>
        </p:txBody>
      </p:sp>
    </p:spTree>
    <p:extLst>
      <p:ext uri="{BB962C8B-B14F-4D97-AF65-F5344CB8AC3E}">
        <p14:creationId xmlns:p14="http://schemas.microsoft.com/office/powerpoint/2010/main" val="2195956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9429" y="9908"/>
            <a:ext cx="8991600" cy="1143000"/>
          </a:xfrm>
        </p:spPr>
        <p:txBody>
          <a:bodyPr>
            <a:normAutofit/>
          </a:bodyPr>
          <a:lstStyle/>
          <a:p>
            <a:r>
              <a:rPr lang="en-US" dirty="0">
                <a:latin typeface="Times New Roman" panose="02020603050405020304" pitchFamily="18" charset="0"/>
                <a:cs typeface="Times New Roman" panose="02020603050405020304" pitchFamily="18" charset="0"/>
              </a:rPr>
              <a:t>Conducting Unsupervised Learning</a:t>
            </a:r>
          </a:p>
        </p:txBody>
      </p:sp>
      <p:sp>
        <p:nvSpPr>
          <p:cNvPr id="3" name="Content Placeholder 2"/>
          <p:cNvSpPr>
            <a:spLocks noGrp="1"/>
          </p:cNvSpPr>
          <p:nvPr>
            <p:ph idx="1"/>
          </p:nvPr>
        </p:nvSpPr>
        <p:spPr>
          <a:xfrm>
            <a:off x="1170429" y="773063"/>
            <a:ext cx="8229600" cy="3182410"/>
          </a:xfrm>
        </p:spPr>
        <p:txBody>
          <a:bodyPr>
            <a:noAutofit/>
          </a:bodyPr>
          <a:lstStyle/>
          <a:p>
            <a:r>
              <a:rPr lang="en-US" sz="2400" dirty="0">
                <a:latin typeface="Times New Roman" panose="02020603050405020304" pitchFamily="18" charset="0"/>
                <a:cs typeface="Times New Roman" panose="02020603050405020304" pitchFamily="18" charset="0"/>
              </a:rPr>
              <a:t>Start with exploratory data analysis</a:t>
            </a:r>
          </a:p>
          <a:p>
            <a:pPr lvl="1"/>
            <a:r>
              <a:rPr lang="en-US" sz="2400" dirty="0">
                <a:latin typeface="Times New Roman" panose="02020603050405020304" pitchFamily="18" charset="0"/>
                <a:cs typeface="Times New Roman" panose="02020603050405020304" pitchFamily="18" charset="0"/>
              </a:rPr>
              <a:t>Determine data requirements</a:t>
            </a:r>
          </a:p>
          <a:p>
            <a:pPr lvl="1"/>
            <a:r>
              <a:rPr lang="en-US" sz="2400" dirty="0">
                <a:latin typeface="Times New Roman" panose="02020603050405020304" pitchFamily="18" charset="0"/>
                <a:cs typeface="Times New Roman" panose="02020603050405020304" pitchFamily="18" charset="0"/>
              </a:rPr>
              <a:t>Find and retrieve data</a:t>
            </a:r>
          </a:p>
          <a:p>
            <a:pPr lvl="1"/>
            <a:r>
              <a:rPr lang="en-US" sz="2400" dirty="0">
                <a:latin typeface="Times New Roman" panose="02020603050405020304" pitchFamily="18" charset="0"/>
                <a:cs typeface="Times New Roman" panose="02020603050405020304" pitchFamily="18" charset="0"/>
              </a:rPr>
              <a:t>Explore and pre-process data</a:t>
            </a:r>
          </a:p>
          <a:p>
            <a:pPr lvl="1"/>
            <a:r>
              <a:rPr lang="en-US" sz="2400" dirty="0">
                <a:latin typeface="Times New Roman" panose="02020603050405020304" pitchFamily="18" charset="0"/>
                <a:cs typeface="Times New Roman" panose="02020603050405020304" pitchFamily="18" charset="0"/>
              </a:rPr>
              <a:t>Develop summary and/or descriptive statistics and associated plots for the data</a:t>
            </a:r>
          </a:p>
          <a:p>
            <a:r>
              <a:rPr lang="en-US" sz="2400" dirty="0">
                <a:latin typeface="Times New Roman" panose="02020603050405020304" pitchFamily="18" charset="0"/>
                <a:cs typeface="Times New Roman" panose="02020603050405020304" pitchFamily="18" charset="0"/>
              </a:rPr>
              <a:t>Initiate unsupervised learning analyses</a:t>
            </a:r>
          </a:p>
        </p:txBody>
      </p:sp>
      <p:sp>
        <p:nvSpPr>
          <p:cNvPr id="4" name="Slide Number Placeholder 3"/>
          <p:cNvSpPr>
            <a:spLocks noGrp="1"/>
          </p:cNvSpPr>
          <p:nvPr>
            <p:ph type="sldNum" sz="quarter" idx="12"/>
          </p:nvPr>
        </p:nvSpPr>
        <p:spPr/>
        <p:txBody>
          <a:bodyPr/>
          <a:lstStyle/>
          <a:p>
            <a:fld id="{76F96C40-0356-46F5-90E5-FF57DE76D9A0}" type="slidenum">
              <a:rPr lang="en-US" smtClean="0"/>
              <a:t>3</a:t>
            </a:fld>
            <a:endParaRPr lang="en-US"/>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4620" y="4017818"/>
            <a:ext cx="1371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451763"/>
            <a:ext cx="1404481"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85035" y="4017818"/>
            <a:ext cx="1371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33800" y="4017818"/>
            <a:ext cx="1425998"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29200" y="5451763"/>
            <a:ext cx="1371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0" y="5451763"/>
            <a:ext cx="1945758"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893797" y="5451763"/>
            <a:ext cx="1372758"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4269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General Algorithms</a:t>
            </a:r>
          </a:p>
        </p:txBody>
      </p:sp>
      <p:sp>
        <p:nvSpPr>
          <p:cNvPr id="3" name="Content Placeholder 2"/>
          <p:cNvSpPr>
            <a:spLocks noGrp="1"/>
          </p:cNvSpPr>
          <p:nvPr>
            <p:ph idx="1"/>
          </p:nvPr>
        </p:nvSpPr>
        <p:spPr>
          <a:xfrm>
            <a:off x="457200" y="1600200"/>
            <a:ext cx="8229600" cy="4724400"/>
          </a:xfrm>
        </p:spPr>
        <p:txBody>
          <a:bodyPr>
            <a:normAutofit lnSpcReduction="10000"/>
          </a:bodyPr>
          <a:lstStyle/>
          <a:p>
            <a:r>
              <a:rPr lang="en-US" sz="2400" dirty="0">
                <a:latin typeface="Times New Roman" panose="02020603050405020304" pitchFamily="18" charset="0"/>
                <a:cs typeface="Times New Roman" panose="02020603050405020304" pitchFamily="18" charset="0"/>
              </a:rPr>
              <a:t>Clustering</a:t>
            </a:r>
          </a:p>
          <a:p>
            <a:pPr lvl="2"/>
            <a:r>
              <a:rPr lang="en-US" sz="2200" i="1" dirty="0">
                <a:latin typeface="Times New Roman" panose="02020603050405020304" pitchFamily="18" charset="0"/>
                <a:cs typeface="Times New Roman" panose="02020603050405020304" pitchFamily="18" charset="0"/>
              </a:rPr>
              <a:t>Hierarchical Clustering</a:t>
            </a:r>
            <a:r>
              <a:rPr lang="en-US" sz="2200" dirty="0">
                <a:latin typeface="Times New Roman" panose="02020603050405020304" pitchFamily="18" charset="0"/>
                <a:cs typeface="Times New Roman" panose="02020603050405020304" pitchFamily="18" charset="0"/>
              </a:rPr>
              <a:t> – clustering your data points into parent and child clusters. You might split your customers between younger and older ages, and then split each of those groups into their own individual clusters as well.</a:t>
            </a:r>
          </a:p>
          <a:p>
            <a:pPr lvl="2"/>
            <a:r>
              <a:rPr lang="en-US" sz="2000" i="1" dirty="0">
                <a:latin typeface="Times New Roman" panose="02020603050405020304" pitchFamily="18" charset="0"/>
                <a:cs typeface="Times New Roman" panose="02020603050405020304" pitchFamily="18" charset="0"/>
              </a:rPr>
              <a:t>K-Means Clustering </a:t>
            </a:r>
            <a:r>
              <a:rPr lang="en-US" sz="2000" dirty="0">
                <a:latin typeface="Times New Roman" panose="02020603050405020304" pitchFamily="18" charset="0"/>
                <a:cs typeface="Times New Roman" panose="02020603050405020304" pitchFamily="18" charset="0"/>
              </a:rPr>
              <a:t>– clustering your data points into a number (K) of mutually exclusive clusters.</a:t>
            </a:r>
          </a:p>
          <a:p>
            <a:pPr lvl="2"/>
            <a:r>
              <a:rPr lang="en-US" sz="2000" i="1" dirty="0">
                <a:latin typeface="Times New Roman" panose="02020603050405020304" pitchFamily="18" charset="0"/>
                <a:cs typeface="Times New Roman" panose="02020603050405020304" pitchFamily="18" charset="0"/>
              </a:rPr>
              <a:t>Probabilistic Clustering </a:t>
            </a:r>
            <a:r>
              <a:rPr lang="en-US" sz="2000" dirty="0">
                <a:latin typeface="Times New Roman" panose="02020603050405020304" pitchFamily="18" charset="0"/>
                <a:cs typeface="Times New Roman" panose="02020603050405020304" pitchFamily="18" charset="0"/>
              </a:rPr>
              <a:t>– clustering your data points into clusters on a probabilistic scale.</a:t>
            </a:r>
          </a:p>
          <a:p>
            <a:r>
              <a:rPr lang="en-US" sz="2600" dirty="0">
                <a:latin typeface="Times New Roman" panose="02020603050405020304" pitchFamily="18" charset="0"/>
                <a:cs typeface="Times New Roman" panose="02020603050405020304" pitchFamily="18" charset="0"/>
              </a:rPr>
              <a:t>Data Compression</a:t>
            </a:r>
          </a:p>
          <a:p>
            <a:pPr lvl="2"/>
            <a:r>
              <a:rPr lang="en-US" sz="2200" dirty="0">
                <a:latin typeface="Times New Roman" panose="02020603050405020304" pitchFamily="18" charset="0"/>
                <a:cs typeface="Times New Roman" panose="02020603050405020304" pitchFamily="18" charset="0"/>
              </a:rPr>
              <a:t>PCA, LDA and FA</a:t>
            </a:r>
          </a:p>
          <a:p>
            <a:r>
              <a:rPr lang="en-US" sz="2600" dirty="0">
                <a:latin typeface="Times New Roman" panose="02020603050405020304" pitchFamily="18" charset="0"/>
                <a:cs typeface="Times New Roman" panose="02020603050405020304" pitchFamily="18" charset="0"/>
              </a:rPr>
              <a:t>Deep learning</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4</a:t>
            </a:fld>
            <a:endParaRPr lang="en-US"/>
          </a:p>
        </p:txBody>
      </p:sp>
    </p:spTree>
    <p:extLst>
      <p:ext uri="{BB962C8B-B14F-4D97-AF65-F5344CB8AC3E}">
        <p14:creationId xmlns:p14="http://schemas.microsoft.com/office/powerpoint/2010/main" val="823413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381000" y="152400"/>
            <a:ext cx="8280400" cy="552450"/>
          </a:xfrm>
        </p:spPr>
        <p:txBody>
          <a:bodyPr/>
          <a:lstStyle/>
          <a:p>
            <a:r>
              <a:rPr lang="en-US" altLang="en-US" sz="2800" dirty="0">
                <a:latin typeface="Times New Roman" panose="02020603050405020304" pitchFamily="18" charset="0"/>
                <a:cs typeface="Times New Roman" panose="02020603050405020304" pitchFamily="18" charset="0"/>
              </a:rPr>
              <a:t>How to Define Inter-Intra Similarity</a:t>
            </a:r>
          </a:p>
        </p:txBody>
      </p:sp>
      <p:sp>
        <p:nvSpPr>
          <p:cNvPr id="56323" name="Rectangle 3"/>
          <p:cNvSpPr>
            <a:spLocks noGrp="1" noChangeArrowheads="1"/>
          </p:cNvSpPr>
          <p:nvPr>
            <p:ph idx="1"/>
          </p:nvPr>
        </p:nvSpPr>
        <p:spPr>
          <a:xfrm>
            <a:off x="639763" y="2344738"/>
            <a:ext cx="4800600" cy="3303587"/>
          </a:xfrm>
        </p:spPr>
        <p:txBody>
          <a:bodyPr/>
          <a:lstStyle/>
          <a:p>
            <a:pPr marL="990600" lvl="1" indent="-533400">
              <a:lnSpc>
                <a:spcPct val="90000"/>
              </a:lnSpc>
              <a:spcBef>
                <a:spcPct val="20000"/>
              </a:spcBef>
              <a:buFont typeface="Arial" charset="0"/>
              <a:buNone/>
            </a:pPr>
            <a:r>
              <a:rPr lang="en-US" altLang="en-US" sz="1000" dirty="0"/>
              <a:t> </a:t>
            </a:r>
          </a:p>
        </p:txBody>
      </p:sp>
      <p:sp>
        <p:nvSpPr>
          <p:cNvPr id="2" name="Slide Number Placeholder 1"/>
          <p:cNvSpPr>
            <a:spLocks noGrp="1"/>
          </p:cNvSpPr>
          <p:nvPr>
            <p:ph type="sldNum" sz="quarter" idx="12"/>
          </p:nvPr>
        </p:nvSpPr>
        <p:spPr/>
        <p:txBody>
          <a:bodyPr/>
          <a:lstStyle/>
          <a:p>
            <a:fld id="{76F96C40-0356-46F5-90E5-FF57DE76D9A0}" type="slidenum">
              <a:rPr lang="en-US" smtClean="0"/>
              <a:t>5</a:t>
            </a:fld>
            <a:endParaRPr lang="en-US"/>
          </a:p>
        </p:txBody>
      </p:sp>
      <p:sp>
        <p:nvSpPr>
          <p:cNvPr id="56325" name="Line 29"/>
          <p:cNvSpPr>
            <a:spLocks noChangeShapeType="1"/>
          </p:cNvSpPr>
          <p:nvPr/>
        </p:nvSpPr>
        <p:spPr bwMode="auto">
          <a:xfrm>
            <a:off x="2209800" y="2057400"/>
            <a:ext cx="1066800"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26" name="Text Box 30"/>
          <p:cNvSpPr txBox="1">
            <a:spLocks noChangeArrowheads="1"/>
          </p:cNvSpPr>
          <p:nvPr/>
        </p:nvSpPr>
        <p:spPr bwMode="auto">
          <a:xfrm>
            <a:off x="2209800" y="1600200"/>
            <a:ext cx="1447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600" dirty="0">
                <a:latin typeface="Times New Roman" panose="02020603050405020304" pitchFamily="18" charset="0"/>
                <a:cs typeface="Times New Roman" panose="02020603050405020304" pitchFamily="18" charset="0"/>
              </a:rPr>
              <a:t>Similarity?</a:t>
            </a:r>
          </a:p>
        </p:txBody>
      </p:sp>
      <p:sp>
        <p:nvSpPr>
          <p:cNvPr id="56327" name="Rectangle 31"/>
          <p:cNvSpPr>
            <a:spLocks noChangeArrowheads="1"/>
          </p:cNvSpPr>
          <p:nvPr/>
        </p:nvSpPr>
        <p:spPr bwMode="auto">
          <a:xfrm>
            <a:off x="349250" y="3506788"/>
            <a:ext cx="76962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lvl="2">
              <a:lnSpc>
                <a:spcPct val="90000"/>
              </a:lnSpc>
            </a:pPr>
            <a:r>
              <a:rPr lang="en-US" altLang="en-US" sz="2400" dirty="0">
                <a:solidFill>
                  <a:srgbClr val="FF0000"/>
                </a:solidFill>
                <a:latin typeface="Times New Roman" panose="02020603050405020304" pitchFamily="18" charset="0"/>
                <a:cs typeface="Times New Roman" panose="02020603050405020304" pitchFamily="18" charset="0"/>
              </a:rPr>
              <a:t>Intra-cluster distance:</a:t>
            </a:r>
            <a:r>
              <a:rPr lang="en-US" altLang="en-US" sz="2400" dirty="0">
                <a:latin typeface="Times New Roman" panose="02020603050405020304" pitchFamily="18" charset="0"/>
                <a:cs typeface="Times New Roman" panose="02020603050405020304" pitchFamily="18" charset="0"/>
              </a:rPr>
              <a:t> the sum of distances between objects in the same cluster </a:t>
            </a:r>
          </a:p>
          <a:p>
            <a:pPr lvl="2">
              <a:lnSpc>
                <a:spcPct val="90000"/>
              </a:lnSpc>
            </a:pPr>
            <a:r>
              <a:rPr lang="en-US" altLang="en-US" sz="2400" dirty="0">
                <a:solidFill>
                  <a:srgbClr val="FF0000"/>
                </a:solidFill>
                <a:latin typeface="Times New Roman" panose="02020603050405020304" pitchFamily="18" charset="0"/>
                <a:cs typeface="Times New Roman" panose="02020603050405020304" pitchFamily="18" charset="0"/>
              </a:rPr>
              <a:t>Inter-cluster distance:</a:t>
            </a:r>
            <a:r>
              <a:rPr lang="en-US" altLang="en-US" sz="2400" dirty="0">
                <a:latin typeface="Times New Roman" panose="02020603050405020304" pitchFamily="18" charset="0"/>
                <a:cs typeface="Times New Roman" panose="02020603050405020304" pitchFamily="18" charset="0"/>
              </a:rPr>
              <a:t> the distances between different clusters</a:t>
            </a:r>
          </a:p>
        </p:txBody>
      </p:sp>
      <p:sp>
        <p:nvSpPr>
          <p:cNvPr id="56328" name="Freeform 32" descr="5%"/>
          <p:cNvSpPr>
            <a:spLocks/>
          </p:cNvSpPr>
          <p:nvPr/>
        </p:nvSpPr>
        <p:spPr bwMode="auto">
          <a:xfrm rot="-5400000">
            <a:off x="462757" y="1289843"/>
            <a:ext cx="1828800" cy="1382713"/>
          </a:xfrm>
          <a:custGeom>
            <a:avLst/>
            <a:gdLst>
              <a:gd name="T0" fmla="*/ 1324198 w 598"/>
              <a:gd name="T1" fmla="*/ 146330 h 652"/>
              <a:gd name="T2" fmla="*/ 758432 w 598"/>
              <a:gd name="T3" fmla="*/ 0 h 652"/>
              <a:gd name="T4" fmla="*/ 464845 w 598"/>
              <a:gd name="T5" fmla="*/ 72105 h 652"/>
              <a:gd name="T6" fmla="*/ 382274 w 598"/>
              <a:gd name="T7" fmla="*/ 203590 h 652"/>
              <a:gd name="T8" fmla="*/ 214074 w 598"/>
              <a:gd name="T9" fmla="*/ 364765 h 652"/>
              <a:gd name="T10" fmla="*/ 149852 w 598"/>
              <a:gd name="T11" fmla="*/ 377489 h 652"/>
              <a:gd name="T12" fmla="*/ 88688 w 598"/>
              <a:gd name="T13" fmla="*/ 466560 h 652"/>
              <a:gd name="T14" fmla="*/ 45873 w 598"/>
              <a:gd name="T15" fmla="*/ 553509 h 652"/>
              <a:gd name="T16" fmla="*/ 88688 w 598"/>
              <a:gd name="T17" fmla="*/ 814359 h 652"/>
              <a:gd name="T18" fmla="*/ 296645 w 598"/>
              <a:gd name="T19" fmla="*/ 873739 h 652"/>
              <a:gd name="T20" fmla="*/ 235481 w 598"/>
              <a:gd name="T21" fmla="*/ 1032793 h 652"/>
              <a:gd name="T22" fmla="*/ 318052 w 598"/>
              <a:gd name="T23" fmla="*/ 1308488 h 652"/>
              <a:gd name="T24" fmla="*/ 507660 w 598"/>
              <a:gd name="T25" fmla="*/ 1367868 h 652"/>
              <a:gd name="T26" fmla="*/ 568824 w 598"/>
              <a:gd name="T27" fmla="*/ 1382713 h 652"/>
              <a:gd name="T28" fmla="*/ 737025 w 598"/>
              <a:gd name="T29" fmla="*/ 1280918 h 652"/>
              <a:gd name="T30" fmla="*/ 1073426 w 598"/>
              <a:gd name="T31" fmla="*/ 1382713 h 652"/>
              <a:gd name="T32" fmla="*/ 1367013 w 598"/>
              <a:gd name="T33" fmla="*/ 1251228 h 652"/>
              <a:gd name="T34" fmla="*/ 1596377 w 598"/>
              <a:gd name="T35" fmla="*/ 1149433 h 652"/>
              <a:gd name="T36" fmla="*/ 1743171 w 598"/>
              <a:gd name="T37" fmla="*/ 945844 h 652"/>
              <a:gd name="T38" fmla="*/ 1639192 w 598"/>
              <a:gd name="T39" fmla="*/ 829204 h 652"/>
              <a:gd name="T40" fmla="*/ 1721763 w 598"/>
              <a:gd name="T41" fmla="*/ 742254 h 652"/>
              <a:gd name="T42" fmla="*/ 1828800 w 598"/>
              <a:gd name="T43" fmla="*/ 610769 h 652"/>
              <a:gd name="T44" fmla="*/ 1785985 w 598"/>
              <a:gd name="T45" fmla="*/ 407179 h 652"/>
              <a:gd name="T46" fmla="*/ 1367013 w 598"/>
              <a:gd name="T47" fmla="*/ 203590 h 652"/>
              <a:gd name="T48" fmla="*/ 1324198 w 598"/>
              <a:gd name="T49" fmla="*/ 146330 h 6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8" h="652">
                <a:moveTo>
                  <a:pt x="433" y="69"/>
                </a:moveTo>
                <a:cubicBezTo>
                  <a:pt x="379" y="31"/>
                  <a:pt x="310" y="21"/>
                  <a:pt x="248" y="0"/>
                </a:cubicBezTo>
                <a:cubicBezTo>
                  <a:pt x="195" y="7"/>
                  <a:pt x="192" y="10"/>
                  <a:pt x="152" y="34"/>
                </a:cubicBezTo>
                <a:cubicBezTo>
                  <a:pt x="144" y="57"/>
                  <a:pt x="132" y="73"/>
                  <a:pt x="125" y="96"/>
                </a:cubicBezTo>
                <a:cubicBezTo>
                  <a:pt x="133" y="189"/>
                  <a:pt x="154" y="159"/>
                  <a:pt x="70" y="172"/>
                </a:cubicBezTo>
                <a:cubicBezTo>
                  <a:pt x="63" y="173"/>
                  <a:pt x="56" y="176"/>
                  <a:pt x="49" y="178"/>
                </a:cubicBezTo>
                <a:cubicBezTo>
                  <a:pt x="29" y="209"/>
                  <a:pt x="39" y="188"/>
                  <a:pt x="29" y="220"/>
                </a:cubicBezTo>
                <a:cubicBezTo>
                  <a:pt x="25" y="234"/>
                  <a:pt x="15" y="261"/>
                  <a:pt x="15" y="261"/>
                </a:cubicBezTo>
                <a:cubicBezTo>
                  <a:pt x="18" y="302"/>
                  <a:pt x="0" y="355"/>
                  <a:pt x="29" y="384"/>
                </a:cubicBezTo>
                <a:cubicBezTo>
                  <a:pt x="46" y="401"/>
                  <a:pt x="97" y="412"/>
                  <a:pt x="97" y="412"/>
                </a:cubicBezTo>
                <a:cubicBezTo>
                  <a:pt x="92" y="438"/>
                  <a:pt x="84" y="462"/>
                  <a:pt x="77" y="487"/>
                </a:cubicBezTo>
                <a:cubicBezTo>
                  <a:pt x="79" y="523"/>
                  <a:pt x="71" y="585"/>
                  <a:pt x="104" y="617"/>
                </a:cubicBezTo>
                <a:cubicBezTo>
                  <a:pt x="121" y="634"/>
                  <a:pt x="144" y="638"/>
                  <a:pt x="166" y="645"/>
                </a:cubicBezTo>
                <a:cubicBezTo>
                  <a:pt x="173" y="647"/>
                  <a:pt x="186" y="652"/>
                  <a:pt x="186" y="652"/>
                </a:cubicBezTo>
                <a:cubicBezTo>
                  <a:pt x="214" y="643"/>
                  <a:pt x="224" y="628"/>
                  <a:pt x="241" y="604"/>
                </a:cubicBezTo>
                <a:cubicBezTo>
                  <a:pt x="276" y="626"/>
                  <a:pt x="311" y="642"/>
                  <a:pt x="351" y="652"/>
                </a:cubicBezTo>
                <a:cubicBezTo>
                  <a:pt x="400" y="644"/>
                  <a:pt x="419" y="631"/>
                  <a:pt x="447" y="590"/>
                </a:cubicBezTo>
                <a:cubicBezTo>
                  <a:pt x="467" y="531"/>
                  <a:pt x="403" y="553"/>
                  <a:pt x="522" y="542"/>
                </a:cubicBezTo>
                <a:cubicBezTo>
                  <a:pt x="555" y="520"/>
                  <a:pt x="557" y="482"/>
                  <a:pt x="570" y="446"/>
                </a:cubicBezTo>
                <a:cubicBezTo>
                  <a:pt x="561" y="418"/>
                  <a:pt x="562" y="408"/>
                  <a:pt x="536" y="391"/>
                </a:cubicBezTo>
                <a:cubicBezTo>
                  <a:pt x="512" y="355"/>
                  <a:pt x="529" y="362"/>
                  <a:pt x="563" y="350"/>
                </a:cubicBezTo>
                <a:cubicBezTo>
                  <a:pt x="595" y="303"/>
                  <a:pt x="586" y="325"/>
                  <a:pt x="598" y="288"/>
                </a:cubicBezTo>
                <a:cubicBezTo>
                  <a:pt x="596" y="271"/>
                  <a:pt x="597" y="218"/>
                  <a:pt x="584" y="192"/>
                </a:cubicBezTo>
                <a:cubicBezTo>
                  <a:pt x="560" y="146"/>
                  <a:pt x="494" y="112"/>
                  <a:pt x="447" y="96"/>
                </a:cubicBezTo>
                <a:cubicBezTo>
                  <a:pt x="437" y="93"/>
                  <a:pt x="438" y="78"/>
                  <a:pt x="433" y="69"/>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pattFill prst="pct5">
                  <a:fgClr>
                    <a:schemeClr val="tx1"/>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29" name="Oval 33"/>
          <p:cNvSpPr>
            <a:spLocks noChangeArrowheads="1"/>
          </p:cNvSpPr>
          <p:nvPr/>
        </p:nvSpPr>
        <p:spPr bwMode="auto">
          <a:xfrm rot="-5400000">
            <a:off x="1752600" y="22098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6330" name="Oval 34"/>
          <p:cNvSpPr>
            <a:spLocks noChangeArrowheads="1"/>
          </p:cNvSpPr>
          <p:nvPr/>
        </p:nvSpPr>
        <p:spPr bwMode="auto">
          <a:xfrm rot="-5400000">
            <a:off x="1676400" y="14478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6331" name="Oval 35"/>
          <p:cNvSpPr>
            <a:spLocks noChangeArrowheads="1"/>
          </p:cNvSpPr>
          <p:nvPr/>
        </p:nvSpPr>
        <p:spPr bwMode="auto">
          <a:xfrm rot="-5400000">
            <a:off x="838200" y="19050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6332" name="Oval 36"/>
          <p:cNvSpPr>
            <a:spLocks noChangeArrowheads="1"/>
          </p:cNvSpPr>
          <p:nvPr/>
        </p:nvSpPr>
        <p:spPr bwMode="auto">
          <a:xfrm rot="-5400000">
            <a:off x="1903413" y="1751013"/>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6333" name="Freeform 37" descr="5%"/>
          <p:cNvSpPr>
            <a:spLocks/>
          </p:cNvSpPr>
          <p:nvPr/>
        </p:nvSpPr>
        <p:spPr bwMode="auto">
          <a:xfrm rot="5400000" flipV="1">
            <a:off x="3352800" y="1143000"/>
            <a:ext cx="1828800" cy="1676400"/>
          </a:xfrm>
          <a:custGeom>
            <a:avLst/>
            <a:gdLst>
              <a:gd name="T0" fmla="*/ 1324198 w 598"/>
              <a:gd name="T1" fmla="*/ 177410 h 652"/>
              <a:gd name="T2" fmla="*/ 758432 w 598"/>
              <a:gd name="T3" fmla="*/ 0 h 652"/>
              <a:gd name="T4" fmla="*/ 464845 w 598"/>
              <a:gd name="T5" fmla="*/ 87420 h 652"/>
              <a:gd name="T6" fmla="*/ 382274 w 598"/>
              <a:gd name="T7" fmla="*/ 246832 h 652"/>
              <a:gd name="T8" fmla="*/ 214074 w 598"/>
              <a:gd name="T9" fmla="*/ 442240 h 652"/>
              <a:gd name="T10" fmla="*/ 149852 w 598"/>
              <a:gd name="T11" fmla="*/ 457667 h 652"/>
              <a:gd name="T12" fmla="*/ 88688 w 598"/>
              <a:gd name="T13" fmla="*/ 565656 h 652"/>
              <a:gd name="T14" fmla="*/ 45873 w 598"/>
              <a:gd name="T15" fmla="*/ 671074 h 652"/>
              <a:gd name="T16" fmla="*/ 88688 w 598"/>
              <a:gd name="T17" fmla="*/ 987328 h 652"/>
              <a:gd name="T18" fmla="*/ 296645 w 598"/>
              <a:gd name="T19" fmla="*/ 1059320 h 652"/>
              <a:gd name="T20" fmla="*/ 235481 w 598"/>
              <a:gd name="T21" fmla="*/ 1252158 h 652"/>
              <a:gd name="T22" fmla="*/ 318052 w 598"/>
              <a:gd name="T23" fmla="*/ 1586409 h 652"/>
              <a:gd name="T24" fmla="*/ 507660 w 598"/>
              <a:gd name="T25" fmla="*/ 1658402 h 652"/>
              <a:gd name="T26" fmla="*/ 568824 w 598"/>
              <a:gd name="T27" fmla="*/ 1676400 h 652"/>
              <a:gd name="T28" fmla="*/ 737025 w 598"/>
              <a:gd name="T29" fmla="*/ 1552984 h 652"/>
              <a:gd name="T30" fmla="*/ 1073426 w 598"/>
              <a:gd name="T31" fmla="*/ 1676400 h 652"/>
              <a:gd name="T32" fmla="*/ 1367013 w 598"/>
              <a:gd name="T33" fmla="*/ 1516988 h 652"/>
              <a:gd name="T34" fmla="*/ 1596377 w 598"/>
              <a:gd name="T35" fmla="*/ 1393572 h 652"/>
              <a:gd name="T36" fmla="*/ 1743171 w 598"/>
              <a:gd name="T37" fmla="*/ 1146740 h 652"/>
              <a:gd name="T38" fmla="*/ 1639192 w 598"/>
              <a:gd name="T39" fmla="*/ 1005326 h 652"/>
              <a:gd name="T40" fmla="*/ 1721763 w 598"/>
              <a:gd name="T41" fmla="*/ 899908 h 652"/>
              <a:gd name="T42" fmla="*/ 1828800 w 598"/>
              <a:gd name="T43" fmla="*/ 740496 h 652"/>
              <a:gd name="T44" fmla="*/ 1785985 w 598"/>
              <a:gd name="T45" fmla="*/ 493664 h 652"/>
              <a:gd name="T46" fmla="*/ 1367013 w 598"/>
              <a:gd name="T47" fmla="*/ 246832 h 652"/>
              <a:gd name="T48" fmla="*/ 1324198 w 598"/>
              <a:gd name="T49" fmla="*/ 177410 h 6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8" h="652">
                <a:moveTo>
                  <a:pt x="433" y="69"/>
                </a:moveTo>
                <a:cubicBezTo>
                  <a:pt x="379" y="31"/>
                  <a:pt x="310" y="21"/>
                  <a:pt x="248" y="0"/>
                </a:cubicBezTo>
                <a:cubicBezTo>
                  <a:pt x="195" y="7"/>
                  <a:pt x="192" y="10"/>
                  <a:pt x="152" y="34"/>
                </a:cubicBezTo>
                <a:cubicBezTo>
                  <a:pt x="144" y="57"/>
                  <a:pt x="132" y="73"/>
                  <a:pt x="125" y="96"/>
                </a:cubicBezTo>
                <a:cubicBezTo>
                  <a:pt x="133" y="189"/>
                  <a:pt x="154" y="159"/>
                  <a:pt x="70" y="172"/>
                </a:cubicBezTo>
                <a:cubicBezTo>
                  <a:pt x="63" y="173"/>
                  <a:pt x="56" y="176"/>
                  <a:pt x="49" y="178"/>
                </a:cubicBezTo>
                <a:cubicBezTo>
                  <a:pt x="29" y="209"/>
                  <a:pt x="39" y="188"/>
                  <a:pt x="29" y="220"/>
                </a:cubicBezTo>
                <a:cubicBezTo>
                  <a:pt x="25" y="234"/>
                  <a:pt x="15" y="261"/>
                  <a:pt x="15" y="261"/>
                </a:cubicBezTo>
                <a:cubicBezTo>
                  <a:pt x="18" y="302"/>
                  <a:pt x="0" y="355"/>
                  <a:pt x="29" y="384"/>
                </a:cubicBezTo>
                <a:cubicBezTo>
                  <a:pt x="46" y="401"/>
                  <a:pt x="97" y="412"/>
                  <a:pt x="97" y="412"/>
                </a:cubicBezTo>
                <a:cubicBezTo>
                  <a:pt x="92" y="438"/>
                  <a:pt x="84" y="462"/>
                  <a:pt x="77" y="487"/>
                </a:cubicBezTo>
                <a:cubicBezTo>
                  <a:pt x="79" y="523"/>
                  <a:pt x="71" y="585"/>
                  <a:pt x="104" y="617"/>
                </a:cubicBezTo>
                <a:cubicBezTo>
                  <a:pt x="121" y="634"/>
                  <a:pt x="144" y="638"/>
                  <a:pt x="166" y="645"/>
                </a:cubicBezTo>
                <a:cubicBezTo>
                  <a:pt x="173" y="647"/>
                  <a:pt x="186" y="652"/>
                  <a:pt x="186" y="652"/>
                </a:cubicBezTo>
                <a:cubicBezTo>
                  <a:pt x="214" y="643"/>
                  <a:pt x="224" y="628"/>
                  <a:pt x="241" y="604"/>
                </a:cubicBezTo>
                <a:cubicBezTo>
                  <a:pt x="276" y="626"/>
                  <a:pt x="311" y="642"/>
                  <a:pt x="351" y="652"/>
                </a:cubicBezTo>
                <a:cubicBezTo>
                  <a:pt x="400" y="644"/>
                  <a:pt x="419" y="631"/>
                  <a:pt x="447" y="590"/>
                </a:cubicBezTo>
                <a:cubicBezTo>
                  <a:pt x="467" y="531"/>
                  <a:pt x="403" y="553"/>
                  <a:pt x="522" y="542"/>
                </a:cubicBezTo>
                <a:cubicBezTo>
                  <a:pt x="555" y="520"/>
                  <a:pt x="557" y="482"/>
                  <a:pt x="570" y="446"/>
                </a:cubicBezTo>
                <a:cubicBezTo>
                  <a:pt x="561" y="418"/>
                  <a:pt x="562" y="408"/>
                  <a:pt x="536" y="391"/>
                </a:cubicBezTo>
                <a:cubicBezTo>
                  <a:pt x="512" y="355"/>
                  <a:pt x="529" y="362"/>
                  <a:pt x="563" y="350"/>
                </a:cubicBezTo>
                <a:cubicBezTo>
                  <a:pt x="595" y="303"/>
                  <a:pt x="586" y="325"/>
                  <a:pt x="598" y="288"/>
                </a:cubicBezTo>
                <a:cubicBezTo>
                  <a:pt x="596" y="271"/>
                  <a:pt x="597" y="218"/>
                  <a:pt x="584" y="192"/>
                </a:cubicBezTo>
                <a:cubicBezTo>
                  <a:pt x="560" y="146"/>
                  <a:pt x="494" y="112"/>
                  <a:pt x="447" y="96"/>
                </a:cubicBezTo>
                <a:cubicBezTo>
                  <a:pt x="437" y="93"/>
                  <a:pt x="438" y="78"/>
                  <a:pt x="433" y="69"/>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pattFill prst="pct5">
                  <a:fgClr>
                    <a:schemeClr val="tx1"/>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34" name="Oval 38"/>
          <p:cNvSpPr>
            <a:spLocks noChangeArrowheads="1"/>
          </p:cNvSpPr>
          <p:nvPr/>
        </p:nvSpPr>
        <p:spPr bwMode="auto">
          <a:xfrm rot="5400000" flipV="1">
            <a:off x="4876800" y="16002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6335" name="Oval 39"/>
          <p:cNvSpPr>
            <a:spLocks noChangeArrowheads="1"/>
          </p:cNvSpPr>
          <p:nvPr/>
        </p:nvSpPr>
        <p:spPr bwMode="auto">
          <a:xfrm rot="5400000" flipV="1">
            <a:off x="3516313" y="1598613"/>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6336" name="Oval 40"/>
          <p:cNvSpPr>
            <a:spLocks noChangeArrowheads="1"/>
          </p:cNvSpPr>
          <p:nvPr/>
        </p:nvSpPr>
        <p:spPr bwMode="auto">
          <a:xfrm rot="5400000" flipV="1">
            <a:off x="4038600" y="22098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6337" name="Oval 41"/>
          <p:cNvSpPr>
            <a:spLocks noChangeArrowheads="1"/>
          </p:cNvSpPr>
          <p:nvPr/>
        </p:nvSpPr>
        <p:spPr bwMode="auto">
          <a:xfrm rot="5400000" flipV="1">
            <a:off x="4038600" y="12192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Tree>
    <p:extLst>
      <p:ext uri="{BB962C8B-B14F-4D97-AF65-F5344CB8AC3E}">
        <p14:creationId xmlns:p14="http://schemas.microsoft.com/office/powerpoint/2010/main" val="249860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381000" y="152400"/>
            <a:ext cx="8280400" cy="552450"/>
          </a:xfrm>
        </p:spPr>
        <p:txBody>
          <a:bodyPr/>
          <a:lstStyle/>
          <a:p>
            <a:r>
              <a:rPr lang="en-US" altLang="en-US" sz="2800" dirty="0">
                <a:latin typeface="Times New Roman" panose="02020603050405020304" pitchFamily="18" charset="0"/>
                <a:cs typeface="Times New Roman" panose="02020603050405020304" pitchFamily="18" charset="0"/>
              </a:rPr>
              <a:t>How to Define Inter-Cluster Similarity</a:t>
            </a:r>
          </a:p>
        </p:txBody>
      </p:sp>
      <p:sp>
        <p:nvSpPr>
          <p:cNvPr id="57347" name="Rectangle 3"/>
          <p:cNvSpPr>
            <a:spLocks noGrp="1" noChangeArrowheads="1"/>
          </p:cNvSpPr>
          <p:nvPr>
            <p:ph idx="1"/>
          </p:nvPr>
        </p:nvSpPr>
        <p:spPr>
          <a:xfrm>
            <a:off x="639763" y="2344738"/>
            <a:ext cx="4800600" cy="3303587"/>
          </a:xfrm>
        </p:spPr>
        <p:txBody>
          <a:bodyPr/>
          <a:lstStyle/>
          <a:p>
            <a:pPr marL="990600" lvl="1" indent="-533400">
              <a:lnSpc>
                <a:spcPct val="90000"/>
              </a:lnSpc>
              <a:spcBef>
                <a:spcPct val="20000"/>
              </a:spcBef>
              <a:buFont typeface="Arial" charset="0"/>
              <a:buNone/>
            </a:pPr>
            <a:r>
              <a:rPr lang="en-US" altLang="en-US" sz="1000"/>
              <a:t> </a:t>
            </a:r>
          </a:p>
        </p:txBody>
      </p:sp>
      <p:sp>
        <p:nvSpPr>
          <p:cNvPr id="2" name="Slide Number Placeholder 1"/>
          <p:cNvSpPr>
            <a:spLocks noGrp="1"/>
          </p:cNvSpPr>
          <p:nvPr>
            <p:ph type="sldNum" sz="quarter" idx="12"/>
          </p:nvPr>
        </p:nvSpPr>
        <p:spPr/>
        <p:txBody>
          <a:bodyPr/>
          <a:lstStyle/>
          <a:p>
            <a:fld id="{76F96C40-0356-46F5-90E5-FF57DE76D9A0}" type="slidenum">
              <a:rPr lang="en-US" smtClean="0"/>
              <a:t>6</a:t>
            </a:fld>
            <a:endParaRPr lang="en-US"/>
          </a:p>
        </p:txBody>
      </p:sp>
      <p:sp>
        <p:nvSpPr>
          <p:cNvPr id="57349" name="Freeform 29" descr="5%"/>
          <p:cNvSpPr>
            <a:spLocks/>
          </p:cNvSpPr>
          <p:nvPr/>
        </p:nvSpPr>
        <p:spPr bwMode="auto">
          <a:xfrm rot="-5400000">
            <a:off x="462757" y="1289843"/>
            <a:ext cx="1828800" cy="1382713"/>
          </a:xfrm>
          <a:custGeom>
            <a:avLst/>
            <a:gdLst>
              <a:gd name="T0" fmla="*/ 1324198 w 598"/>
              <a:gd name="T1" fmla="*/ 146330 h 652"/>
              <a:gd name="T2" fmla="*/ 758432 w 598"/>
              <a:gd name="T3" fmla="*/ 0 h 652"/>
              <a:gd name="T4" fmla="*/ 464845 w 598"/>
              <a:gd name="T5" fmla="*/ 72105 h 652"/>
              <a:gd name="T6" fmla="*/ 382274 w 598"/>
              <a:gd name="T7" fmla="*/ 203590 h 652"/>
              <a:gd name="T8" fmla="*/ 214074 w 598"/>
              <a:gd name="T9" fmla="*/ 364765 h 652"/>
              <a:gd name="T10" fmla="*/ 149852 w 598"/>
              <a:gd name="T11" fmla="*/ 377489 h 652"/>
              <a:gd name="T12" fmla="*/ 88688 w 598"/>
              <a:gd name="T13" fmla="*/ 466560 h 652"/>
              <a:gd name="T14" fmla="*/ 45873 w 598"/>
              <a:gd name="T15" fmla="*/ 553509 h 652"/>
              <a:gd name="T16" fmla="*/ 88688 w 598"/>
              <a:gd name="T17" fmla="*/ 814359 h 652"/>
              <a:gd name="T18" fmla="*/ 296645 w 598"/>
              <a:gd name="T19" fmla="*/ 873739 h 652"/>
              <a:gd name="T20" fmla="*/ 235481 w 598"/>
              <a:gd name="T21" fmla="*/ 1032793 h 652"/>
              <a:gd name="T22" fmla="*/ 318052 w 598"/>
              <a:gd name="T23" fmla="*/ 1308488 h 652"/>
              <a:gd name="T24" fmla="*/ 507660 w 598"/>
              <a:gd name="T25" fmla="*/ 1367868 h 652"/>
              <a:gd name="T26" fmla="*/ 568824 w 598"/>
              <a:gd name="T27" fmla="*/ 1382713 h 652"/>
              <a:gd name="T28" fmla="*/ 737025 w 598"/>
              <a:gd name="T29" fmla="*/ 1280918 h 652"/>
              <a:gd name="T30" fmla="*/ 1073426 w 598"/>
              <a:gd name="T31" fmla="*/ 1382713 h 652"/>
              <a:gd name="T32" fmla="*/ 1367013 w 598"/>
              <a:gd name="T33" fmla="*/ 1251228 h 652"/>
              <a:gd name="T34" fmla="*/ 1596377 w 598"/>
              <a:gd name="T35" fmla="*/ 1149433 h 652"/>
              <a:gd name="T36" fmla="*/ 1743171 w 598"/>
              <a:gd name="T37" fmla="*/ 945844 h 652"/>
              <a:gd name="T38" fmla="*/ 1639192 w 598"/>
              <a:gd name="T39" fmla="*/ 829204 h 652"/>
              <a:gd name="T40" fmla="*/ 1721763 w 598"/>
              <a:gd name="T41" fmla="*/ 742254 h 652"/>
              <a:gd name="T42" fmla="*/ 1828800 w 598"/>
              <a:gd name="T43" fmla="*/ 610769 h 652"/>
              <a:gd name="T44" fmla="*/ 1785985 w 598"/>
              <a:gd name="T45" fmla="*/ 407179 h 652"/>
              <a:gd name="T46" fmla="*/ 1367013 w 598"/>
              <a:gd name="T47" fmla="*/ 203590 h 652"/>
              <a:gd name="T48" fmla="*/ 1324198 w 598"/>
              <a:gd name="T49" fmla="*/ 146330 h 6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8" h="652">
                <a:moveTo>
                  <a:pt x="433" y="69"/>
                </a:moveTo>
                <a:cubicBezTo>
                  <a:pt x="379" y="31"/>
                  <a:pt x="310" y="21"/>
                  <a:pt x="248" y="0"/>
                </a:cubicBezTo>
                <a:cubicBezTo>
                  <a:pt x="195" y="7"/>
                  <a:pt x="192" y="10"/>
                  <a:pt x="152" y="34"/>
                </a:cubicBezTo>
                <a:cubicBezTo>
                  <a:pt x="144" y="57"/>
                  <a:pt x="132" y="73"/>
                  <a:pt x="125" y="96"/>
                </a:cubicBezTo>
                <a:cubicBezTo>
                  <a:pt x="133" y="189"/>
                  <a:pt x="154" y="159"/>
                  <a:pt x="70" y="172"/>
                </a:cubicBezTo>
                <a:cubicBezTo>
                  <a:pt x="63" y="173"/>
                  <a:pt x="56" y="176"/>
                  <a:pt x="49" y="178"/>
                </a:cubicBezTo>
                <a:cubicBezTo>
                  <a:pt x="29" y="209"/>
                  <a:pt x="39" y="188"/>
                  <a:pt x="29" y="220"/>
                </a:cubicBezTo>
                <a:cubicBezTo>
                  <a:pt x="25" y="234"/>
                  <a:pt x="15" y="261"/>
                  <a:pt x="15" y="261"/>
                </a:cubicBezTo>
                <a:cubicBezTo>
                  <a:pt x="18" y="302"/>
                  <a:pt x="0" y="355"/>
                  <a:pt x="29" y="384"/>
                </a:cubicBezTo>
                <a:cubicBezTo>
                  <a:pt x="46" y="401"/>
                  <a:pt x="97" y="412"/>
                  <a:pt x="97" y="412"/>
                </a:cubicBezTo>
                <a:cubicBezTo>
                  <a:pt x="92" y="438"/>
                  <a:pt x="84" y="462"/>
                  <a:pt x="77" y="487"/>
                </a:cubicBezTo>
                <a:cubicBezTo>
                  <a:pt x="79" y="523"/>
                  <a:pt x="71" y="585"/>
                  <a:pt x="104" y="617"/>
                </a:cubicBezTo>
                <a:cubicBezTo>
                  <a:pt x="121" y="634"/>
                  <a:pt x="144" y="638"/>
                  <a:pt x="166" y="645"/>
                </a:cubicBezTo>
                <a:cubicBezTo>
                  <a:pt x="173" y="647"/>
                  <a:pt x="186" y="652"/>
                  <a:pt x="186" y="652"/>
                </a:cubicBezTo>
                <a:cubicBezTo>
                  <a:pt x="214" y="643"/>
                  <a:pt x="224" y="628"/>
                  <a:pt x="241" y="604"/>
                </a:cubicBezTo>
                <a:cubicBezTo>
                  <a:pt x="276" y="626"/>
                  <a:pt x="311" y="642"/>
                  <a:pt x="351" y="652"/>
                </a:cubicBezTo>
                <a:cubicBezTo>
                  <a:pt x="400" y="644"/>
                  <a:pt x="419" y="631"/>
                  <a:pt x="447" y="590"/>
                </a:cubicBezTo>
                <a:cubicBezTo>
                  <a:pt x="467" y="531"/>
                  <a:pt x="403" y="553"/>
                  <a:pt x="522" y="542"/>
                </a:cubicBezTo>
                <a:cubicBezTo>
                  <a:pt x="555" y="520"/>
                  <a:pt x="557" y="482"/>
                  <a:pt x="570" y="446"/>
                </a:cubicBezTo>
                <a:cubicBezTo>
                  <a:pt x="561" y="418"/>
                  <a:pt x="562" y="408"/>
                  <a:pt x="536" y="391"/>
                </a:cubicBezTo>
                <a:cubicBezTo>
                  <a:pt x="512" y="355"/>
                  <a:pt x="529" y="362"/>
                  <a:pt x="563" y="350"/>
                </a:cubicBezTo>
                <a:cubicBezTo>
                  <a:pt x="595" y="303"/>
                  <a:pt x="586" y="325"/>
                  <a:pt x="598" y="288"/>
                </a:cubicBezTo>
                <a:cubicBezTo>
                  <a:pt x="596" y="271"/>
                  <a:pt x="597" y="218"/>
                  <a:pt x="584" y="192"/>
                </a:cubicBezTo>
                <a:cubicBezTo>
                  <a:pt x="560" y="146"/>
                  <a:pt x="494" y="112"/>
                  <a:pt x="447" y="96"/>
                </a:cubicBezTo>
                <a:cubicBezTo>
                  <a:pt x="437" y="93"/>
                  <a:pt x="438" y="78"/>
                  <a:pt x="433" y="69"/>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pattFill prst="pct5">
                  <a:fgClr>
                    <a:schemeClr val="tx1"/>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0" name="Oval 30"/>
          <p:cNvSpPr>
            <a:spLocks noChangeArrowheads="1"/>
          </p:cNvSpPr>
          <p:nvPr/>
        </p:nvSpPr>
        <p:spPr bwMode="auto">
          <a:xfrm rot="-5400000">
            <a:off x="1752600" y="22098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7351" name="Oval 31"/>
          <p:cNvSpPr>
            <a:spLocks noChangeArrowheads="1"/>
          </p:cNvSpPr>
          <p:nvPr/>
        </p:nvSpPr>
        <p:spPr bwMode="auto">
          <a:xfrm rot="-5400000">
            <a:off x="1676400" y="14478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7352" name="Oval 32"/>
          <p:cNvSpPr>
            <a:spLocks noChangeArrowheads="1"/>
          </p:cNvSpPr>
          <p:nvPr/>
        </p:nvSpPr>
        <p:spPr bwMode="auto">
          <a:xfrm rot="-5400000">
            <a:off x="838200" y="19050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7353" name="Oval 33"/>
          <p:cNvSpPr>
            <a:spLocks noChangeArrowheads="1"/>
          </p:cNvSpPr>
          <p:nvPr/>
        </p:nvSpPr>
        <p:spPr bwMode="auto">
          <a:xfrm rot="-5400000">
            <a:off x="1903413" y="1751013"/>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7354" name="Freeform 34" descr="5%"/>
          <p:cNvSpPr>
            <a:spLocks/>
          </p:cNvSpPr>
          <p:nvPr/>
        </p:nvSpPr>
        <p:spPr bwMode="auto">
          <a:xfrm rot="5400000" flipV="1">
            <a:off x="3352800" y="1143000"/>
            <a:ext cx="1828800" cy="1676400"/>
          </a:xfrm>
          <a:custGeom>
            <a:avLst/>
            <a:gdLst>
              <a:gd name="T0" fmla="*/ 1324198 w 598"/>
              <a:gd name="T1" fmla="*/ 177410 h 652"/>
              <a:gd name="T2" fmla="*/ 758432 w 598"/>
              <a:gd name="T3" fmla="*/ 0 h 652"/>
              <a:gd name="T4" fmla="*/ 464845 w 598"/>
              <a:gd name="T5" fmla="*/ 87420 h 652"/>
              <a:gd name="T6" fmla="*/ 382274 w 598"/>
              <a:gd name="T7" fmla="*/ 246832 h 652"/>
              <a:gd name="T8" fmla="*/ 214074 w 598"/>
              <a:gd name="T9" fmla="*/ 442240 h 652"/>
              <a:gd name="T10" fmla="*/ 149852 w 598"/>
              <a:gd name="T11" fmla="*/ 457667 h 652"/>
              <a:gd name="T12" fmla="*/ 88688 w 598"/>
              <a:gd name="T13" fmla="*/ 565656 h 652"/>
              <a:gd name="T14" fmla="*/ 45873 w 598"/>
              <a:gd name="T15" fmla="*/ 671074 h 652"/>
              <a:gd name="T16" fmla="*/ 88688 w 598"/>
              <a:gd name="T17" fmla="*/ 987328 h 652"/>
              <a:gd name="T18" fmla="*/ 296645 w 598"/>
              <a:gd name="T19" fmla="*/ 1059320 h 652"/>
              <a:gd name="T20" fmla="*/ 235481 w 598"/>
              <a:gd name="T21" fmla="*/ 1252158 h 652"/>
              <a:gd name="T22" fmla="*/ 318052 w 598"/>
              <a:gd name="T23" fmla="*/ 1586409 h 652"/>
              <a:gd name="T24" fmla="*/ 507660 w 598"/>
              <a:gd name="T25" fmla="*/ 1658402 h 652"/>
              <a:gd name="T26" fmla="*/ 568824 w 598"/>
              <a:gd name="T27" fmla="*/ 1676400 h 652"/>
              <a:gd name="T28" fmla="*/ 737025 w 598"/>
              <a:gd name="T29" fmla="*/ 1552984 h 652"/>
              <a:gd name="T30" fmla="*/ 1073426 w 598"/>
              <a:gd name="T31" fmla="*/ 1676400 h 652"/>
              <a:gd name="T32" fmla="*/ 1367013 w 598"/>
              <a:gd name="T33" fmla="*/ 1516988 h 652"/>
              <a:gd name="T34" fmla="*/ 1596377 w 598"/>
              <a:gd name="T35" fmla="*/ 1393572 h 652"/>
              <a:gd name="T36" fmla="*/ 1743171 w 598"/>
              <a:gd name="T37" fmla="*/ 1146740 h 652"/>
              <a:gd name="T38" fmla="*/ 1639192 w 598"/>
              <a:gd name="T39" fmla="*/ 1005326 h 652"/>
              <a:gd name="T40" fmla="*/ 1721763 w 598"/>
              <a:gd name="T41" fmla="*/ 899908 h 652"/>
              <a:gd name="T42" fmla="*/ 1828800 w 598"/>
              <a:gd name="T43" fmla="*/ 740496 h 652"/>
              <a:gd name="T44" fmla="*/ 1785985 w 598"/>
              <a:gd name="T45" fmla="*/ 493664 h 652"/>
              <a:gd name="T46" fmla="*/ 1367013 w 598"/>
              <a:gd name="T47" fmla="*/ 246832 h 652"/>
              <a:gd name="T48" fmla="*/ 1324198 w 598"/>
              <a:gd name="T49" fmla="*/ 177410 h 6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8" h="652">
                <a:moveTo>
                  <a:pt x="433" y="69"/>
                </a:moveTo>
                <a:cubicBezTo>
                  <a:pt x="379" y="31"/>
                  <a:pt x="310" y="21"/>
                  <a:pt x="248" y="0"/>
                </a:cubicBezTo>
                <a:cubicBezTo>
                  <a:pt x="195" y="7"/>
                  <a:pt x="192" y="10"/>
                  <a:pt x="152" y="34"/>
                </a:cubicBezTo>
                <a:cubicBezTo>
                  <a:pt x="144" y="57"/>
                  <a:pt x="132" y="73"/>
                  <a:pt x="125" y="96"/>
                </a:cubicBezTo>
                <a:cubicBezTo>
                  <a:pt x="133" y="189"/>
                  <a:pt x="154" y="159"/>
                  <a:pt x="70" y="172"/>
                </a:cubicBezTo>
                <a:cubicBezTo>
                  <a:pt x="63" y="173"/>
                  <a:pt x="56" y="176"/>
                  <a:pt x="49" y="178"/>
                </a:cubicBezTo>
                <a:cubicBezTo>
                  <a:pt x="29" y="209"/>
                  <a:pt x="39" y="188"/>
                  <a:pt x="29" y="220"/>
                </a:cubicBezTo>
                <a:cubicBezTo>
                  <a:pt x="25" y="234"/>
                  <a:pt x="15" y="261"/>
                  <a:pt x="15" y="261"/>
                </a:cubicBezTo>
                <a:cubicBezTo>
                  <a:pt x="18" y="302"/>
                  <a:pt x="0" y="355"/>
                  <a:pt x="29" y="384"/>
                </a:cubicBezTo>
                <a:cubicBezTo>
                  <a:pt x="46" y="401"/>
                  <a:pt x="97" y="412"/>
                  <a:pt x="97" y="412"/>
                </a:cubicBezTo>
                <a:cubicBezTo>
                  <a:pt x="92" y="438"/>
                  <a:pt x="84" y="462"/>
                  <a:pt x="77" y="487"/>
                </a:cubicBezTo>
                <a:cubicBezTo>
                  <a:pt x="79" y="523"/>
                  <a:pt x="71" y="585"/>
                  <a:pt x="104" y="617"/>
                </a:cubicBezTo>
                <a:cubicBezTo>
                  <a:pt x="121" y="634"/>
                  <a:pt x="144" y="638"/>
                  <a:pt x="166" y="645"/>
                </a:cubicBezTo>
                <a:cubicBezTo>
                  <a:pt x="173" y="647"/>
                  <a:pt x="186" y="652"/>
                  <a:pt x="186" y="652"/>
                </a:cubicBezTo>
                <a:cubicBezTo>
                  <a:pt x="214" y="643"/>
                  <a:pt x="224" y="628"/>
                  <a:pt x="241" y="604"/>
                </a:cubicBezTo>
                <a:cubicBezTo>
                  <a:pt x="276" y="626"/>
                  <a:pt x="311" y="642"/>
                  <a:pt x="351" y="652"/>
                </a:cubicBezTo>
                <a:cubicBezTo>
                  <a:pt x="400" y="644"/>
                  <a:pt x="419" y="631"/>
                  <a:pt x="447" y="590"/>
                </a:cubicBezTo>
                <a:cubicBezTo>
                  <a:pt x="467" y="531"/>
                  <a:pt x="403" y="553"/>
                  <a:pt x="522" y="542"/>
                </a:cubicBezTo>
                <a:cubicBezTo>
                  <a:pt x="555" y="520"/>
                  <a:pt x="557" y="482"/>
                  <a:pt x="570" y="446"/>
                </a:cubicBezTo>
                <a:cubicBezTo>
                  <a:pt x="561" y="418"/>
                  <a:pt x="562" y="408"/>
                  <a:pt x="536" y="391"/>
                </a:cubicBezTo>
                <a:cubicBezTo>
                  <a:pt x="512" y="355"/>
                  <a:pt x="529" y="362"/>
                  <a:pt x="563" y="350"/>
                </a:cubicBezTo>
                <a:cubicBezTo>
                  <a:pt x="595" y="303"/>
                  <a:pt x="586" y="325"/>
                  <a:pt x="598" y="288"/>
                </a:cubicBezTo>
                <a:cubicBezTo>
                  <a:pt x="596" y="271"/>
                  <a:pt x="597" y="218"/>
                  <a:pt x="584" y="192"/>
                </a:cubicBezTo>
                <a:cubicBezTo>
                  <a:pt x="560" y="146"/>
                  <a:pt x="494" y="112"/>
                  <a:pt x="447" y="96"/>
                </a:cubicBezTo>
                <a:cubicBezTo>
                  <a:pt x="437" y="93"/>
                  <a:pt x="438" y="78"/>
                  <a:pt x="433" y="69"/>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pattFill prst="pct5">
                  <a:fgClr>
                    <a:schemeClr val="tx1"/>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5" name="Oval 35"/>
          <p:cNvSpPr>
            <a:spLocks noChangeArrowheads="1"/>
          </p:cNvSpPr>
          <p:nvPr/>
        </p:nvSpPr>
        <p:spPr bwMode="auto">
          <a:xfrm rot="5400000" flipV="1">
            <a:off x="4876800" y="16002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7356" name="Oval 36"/>
          <p:cNvSpPr>
            <a:spLocks noChangeArrowheads="1"/>
          </p:cNvSpPr>
          <p:nvPr/>
        </p:nvSpPr>
        <p:spPr bwMode="auto">
          <a:xfrm rot="5400000" flipV="1">
            <a:off x="3516313" y="1598613"/>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7357" name="Oval 37"/>
          <p:cNvSpPr>
            <a:spLocks noChangeArrowheads="1"/>
          </p:cNvSpPr>
          <p:nvPr/>
        </p:nvSpPr>
        <p:spPr bwMode="auto">
          <a:xfrm rot="5400000" flipV="1">
            <a:off x="4038600" y="22098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7358" name="Oval 38"/>
          <p:cNvSpPr>
            <a:spLocks noChangeArrowheads="1"/>
          </p:cNvSpPr>
          <p:nvPr/>
        </p:nvSpPr>
        <p:spPr bwMode="auto">
          <a:xfrm rot="5400000" flipV="1">
            <a:off x="4038600" y="12192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7359" name="Line 39"/>
          <p:cNvSpPr>
            <a:spLocks noChangeShapeType="1"/>
          </p:cNvSpPr>
          <p:nvPr/>
        </p:nvSpPr>
        <p:spPr bwMode="auto">
          <a:xfrm flipV="1">
            <a:off x="1981200" y="1600200"/>
            <a:ext cx="1524000" cy="152400"/>
          </a:xfrm>
          <a:prstGeom prst="line">
            <a:avLst/>
          </a:prstGeom>
          <a:noFill/>
          <a:ln w="25400">
            <a:solidFill>
              <a:srgbClr val="FFCC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61" name="Rectangle 41"/>
          <p:cNvSpPr>
            <a:spLocks noChangeArrowheads="1"/>
          </p:cNvSpPr>
          <p:nvPr/>
        </p:nvSpPr>
        <p:spPr bwMode="auto">
          <a:xfrm>
            <a:off x="381000" y="3200400"/>
            <a:ext cx="57912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ts val="200"/>
              </a:spcBef>
              <a:spcAft>
                <a:spcPts val="200"/>
              </a:spcAft>
            </a:pPr>
            <a:r>
              <a:rPr lang="en-US" altLang="en-US" sz="2400" b="0" dirty="0">
                <a:solidFill>
                  <a:srgbClr val="FF0000"/>
                </a:solidFill>
                <a:latin typeface="Times New Roman" panose="02020603050405020304" pitchFamily="18" charset="0"/>
                <a:cs typeface="Times New Roman" panose="02020603050405020304" pitchFamily="18" charset="0"/>
              </a:rPr>
              <a:t>MIN</a:t>
            </a:r>
          </a:p>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MAX</a:t>
            </a:r>
          </a:p>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Group Average</a:t>
            </a:r>
          </a:p>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Distance Between Centroids</a:t>
            </a:r>
          </a:p>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Other methods driven by an objective function</a:t>
            </a:r>
          </a:p>
          <a:p>
            <a:pPr lvl="1">
              <a:spcBef>
                <a:spcPts val="200"/>
              </a:spcBef>
              <a:spcAft>
                <a:spcPts val="200"/>
              </a:spcAft>
            </a:pPr>
            <a:r>
              <a:rPr lang="en-US" altLang="en-US" sz="2000" b="0" dirty="0">
                <a:latin typeface="Times New Roman" panose="02020603050405020304" pitchFamily="18" charset="0"/>
                <a:cs typeface="Times New Roman" panose="02020603050405020304" pitchFamily="18" charset="0"/>
              </a:rPr>
              <a:t>Ward’s Method uses squared error</a:t>
            </a:r>
            <a:endParaRPr lang="en-US" altLang="en-US"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523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381000" y="152400"/>
            <a:ext cx="8280400" cy="552450"/>
          </a:xfrm>
        </p:spPr>
        <p:txBody>
          <a:bodyPr/>
          <a:lstStyle/>
          <a:p>
            <a:r>
              <a:rPr lang="en-US" altLang="en-US" sz="2800">
                <a:latin typeface="Times New Roman" panose="02020603050405020304" pitchFamily="18" charset="0"/>
                <a:cs typeface="Times New Roman" panose="02020603050405020304" pitchFamily="18" charset="0"/>
              </a:rPr>
              <a:t>How to Define Inter-Cluster Similarity</a:t>
            </a:r>
          </a:p>
        </p:txBody>
      </p:sp>
      <p:sp>
        <p:nvSpPr>
          <p:cNvPr id="58371" name="Rectangle 3"/>
          <p:cNvSpPr>
            <a:spLocks noGrp="1" noChangeArrowheads="1"/>
          </p:cNvSpPr>
          <p:nvPr>
            <p:ph idx="1"/>
          </p:nvPr>
        </p:nvSpPr>
        <p:spPr>
          <a:xfrm>
            <a:off x="639763" y="2344738"/>
            <a:ext cx="4800600" cy="3303587"/>
          </a:xfrm>
        </p:spPr>
        <p:txBody>
          <a:bodyPr/>
          <a:lstStyle/>
          <a:p>
            <a:pPr marL="990600" lvl="1" indent="-533400">
              <a:lnSpc>
                <a:spcPct val="90000"/>
              </a:lnSpc>
              <a:spcBef>
                <a:spcPct val="20000"/>
              </a:spcBef>
              <a:buFont typeface="Arial" charset="0"/>
              <a:buNone/>
            </a:pPr>
            <a:r>
              <a:rPr lang="en-US" altLang="en-US" sz="1000"/>
              <a:t> </a:t>
            </a:r>
          </a:p>
        </p:txBody>
      </p:sp>
      <p:sp>
        <p:nvSpPr>
          <p:cNvPr id="2" name="Slide Number Placeholder 1"/>
          <p:cNvSpPr>
            <a:spLocks noGrp="1"/>
          </p:cNvSpPr>
          <p:nvPr>
            <p:ph type="sldNum" sz="quarter" idx="12"/>
          </p:nvPr>
        </p:nvSpPr>
        <p:spPr/>
        <p:txBody>
          <a:bodyPr/>
          <a:lstStyle/>
          <a:p>
            <a:fld id="{76F96C40-0356-46F5-90E5-FF57DE76D9A0}" type="slidenum">
              <a:rPr lang="en-US" smtClean="0"/>
              <a:t>7</a:t>
            </a:fld>
            <a:endParaRPr lang="en-US"/>
          </a:p>
        </p:txBody>
      </p:sp>
      <p:sp>
        <p:nvSpPr>
          <p:cNvPr id="58373" name="Freeform 29" descr="5%"/>
          <p:cNvSpPr>
            <a:spLocks/>
          </p:cNvSpPr>
          <p:nvPr/>
        </p:nvSpPr>
        <p:spPr bwMode="auto">
          <a:xfrm rot="-5400000">
            <a:off x="462757" y="1289843"/>
            <a:ext cx="1828800" cy="1382713"/>
          </a:xfrm>
          <a:custGeom>
            <a:avLst/>
            <a:gdLst>
              <a:gd name="T0" fmla="*/ 1324198 w 598"/>
              <a:gd name="T1" fmla="*/ 146330 h 652"/>
              <a:gd name="T2" fmla="*/ 758432 w 598"/>
              <a:gd name="T3" fmla="*/ 0 h 652"/>
              <a:gd name="T4" fmla="*/ 464845 w 598"/>
              <a:gd name="T5" fmla="*/ 72105 h 652"/>
              <a:gd name="T6" fmla="*/ 382274 w 598"/>
              <a:gd name="T7" fmla="*/ 203590 h 652"/>
              <a:gd name="T8" fmla="*/ 214074 w 598"/>
              <a:gd name="T9" fmla="*/ 364765 h 652"/>
              <a:gd name="T10" fmla="*/ 149852 w 598"/>
              <a:gd name="T11" fmla="*/ 377489 h 652"/>
              <a:gd name="T12" fmla="*/ 88688 w 598"/>
              <a:gd name="T13" fmla="*/ 466560 h 652"/>
              <a:gd name="T14" fmla="*/ 45873 w 598"/>
              <a:gd name="T15" fmla="*/ 553509 h 652"/>
              <a:gd name="T16" fmla="*/ 88688 w 598"/>
              <a:gd name="T17" fmla="*/ 814359 h 652"/>
              <a:gd name="T18" fmla="*/ 296645 w 598"/>
              <a:gd name="T19" fmla="*/ 873739 h 652"/>
              <a:gd name="T20" fmla="*/ 235481 w 598"/>
              <a:gd name="T21" fmla="*/ 1032793 h 652"/>
              <a:gd name="T22" fmla="*/ 318052 w 598"/>
              <a:gd name="T23" fmla="*/ 1308488 h 652"/>
              <a:gd name="T24" fmla="*/ 507660 w 598"/>
              <a:gd name="T25" fmla="*/ 1367868 h 652"/>
              <a:gd name="T26" fmla="*/ 568824 w 598"/>
              <a:gd name="T27" fmla="*/ 1382713 h 652"/>
              <a:gd name="T28" fmla="*/ 737025 w 598"/>
              <a:gd name="T29" fmla="*/ 1280918 h 652"/>
              <a:gd name="T30" fmla="*/ 1073426 w 598"/>
              <a:gd name="T31" fmla="*/ 1382713 h 652"/>
              <a:gd name="T32" fmla="*/ 1367013 w 598"/>
              <a:gd name="T33" fmla="*/ 1251228 h 652"/>
              <a:gd name="T34" fmla="*/ 1596377 w 598"/>
              <a:gd name="T35" fmla="*/ 1149433 h 652"/>
              <a:gd name="T36" fmla="*/ 1743171 w 598"/>
              <a:gd name="T37" fmla="*/ 945844 h 652"/>
              <a:gd name="T38" fmla="*/ 1639192 w 598"/>
              <a:gd name="T39" fmla="*/ 829204 h 652"/>
              <a:gd name="T40" fmla="*/ 1721763 w 598"/>
              <a:gd name="T41" fmla="*/ 742254 h 652"/>
              <a:gd name="T42" fmla="*/ 1828800 w 598"/>
              <a:gd name="T43" fmla="*/ 610769 h 652"/>
              <a:gd name="T44" fmla="*/ 1785985 w 598"/>
              <a:gd name="T45" fmla="*/ 407179 h 652"/>
              <a:gd name="T46" fmla="*/ 1367013 w 598"/>
              <a:gd name="T47" fmla="*/ 203590 h 652"/>
              <a:gd name="T48" fmla="*/ 1324198 w 598"/>
              <a:gd name="T49" fmla="*/ 146330 h 6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8" h="652">
                <a:moveTo>
                  <a:pt x="433" y="69"/>
                </a:moveTo>
                <a:cubicBezTo>
                  <a:pt x="379" y="31"/>
                  <a:pt x="310" y="21"/>
                  <a:pt x="248" y="0"/>
                </a:cubicBezTo>
                <a:cubicBezTo>
                  <a:pt x="195" y="7"/>
                  <a:pt x="192" y="10"/>
                  <a:pt x="152" y="34"/>
                </a:cubicBezTo>
                <a:cubicBezTo>
                  <a:pt x="144" y="57"/>
                  <a:pt x="132" y="73"/>
                  <a:pt x="125" y="96"/>
                </a:cubicBezTo>
                <a:cubicBezTo>
                  <a:pt x="133" y="189"/>
                  <a:pt x="154" y="159"/>
                  <a:pt x="70" y="172"/>
                </a:cubicBezTo>
                <a:cubicBezTo>
                  <a:pt x="63" y="173"/>
                  <a:pt x="56" y="176"/>
                  <a:pt x="49" y="178"/>
                </a:cubicBezTo>
                <a:cubicBezTo>
                  <a:pt x="29" y="209"/>
                  <a:pt x="39" y="188"/>
                  <a:pt x="29" y="220"/>
                </a:cubicBezTo>
                <a:cubicBezTo>
                  <a:pt x="25" y="234"/>
                  <a:pt x="15" y="261"/>
                  <a:pt x="15" y="261"/>
                </a:cubicBezTo>
                <a:cubicBezTo>
                  <a:pt x="18" y="302"/>
                  <a:pt x="0" y="355"/>
                  <a:pt x="29" y="384"/>
                </a:cubicBezTo>
                <a:cubicBezTo>
                  <a:pt x="46" y="401"/>
                  <a:pt x="97" y="412"/>
                  <a:pt x="97" y="412"/>
                </a:cubicBezTo>
                <a:cubicBezTo>
                  <a:pt x="92" y="438"/>
                  <a:pt x="84" y="462"/>
                  <a:pt x="77" y="487"/>
                </a:cubicBezTo>
                <a:cubicBezTo>
                  <a:pt x="79" y="523"/>
                  <a:pt x="71" y="585"/>
                  <a:pt x="104" y="617"/>
                </a:cubicBezTo>
                <a:cubicBezTo>
                  <a:pt x="121" y="634"/>
                  <a:pt x="144" y="638"/>
                  <a:pt x="166" y="645"/>
                </a:cubicBezTo>
                <a:cubicBezTo>
                  <a:pt x="173" y="647"/>
                  <a:pt x="186" y="652"/>
                  <a:pt x="186" y="652"/>
                </a:cubicBezTo>
                <a:cubicBezTo>
                  <a:pt x="214" y="643"/>
                  <a:pt x="224" y="628"/>
                  <a:pt x="241" y="604"/>
                </a:cubicBezTo>
                <a:cubicBezTo>
                  <a:pt x="276" y="626"/>
                  <a:pt x="311" y="642"/>
                  <a:pt x="351" y="652"/>
                </a:cubicBezTo>
                <a:cubicBezTo>
                  <a:pt x="400" y="644"/>
                  <a:pt x="419" y="631"/>
                  <a:pt x="447" y="590"/>
                </a:cubicBezTo>
                <a:cubicBezTo>
                  <a:pt x="467" y="531"/>
                  <a:pt x="403" y="553"/>
                  <a:pt x="522" y="542"/>
                </a:cubicBezTo>
                <a:cubicBezTo>
                  <a:pt x="555" y="520"/>
                  <a:pt x="557" y="482"/>
                  <a:pt x="570" y="446"/>
                </a:cubicBezTo>
                <a:cubicBezTo>
                  <a:pt x="561" y="418"/>
                  <a:pt x="562" y="408"/>
                  <a:pt x="536" y="391"/>
                </a:cubicBezTo>
                <a:cubicBezTo>
                  <a:pt x="512" y="355"/>
                  <a:pt x="529" y="362"/>
                  <a:pt x="563" y="350"/>
                </a:cubicBezTo>
                <a:cubicBezTo>
                  <a:pt x="595" y="303"/>
                  <a:pt x="586" y="325"/>
                  <a:pt x="598" y="288"/>
                </a:cubicBezTo>
                <a:cubicBezTo>
                  <a:pt x="596" y="271"/>
                  <a:pt x="597" y="218"/>
                  <a:pt x="584" y="192"/>
                </a:cubicBezTo>
                <a:cubicBezTo>
                  <a:pt x="560" y="146"/>
                  <a:pt x="494" y="112"/>
                  <a:pt x="447" y="96"/>
                </a:cubicBezTo>
                <a:cubicBezTo>
                  <a:pt x="437" y="93"/>
                  <a:pt x="438" y="78"/>
                  <a:pt x="433" y="69"/>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pattFill prst="pct5">
                  <a:fgClr>
                    <a:schemeClr val="tx1"/>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74" name="Oval 30"/>
          <p:cNvSpPr>
            <a:spLocks noChangeArrowheads="1"/>
          </p:cNvSpPr>
          <p:nvPr/>
        </p:nvSpPr>
        <p:spPr bwMode="auto">
          <a:xfrm rot="-5400000">
            <a:off x="1752600" y="22098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8375" name="Oval 31"/>
          <p:cNvSpPr>
            <a:spLocks noChangeArrowheads="1"/>
          </p:cNvSpPr>
          <p:nvPr/>
        </p:nvSpPr>
        <p:spPr bwMode="auto">
          <a:xfrm rot="-5400000">
            <a:off x="1676400" y="14478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8376" name="Oval 32"/>
          <p:cNvSpPr>
            <a:spLocks noChangeArrowheads="1"/>
          </p:cNvSpPr>
          <p:nvPr/>
        </p:nvSpPr>
        <p:spPr bwMode="auto">
          <a:xfrm rot="-5400000">
            <a:off x="838200" y="19050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8377" name="Oval 33"/>
          <p:cNvSpPr>
            <a:spLocks noChangeArrowheads="1"/>
          </p:cNvSpPr>
          <p:nvPr/>
        </p:nvSpPr>
        <p:spPr bwMode="auto">
          <a:xfrm rot="-5400000">
            <a:off x="1903413" y="1751013"/>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8378" name="Freeform 34" descr="5%"/>
          <p:cNvSpPr>
            <a:spLocks/>
          </p:cNvSpPr>
          <p:nvPr/>
        </p:nvSpPr>
        <p:spPr bwMode="auto">
          <a:xfrm rot="5400000" flipV="1">
            <a:off x="3352800" y="1143000"/>
            <a:ext cx="1828800" cy="1676400"/>
          </a:xfrm>
          <a:custGeom>
            <a:avLst/>
            <a:gdLst>
              <a:gd name="T0" fmla="*/ 1324198 w 598"/>
              <a:gd name="T1" fmla="*/ 177410 h 652"/>
              <a:gd name="T2" fmla="*/ 758432 w 598"/>
              <a:gd name="T3" fmla="*/ 0 h 652"/>
              <a:gd name="T4" fmla="*/ 464845 w 598"/>
              <a:gd name="T5" fmla="*/ 87420 h 652"/>
              <a:gd name="T6" fmla="*/ 382274 w 598"/>
              <a:gd name="T7" fmla="*/ 246832 h 652"/>
              <a:gd name="T8" fmla="*/ 214074 w 598"/>
              <a:gd name="T9" fmla="*/ 442240 h 652"/>
              <a:gd name="T10" fmla="*/ 149852 w 598"/>
              <a:gd name="T11" fmla="*/ 457667 h 652"/>
              <a:gd name="T12" fmla="*/ 88688 w 598"/>
              <a:gd name="T13" fmla="*/ 565656 h 652"/>
              <a:gd name="T14" fmla="*/ 45873 w 598"/>
              <a:gd name="T15" fmla="*/ 671074 h 652"/>
              <a:gd name="T16" fmla="*/ 88688 w 598"/>
              <a:gd name="T17" fmla="*/ 987328 h 652"/>
              <a:gd name="T18" fmla="*/ 296645 w 598"/>
              <a:gd name="T19" fmla="*/ 1059320 h 652"/>
              <a:gd name="T20" fmla="*/ 235481 w 598"/>
              <a:gd name="T21" fmla="*/ 1252158 h 652"/>
              <a:gd name="T22" fmla="*/ 318052 w 598"/>
              <a:gd name="T23" fmla="*/ 1586409 h 652"/>
              <a:gd name="T24" fmla="*/ 507660 w 598"/>
              <a:gd name="T25" fmla="*/ 1658402 h 652"/>
              <a:gd name="T26" fmla="*/ 568824 w 598"/>
              <a:gd name="T27" fmla="*/ 1676400 h 652"/>
              <a:gd name="T28" fmla="*/ 737025 w 598"/>
              <a:gd name="T29" fmla="*/ 1552984 h 652"/>
              <a:gd name="T30" fmla="*/ 1073426 w 598"/>
              <a:gd name="T31" fmla="*/ 1676400 h 652"/>
              <a:gd name="T32" fmla="*/ 1367013 w 598"/>
              <a:gd name="T33" fmla="*/ 1516988 h 652"/>
              <a:gd name="T34" fmla="*/ 1596377 w 598"/>
              <a:gd name="T35" fmla="*/ 1393572 h 652"/>
              <a:gd name="T36" fmla="*/ 1743171 w 598"/>
              <a:gd name="T37" fmla="*/ 1146740 h 652"/>
              <a:gd name="T38" fmla="*/ 1639192 w 598"/>
              <a:gd name="T39" fmla="*/ 1005326 h 652"/>
              <a:gd name="T40" fmla="*/ 1721763 w 598"/>
              <a:gd name="T41" fmla="*/ 899908 h 652"/>
              <a:gd name="T42" fmla="*/ 1828800 w 598"/>
              <a:gd name="T43" fmla="*/ 740496 h 652"/>
              <a:gd name="T44" fmla="*/ 1785985 w 598"/>
              <a:gd name="T45" fmla="*/ 493664 h 652"/>
              <a:gd name="T46" fmla="*/ 1367013 w 598"/>
              <a:gd name="T47" fmla="*/ 246832 h 652"/>
              <a:gd name="T48" fmla="*/ 1324198 w 598"/>
              <a:gd name="T49" fmla="*/ 177410 h 6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8" h="652">
                <a:moveTo>
                  <a:pt x="433" y="69"/>
                </a:moveTo>
                <a:cubicBezTo>
                  <a:pt x="379" y="31"/>
                  <a:pt x="310" y="21"/>
                  <a:pt x="248" y="0"/>
                </a:cubicBezTo>
                <a:cubicBezTo>
                  <a:pt x="195" y="7"/>
                  <a:pt x="192" y="10"/>
                  <a:pt x="152" y="34"/>
                </a:cubicBezTo>
                <a:cubicBezTo>
                  <a:pt x="144" y="57"/>
                  <a:pt x="132" y="73"/>
                  <a:pt x="125" y="96"/>
                </a:cubicBezTo>
                <a:cubicBezTo>
                  <a:pt x="133" y="189"/>
                  <a:pt x="154" y="159"/>
                  <a:pt x="70" y="172"/>
                </a:cubicBezTo>
                <a:cubicBezTo>
                  <a:pt x="63" y="173"/>
                  <a:pt x="56" y="176"/>
                  <a:pt x="49" y="178"/>
                </a:cubicBezTo>
                <a:cubicBezTo>
                  <a:pt x="29" y="209"/>
                  <a:pt x="39" y="188"/>
                  <a:pt x="29" y="220"/>
                </a:cubicBezTo>
                <a:cubicBezTo>
                  <a:pt x="25" y="234"/>
                  <a:pt x="15" y="261"/>
                  <a:pt x="15" y="261"/>
                </a:cubicBezTo>
                <a:cubicBezTo>
                  <a:pt x="18" y="302"/>
                  <a:pt x="0" y="355"/>
                  <a:pt x="29" y="384"/>
                </a:cubicBezTo>
                <a:cubicBezTo>
                  <a:pt x="46" y="401"/>
                  <a:pt x="97" y="412"/>
                  <a:pt x="97" y="412"/>
                </a:cubicBezTo>
                <a:cubicBezTo>
                  <a:pt x="92" y="438"/>
                  <a:pt x="84" y="462"/>
                  <a:pt x="77" y="487"/>
                </a:cubicBezTo>
                <a:cubicBezTo>
                  <a:pt x="79" y="523"/>
                  <a:pt x="71" y="585"/>
                  <a:pt x="104" y="617"/>
                </a:cubicBezTo>
                <a:cubicBezTo>
                  <a:pt x="121" y="634"/>
                  <a:pt x="144" y="638"/>
                  <a:pt x="166" y="645"/>
                </a:cubicBezTo>
                <a:cubicBezTo>
                  <a:pt x="173" y="647"/>
                  <a:pt x="186" y="652"/>
                  <a:pt x="186" y="652"/>
                </a:cubicBezTo>
                <a:cubicBezTo>
                  <a:pt x="214" y="643"/>
                  <a:pt x="224" y="628"/>
                  <a:pt x="241" y="604"/>
                </a:cubicBezTo>
                <a:cubicBezTo>
                  <a:pt x="276" y="626"/>
                  <a:pt x="311" y="642"/>
                  <a:pt x="351" y="652"/>
                </a:cubicBezTo>
                <a:cubicBezTo>
                  <a:pt x="400" y="644"/>
                  <a:pt x="419" y="631"/>
                  <a:pt x="447" y="590"/>
                </a:cubicBezTo>
                <a:cubicBezTo>
                  <a:pt x="467" y="531"/>
                  <a:pt x="403" y="553"/>
                  <a:pt x="522" y="542"/>
                </a:cubicBezTo>
                <a:cubicBezTo>
                  <a:pt x="555" y="520"/>
                  <a:pt x="557" y="482"/>
                  <a:pt x="570" y="446"/>
                </a:cubicBezTo>
                <a:cubicBezTo>
                  <a:pt x="561" y="418"/>
                  <a:pt x="562" y="408"/>
                  <a:pt x="536" y="391"/>
                </a:cubicBezTo>
                <a:cubicBezTo>
                  <a:pt x="512" y="355"/>
                  <a:pt x="529" y="362"/>
                  <a:pt x="563" y="350"/>
                </a:cubicBezTo>
                <a:cubicBezTo>
                  <a:pt x="595" y="303"/>
                  <a:pt x="586" y="325"/>
                  <a:pt x="598" y="288"/>
                </a:cubicBezTo>
                <a:cubicBezTo>
                  <a:pt x="596" y="271"/>
                  <a:pt x="597" y="218"/>
                  <a:pt x="584" y="192"/>
                </a:cubicBezTo>
                <a:cubicBezTo>
                  <a:pt x="560" y="146"/>
                  <a:pt x="494" y="112"/>
                  <a:pt x="447" y="96"/>
                </a:cubicBezTo>
                <a:cubicBezTo>
                  <a:pt x="437" y="93"/>
                  <a:pt x="438" y="78"/>
                  <a:pt x="433" y="69"/>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pattFill prst="pct5">
                  <a:fgClr>
                    <a:schemeClr val="tx1"/>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79" name="Oval 35"/>
          <p:cNvSpPr>
            <a:spLocks noChangeArrowheads="1"/>
          </p:cNvSpPr>
          <p:nvPr/>
        </p:nvSpPr>
        <p:spPr bwMode="auto">
          <a:xfrm rot="5400000" flipV="1">
            <a:off x="4876800" y="16002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8380" name="Oval 36"/>
          <p:cNvSpPr>
            <a:spLocks noChangeArrowheads="1"/>
          </p:cNvSpPr>
          <p:nvPr/>
        </p:nvSpPr>
        <p:spPr bwMode="auto">
          <a:xfrm rot="5400000" flipV="1">
            <a:off x="3516313" y="1598613"/>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8381" name="Oval 37"/>
          <p:cNvSpPr>
            <a:spLocks noChangeArrowheads="1"/>
          </p:cNvSpPr>
          <p:nvPr/>
        </p:nvSpPr>
        <p:spPr bwMode="auto">
          <a:xfrm rot="5400000" flipV="1">
            <a:off x="4038600" y="22098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8382" name="Oval 38"/>
          <p:cNvSpPr>
            <a:spLocks noChangeArrowheads="1"/>
          </p:cNvSpPr>
          <p:nvPr/>
        </p:nvSpPr>
        <p:spPr bwMode="auto">
          <a:xfrm rot="5400000" flipV="1">
            <a:off x="4038600" y="12192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8383" name="Line 39"/>
          <p:cNvSpPr>
            <a:spLocks noChangeShapeType="1"/>
          </p:cNvSpPr>
          <p:nvPr/>
        </p:nvSpPr>
        <p:spPr bwMode="auto">
          <a:xfrm flipV="1">
            <a:off x="914400" y="1676400"/>
            <a:ext cx="3962400" cy="228600"/>
          </a:xfrm>
          <a:prstGeom prst="line">
            <a:avLst/>
          </a:prstGeom>
          <a:noFill/>
          <a:ln w="25400">
            <a:solidFill>
              <a:srgbClr val="FFCC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85" name="Rectangle 41"/>
          <p:cNvSpPr>
            <a:spLocks noChangeArrowheads="1"/>
          </p:cNvSpPr>
          <p:nvPr/>
        </p:nvSpPr>
        <p:spPr bwMode="auto">
          <a:xfrm>
            <a:off x="381000" y="3200400"/>
            <a:ext cx="57912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MIN</a:t>
            </a:r>
          </a:p>
          <a:p>
            <a:pPr>
              <a:spcBef>
                <a:spcPts val="200"/>
              </a:spcBef>
              <a:spcAft>
                <a:spcPts val="200"/>
              </a:spcAft>
            </a:pPr>
            <a:r>
              <a:rPr lang="en-US" altLang="en-US" sz="2400" b="0" dirty="0">
                <a:solidFill>
                  <a:srgbClr val="FF0000"/>
                </a:solidFill>
                <a:latin typeface="Times New Roman" panose="02020603050405020304" pitchFamily="18" charset="0"/>
                <a:cs typeface="Times New Roman" panose="02020603050405020304" pitchFamily="18" charset="0"/>
              </a:rPr>
              <a:t>MAX</a:t>
            </a:r>
          </a:p>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Group Average</a:t>
            </a:r>
          </a:p>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Distance Between Centroids</a:t>
            </a:r>
          </a:p>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Other methods driven by an objective function</a:t>
            </a:r>
          </a:p>
          <a:p>
            <a:pPr lvl="1">
              <a:spcBef>
                <a:spcPts val="200"/>
              </a:spcBef>
              <a:spcAft>
                <a:spcPts val="200"/>
              </a:spcAft>
            </a:pPr>
            <a:r>
              <a:rPr lang="en-US" altLang="en-US" sz="2000" b="0" dirty="0">
                <a:latin typeface="Times New Roman" panose="02020603050405020304" pitchFamily="18" charset="0"/>
                <a:cs typeface="Times New Roman" panose="02020603050405020304" pitchFamily="18" charset="0"/>
              </a:rPr>
              <a:t>Ward’s Method uses squared error</a:t>
            </a:r>
            <a:endParaRPr lang="en-US" altLang="en-US"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91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381000" y="152400"/>
            <a:ext cx="8280400" cy="552450"/>
          </a:xfrm>
        </p:spPr>
        <p:txBody>
          <a:bodyPr/>
          <a:lstStyle/>
          <a:p>
            <a:r>
              <a:rPr lang="en-US" altLang="en-US" sz="2800" dirty="0">
                <a:latin typeface="Times New Roman" panose="02020603050405020304" pitchFamily="18" charset="0"/>
                <a:cs typeface="Times New Roman" panose="02020603050405020304" pitchFamily="18" charset="0"/>
              </a:rPr>
              <a:t>How to Define Inter-Cluster Similarity</a:t>
            </a:r>
          </a:p>
        </p:txBody>
      </p:sp>
      <p:sp>
        <p:nvSpPr>
          <p:cNvPr id="59395" name="Rectangle 3"/>
          <p:cNvSpPr>
            <a:spLocks noGrp="1" noChangeArrowheads="1"/>
          </p:cNvSpPr>
          <p:nvPr>
            <p:ph idx="1"/>
          </p:nvPr>
        </p:nvSpPr>
        <p:spPr>
          <a:xfrm>
            <a:off x="639763" y="2344738"/>
            <a:ext cx="4800600" cy="3303587"/>
          </a:xfrm>
        </p:spPr>
        <p:txBody>
          <a:bodyPr/>
          <a:lstStyle/>
          <a:p>
            <a:pPr marL="990600" lvl="1" indent="-533400">
              <a:lnSpc>
                <a:spcPct val="90000"/>
              </a:lnSpc>
              <a:spcBef>
                <a:spcPct val="20000"/>
              </a:spcBef>
              <a:buFont typeface="Arial" charset="0"/>
              <a:buNone/>
            </a:pPr>
            <a:r>
              <a:rPr lang="en-US" altLang="en-US" sz="1000"/>
              <a:t> </a:t>
            </a:r>
          </a:p>
        </p:txBody>
      </p:sp>
      <p:sp>
        <p:nvSpPr>
          <p:cNvPr id="2" name="Slide Number Placeholder 1"/>
          <p:cNvSpPr>
            <a:spLocks noGrp="1"/>
          </p:cNvSpPr>
          <p:nvPr>
            <p:ph type="sldNum" sz="quarter" idx="12"/>
          </p:nvPr>
        </p:nvSpPr>
        <p:spPr/>
        <p:txBody>
          <a:bodyPr/>
          <a:lstStyle/>
          <a:p>
            <a:fld id="{76F96C40-0356-46F5-90E5-FF57DE76D9A0}" type="slidenum">
              <a:rPr lang="en-US" smtClean="0"/>
              <a:t>8</a:t>
            </a:fld>
            <a:endParaRPr lang="en-US"/>
          </a:p>
        </p:txBody>
      </p:sp>
      <p:sp>
        <p:nvSpPr>
          <p:cNvPr id="59397" name="Freeform 29" descr="5%"/>
          <p:cNvSpPr>
            <a:spLocks/>
          </p:cNvSpPr>
          <p:nvPr/>
        </p:nvSpPr>
        <p:spPr bwMode="auto">
          <a:xfrm rot="-5400000">
            <a:off x="462757" y="1289843"/>
            <a:ext cx="1828800" cy="1382713"/>
          </a:xfrm>
          <a:custGeom>
            <a:avLst/>
            <a:gdLst>
              <a:gd name="T0" fmla="*/ 1324198 w 598"/>
              <a:gd name="T1" fmla="*/ 146330 h 652"/>
              <a:gd name="T2" fmla="*/ 758432 w 598"/>
              <a:gd name="T3" fmla="*/ 0 h 652"/>
              <a:gd name="T4" fmla="*/ 464845 w 598"/>
              <a:gd name="T5" fmla="*/ 72105 h 652"/>
              <a:gd name="T6" fmla="*/ 382274 w 598"/>
              <a:gd name="T7" fmla="*/ 203590 h 652"/>
              <a:gd name="T8" fmla="*/ 214074 w 598"/>
              <a:gd name="T9" fmla="*/ 364765 h 652"/>
              <a:gd name="T10" fmla="*/ 149852 w 598"/>
              <a:gd name="T11" fmla="*/ 377489 h 652"/>
              <a:gd name="T12" fmla="*/ 88688 w 598"/>
              <a:gd name="T13" fmla="*/ 466560 h 652"/>
              <a:gd name="T14" fmla="*/ 45873 w 598"/>
              <a:gd name="T15" fmla="*/ 553509 h 652"/>
              <a:gd name="T16" fmla="*/ 88688 w 598"/>
              <a:gd name="T17" fmla="*/ 814359 h 652"/>
              <a:gd name="T18" fmla="*/ 296645 w 598"/>
              <a:gd name="T19" fmla="*/ 873739 h 652"/>
              <a:gd name="T20" fmla="*/ 235481 w 598"/>
              <a:gd name="T21" fmla="*/ 1032793 h 652"/>
              <a:gd name="T22" fmla="*/ 318052 w 598"/>
              <a:gd name="T23" fmla="*/ 1308488 h 652"/>
              <a:gd name="T24" fmla="*/ 507660 w 598"/>
              <a:gd name="T25" fmla="*/ 1367868 h 652"/>
              <a:gd name="T26" fmla="*/ 568824 w 598"/>
              <a:gd name="T27" fmla="*/ 1382713 h 652"/>
              <a:gd name="T28" fmla="*/ 737025 w 598"/>
              <a:gd name="T29" fmla="*/ 1280918 h 652"/>
              <a:gd name="T30" fmla="*/ 1073426 w 598"/>
              <a:gd name="T31" fmla="*/ 1382713 h 652"/>
              <a:gd name="T32" fmla="*/ 1367013 w 598"/>
              <a:gd name="T33" fmla="*/ 1251228 h 652"/>
              <a:gd name="T34" fmla="*/ 1596377 w 598"/>
              <a:gd name="T35" fmla="*/ 1149433 h 652"/>
              <a:gd name="T36" fmla="*/ 1743171 w 598"/>
              <a:gd name="T37" fmla="*/ 945844 h 652"/>
              <a:gd name="T38" fmla="*/ 1639192 w 598"/>
              <a:gd name="T39" fmla="*/ 829204 h 652"/>
              <a:gd name="T40" fmla="*/ 1721763 w 598"/>
              <a:gd name="T41" fmla="*/ 742254 h 652"/>
              <a:gd name="T42" fmla="*/ 1828800 w 598"/>
              <a:gd name="T43" fmla="*/ 610769 h 652"/>
              <a:gd name="T44" fmla="*/ 1785985 w 598"/>
              <a:gd name="T45" fmla="*/ 407179 h 652"/>
              <a:gd name="T46" fmla="*/ 1367013 w 598"/>
              <a:gd name="T47" fmla="*/ 203590 h 652"/>
              <a:gd name="T48" fmla="*/ 1324198 w 598"/>
              <a:gd name="T49" fmla="*/ 146330 h 6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8" h="652">
                <a:moveTo>
                  <a:pt x="433" y="69"/>
                </a:moveTo>
                <a:cubicBezTo>
                  <a:pt x="379" y="31"/>
                  <a:pt x="310" y="21"/>
                  <a:pt x="248" y="0"/>
                </a:cubicBezTo>
                <a:cubicBezTo>
                  <a:pt x="195" y="7"/>
                  <a:pt x="192" y="10"/>
                  <a:pt x="152" y="34"/>
                </a:cubicBezTo>
                <a:cubicBezTo>
                  <a:pt x="144" y="57"/>
                  <a:pt x="132" y="73"/>
                  <a:pt x="125" y="96"/>
                </a:cubicBezTo>
                <a:cubicBezTo>
                  <a:pt x="133" y="189"/>
                  <a:pt x="154" y="159"/>
                  <a:pt x="70" y="172"/>
                </a:cubicBezTo>
                <a:cubicBezTo>
                  <a:pt x="63" y="173"/>
                  <a:pt x="56" y="176"/>
                  <a:pt x="49" y="178"/>
                </a:cubicBezTo>
                <a:cubicBezTo>
                  <a:pt x="29" y="209"/>
                  <a:pt x="39" y="188"/>
                  <a:pt x="29" y="220"/>
                </a:cubicBezTo>
                <a:cubicBezTo>
                  <a:pt x="25" y="234"/>
                  <a:pt x="15" y="261"/>
                  <a:pt x="15" y="261"/>
                </a:cubicBezTo>
                <a:cubicBezTo>
                  <a:pt x="18" y="302"/>
                  <a:pt x="0" y="355"/>
                  <a:pt x="29" y="384"/>
                </a:cubicBezTo>
                <a:cubicBezTo>
                  <a:pt x="46" y="401"/>
                  <a:pt x="97" y="412"/>
                  <a:pt x="97" y="412"/>
                </a:cubicBezTo>
                <a:cubicBezTo>
                  <a:pt x="92" y="438"/>
                  <a:pt x="84" y="462"/>
                  <a:pt x="77" y="487"/>
                </a:cubicBezTo>
                <a:cubicBezTo>
                  <a:pt x="79" y="523"/>
                  <a:pt x="71" y="585"/>
                  <a:pt x="104" y="617"/>
                </a:cubicBezTo>
                <a:cubicBezTo>
                  <a:pt x="121" y="634"/>
                  <a:pt x="144" y="638"/>
                  <a:pt x="166" y="645"/>
                </a:cubicBezTo>
                <a:cubicBezTo>
                  <a:pt x="173" y="647"/>
                  <a:pt x="186" y="652"/>
                  <a:pt x="186" y="652"/>
                </a:cubicBezTo>
                <a:cubicBezTo>
                  <a:pt x="214" y="643"/>
                  <a:pt x="224" y="628"/>
                  <a:pt x="241" y="604"/>
                </a:cubicBezTo>
                <a:cubicBezTo>
                  <a:pt x="276" y="626"/>
                  <a:pt x="311" y="642"/>
                  <a:pt x="351" y="652"/>
                </a:cubicBezTo>
                <a:cubicBezTo>
                  <a:pt x="400" y="644"/>
                  <a:pt x="419" y="631"/>
                  <a:pt x="447" y="590"/>
                </a:cubicBezTo>
                <a:cubicBezTo>
                  <a:pt x="467" y="531"/>
                  <a:pt x="403" y="553"/>
                  <a:pt x="522" y="542"/>
                </a:cubicBezTo>
                <a:cubicBezTo>
                  <a:pt x="555" y="520"/>
                  <a:pt x="557" y="482"/>
                  <a:pt x="570" y="446"/>
                </a:cubicBezTo>
                <a:cubicBezTo>
                  <a:pt x="561" y="418"/>
                  <a:pt x="562" y="408"/>
                  <a:pt x="536" y="391"/>
                </a:cubicBezTo>
                <a:cubicBezTo>
                  <a:pt x="512" y="355"/>
                  <a:pt x="529" y="362"/>
                  <a:pt x="563" y="350"/>
                </a:cubicBezTo>
                <a:cubicBezTo>
                  <a:pt x="595" y="303"/>
                  <a:pt x="586" y="325"/>
                  <a:pt x="598" y="288"/>
                </a:cubicBezTo>
                <a:cubicBezTo>
                  <a:pt x="596" y="271"/>
                  <a:pt x="597" y="218"/>
                  <a:pt x="584" y="192"/>
                </a:cubicBezTo>
                <a:cubicBezTo>
                  <a:pt x="560" y="146"/>
                  <a:pt x="494" y="112"/>
                  <a:pt x="447" y="96"/>
                </a:cubicBezTo>
                <a:cubicBezTo>
                  <a:pt x="437" y="93"/>
                  <a:pt x="438" y="78"/>
                  <a:pt x="433" y="69"/>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pattFill prst="pct5">
                  <a:fgClr>
                    <a:schemeClr val="tx1"/>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398" name="Oval 30"/>
          <p:cNvSpPr>
            <a:spLocks noChangeArrowheads="1"/>
          </p:cNvSpPr>
          <p:nvPr/>
        </p:nvSpPr>
        <p:spPr bwMode="auto">
          <a:xfrm rot="-5400000">
            <a:off x="1752600" y="22098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9399" name="Oval 31"/>
          <p:cNvSpPr>
            <a:spLocks noChangeArrowheads="1"/>
          </p:cNvSpPr>
          <p:nvPr/>
        </p:nvSpPr>
        <p:spPr bwMode="auto">
          <a:xfrm rot="-5400000">
            <a:off x="1676400" y="14478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9400" name="Oval 32"/>
          <p:cNvSpPr>
            <a:spLocks noChangeArrowheads="1"/>
          </p:cNvSpPr>
          <p:nvPr/>
        </p:nvSpPr>
        <p:spPr bwMode="auto">
          <a:xfrm rot="-5400000">
            <a:off x="838200" y="19050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9401" name="Oval 33"/>
          <p:cNvSpPr>
            <a:spLocks noChangeArrowheads="1"/>
          </p:cNvSpPr>
          <p:nvPr/>
        </p:nvSpPr>
        <p:spPr bwMode="auto">
          <a:xfrm rot="-5400000">
            <a:off x="1903413" y="1751013"/>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9402" name="Freeform 34" descr="5%"/>
          <p:cNvSpPr>
            <a:spLocks/>
          </p:cNvSpPr>
          <p:nvPr/>
        </p:nvSpPr>
        <p:spPr bwMode="auto">
          <a:xfrm rot="5400000" flipV="1">
            <a:off x="3352800" y="1143000"/>
            <a:ext cx="1828800" cy="1676400"/>
          </a:xfrm>
          <a:custGeom>
            <a:avLst/>
            <a:gdLst>
              <a:gd name="T0" fmla="*/ 1324198 w 598"/>
              <a:gd name="T1" fmla="*/ 177410 h 652"/>
              <a:gd name="T2" fmla="*/ 758432 w 598"/>
              <a:gd name="T3" fmla="*/ 0 h 652"/>
              <a:gd name="T4" fmla="*/ 464845 w 598"/>
              <a:gd name="T5" fmla="*/ 87420 h 652"/>
              <a:gd name="T6" fmla="*/ 382274 w 598"/>
              <a:gd name="T7" fmla="*/ 246832 h 652"/>
              <a:gd name="T8" fmla="*/ 214074 w 598"/>
              <a:gd name="T9" fmla="*/ 442240 h 652"/>
              <a:gd name="T10" fmla="*/ 149852 w 598"/>
              <a:gd name="T11" fmla="*/ 457667 h 652"/>
              <a:gd name="T12" fmla="*/ 88688 w 598"/>
              <a:gd name="T13" fmla="*/ 565656 h 652"/>
              <a:gd name="T14" fmla="*/ 45873 w 598"/>
              <a:gd name="T15" fmla="*/ 671074 h 652"/>
              <a:gd name="T16" fmla="*/ 88688 w 598"/>
              <a:gd name="T17" fmla="*/ 987328 h 652"/>
              <a:gd name="T18" fmla="*/ 296645 w 598"/>
              <a:gd name="T19" fmla="*/ 1059320 h 652"/>
              <a:gd name="T20" fmla="*/ 235481 w 598"/>
              <a:gd name="T21" fmla="*/ 1252158 h 652"/>
              <a:gd name="T22" fmla="*/ 318052 w 598"/>
              <a:gd name="T23" fmla="*/ 1586409 h 652"/>
              <a:gd name="T24" fmla="*/ 507660 w 598"/>
              <a:gd name="T25" fmla="*/ 1658402 h 652"/>
              <a:gd name="T26" fmla="*/ 568824 w 598"/>
              <a:gd name="T27" fmla="*/ 1676400 h 652"/>
              <a:gd name="T28" fmla="*/ 737025 w 598"/>
              <a:gd name="T29" fmla="*/ 1552984 h 652"/>
              <a:gd name="T30" fmla="*/ 1073426 w 598"/>
              <a:gd name="T31" fmla="*/ 1676400 h 652"/>
              <a:gd name="T32" fmla="*/ 1367013 w 598"/>
              <a:gd name="T33" fmla="*/ 1516988 h 652"/>
              <a:gd name="T34" fmla="*/ 1596377 w 598"/>
              <a:gd name="T35" fmla="*/ 1393572 h 652"/>
              <a:gd name="T36" fmla="*/ 1743171 w 598"/>
              <a:gd name="T37" fmla="*/ 1146740 h 652"/>
              <a:gd name="T38" fmla="*/ 1639192 w 598"/>
              <a:gd name="T39" fmla="*/ 1005326 h 652"/>
              <a:gd name="T40" fmla="*/ 1721763 w 598"/>
              <a:gd name="T41" fmla="*/ 899908 h 652"/>
              <a:gd name="T42" fmla="*/ 1828800 w 598"/>
              <a:gd name="T43" fmla="*/ 740496 h 652"/>
              <a:gd name="T44" fmla="*/ 1785985 w 598"/>
              <a:gd name="T45" fmla="*/ 493664 h 652"/>
              <a:gd name="T46" fmla="*/ 1367013 w 598"/>
              <a:gd name="T47" fmla="*/ 246832 h 652"/>
              <a:gd name="T48" fmla="*/ 1324198 w 598"/>
              <a:gd name="T49" fmla="*/ 177410 h 6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8" h="652">
                <a:moveTo>
                  <a:pt x="433" y="69"/>
                </a:moveTo>
                <a:cubicBezTo>
                  <a:pt x="379" y="31"/>
                  <a:pt x="310" y="21"/>
                  <a:pt x="248" y="0"/>
                </a:cubicBezTo>
                <a:cubicBezTo>
                  <a:pt x="195" y="7"/>
                  <a:pt x="192" y="10"/>
                  <a:pt x="152" y="34"/>
                </a:cubicBezTo>
                <a:cubicBezTo>
                  <a:pt x="144" y="57"/>
                  <a:pt x="132" y="73"/>
                  <a:pt x="125" y="96"/>
                </a:cubicBezTo>
                <a:cubicBezTo>
                  <a:pt x="133" y="189"/>
                  <a:pt x="154" y="159"/>
                  <a:pt x="70" y="172"/>
                </a:cubicBezTo>
                <a:cubicBezTo>
                  <a:pt x="63" y="173"/>
                  <a:pt x="56" y="176"/>
                  <a:pt x="49" y="178"/>
                </a:cubicBezTo>
                <a:cubicBezTo>
                  <a:pt x="29" y="209"/>
                  <a:pt x="39" y="188"/>
                  <a:pt x="29" y="220"/>
                </a:cubicBezTo>
                <a:cubicBezTo>
                  <a:pt x="25" y="234"/>
                  <a:pt x="15" y="261"/>
                  <a:pt x="15" y="261"/>
                </a:cubicBezTo>
                <a:cubicBezTo>
                  <a:pt x="18" y="302"/>
                  <a:pt x="0" y="355"/>
                  <a:pt x="29" y="384"/>
                </a:cubicBezTo>
                <a:cubicBezTo>
                  <a:pt x="46" y="401"/>
                  <a:pt x="97" y="412"/>
                  <a:pt x="97" y="412"/>
                </a:cubicBezTo>
                <a:cubicBezTo>
                  <a:pt x="92" y="438"/>
                  <a:pt x="84" y="462"/>
                  <a:pt x="77" y="487"/>
                </a:cubicBezTo>
                <a:cubicBezTo>
                  <a:pt x="79" y="523"/>
                  <a:pt x="71" y="585"/>
                  <a:pt x="104" y="617"/>
                </a:cubicBezTo>
                <a:cubicBezTo>
                  <a:pt x="121" y="634"/>
                  <a:pt x="144" y="638"/>
                  <a:pt x="166" y="645"/>
                </a:cubicBezTo>
                <a:cubicBezTo>
                  <a:pt x="173" y="647"/>
                  <a:pt x="186" y="652"/>
                  <a:pt x="186" y="652"/>
                </a:cubicBezTo>
                <a:cubicBezTo>
                  <a:pt x="214" y="643"/>
                  <a:pt x="224" y="628"/>
                  <a:pt x="241" y="604"/>
                </a:cubicBezTo>
                <a:cubicBezTo>
                  <a:pt x="276" y="626"/>
                  <a:pt x="311" y="642"/>
                  <a:pt x="351" y="652"/>
                </a:cubicBezTo>
                <a:cubicBezTo>
                  <a:pt x="400" y="644"/>
                  <a:pt x="419" y="631"/>
                  <a:pt x="447" y="590"/>
                </a:cubicBezTo>
                <a:cubicBezTo>
                  <a:pt x="467" y="531"/>
                  <a:pt x="403" y="553"/>
                  <a:pt x="522" y="542"/>
                </a:cubicBezTo>
                <a:cubicBezTo>
                  <a:pt x="555" y="520"/>
                  <a:pt x="557" y="482"/>
                  <a:pt x="570" y="446"/>
                </a:cubicBezTo>
                <a:cubicBezTo>
                  <a:pt x="561" y="418"/>
                  <a:pt x="562" y="408"/>
                  <a:pt x="536" y="391"/>
                </a:cubicBezTo>
                <a:cubicBezTo>
                  <a:pt x="512" y="355"/>
                  <a:pt x="529" y="362"/>
                  <a:pt x="563" y="350"/>
                </a:cubicBezTo>
                <a:cubicBezTo>
                  <a:pt x="595" y="303"/>
                  <a:pt x="586" y="325"/>
                  <a:pt x="598" y="288"/>
                </a:cubicBezTo>
                <a:cubicBezTo>
                  <a:pt x="596" y="271"/>
                  <a:pt x="597" y="218"/>
                  <a:pt x="584" y="192"/>
                </a:cubicBezTo>
                <a:cubicBezTo>
                  <a:pt x="560" y="146"/>
                  <a:pt x="494" y="112"/>
                  <a:pt x="447" y="96"/>
                </a:cubicBezTo>
                <a:cubicBezTo>
                  <a:pt x="437" y="93"/>
                  <a:pt x="438" y="78"/>
                  <a:pt x="433" y="69"/>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pattFill prst="pct5">
                  <a:fgClr>
                    <a:schemeClr val="tx1"/>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03" name="Oval 35"/>
          <p:cNvSpPr>
            <a:spLocks noChangeArrowheads="1"/>
          </p:cNvSpPr>
          <p:nvPr/>
        </p:nvSpPr>
        <p:spPr bwMode="auto">
          <a:xfrm rot="5400000" flipV="1">
            <a:off x="4876800" y="16002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9404" name="Oval 36"/>
          <p:cNvSpPr>
            <a:spLocks noChangeArrowheads="1"/>
          </p:cNvSpPr>
          <p:nvPr/>
        </p:nvSpPr>
        <p:spPr bwMode="auto">
          <a:xfrm rot="5400000" flipV="1">
            <a:off x="3516313" y="16002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9405" name="Oval 37"/>
          <p:cNvSpPr>
            <a:spLocks noChangeArrowheads="1"/>
          </p:cNvSpPr>
          <p:nvPr/>
        </p:nvSpPr>
        <p:spPr bwMode="auto">
          <a:xfrm rot="5400000" flipV="1">
            <a:off x="4038600" y="22098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9406" name="Oval 38"/>
          <p:cNvSpPr>
            <a:spLocks noChangeArrowheads="1"/>
          </p:cNvSpPr>
          <p:nvPr/>
        </p:nvSpPr>
        <p:spPr bwMode="auto">
          <a:xfrm rot="5400000" flipV="1">
            <a:off x="4038600" y="12192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59407" name="Line 39"/>
          <p:cNvSpPr>
            <a:spLocks noChangeShapeType="1"/>
          </p:cNvSpPr>
          <p:nvPr/>
        </p:nvSpPr>
        <p:spPr bwMode="auto">
          <a:xfrm>
            <a:off x="1828800" y="2209800"/>
            <a:ext cx="2209800" cy="762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08" name="Line 40"/>
          <p:cNvSpPr>
            <a:spLocks noChangeShapeType="1"/>
          </p:cNvSpPr>
          <p:nvPr/>
        </p:nvSpPr>
        <p:spPr bwMode="auto">
          <a:xfrm flipV="1">
            <a:off x="1828800" y="1676400"/>
            <a:ext cx="1676400" cy="5334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09" name="Line 41"/>
          <p:cNvSpPr>
            <a:spLocks noChangeShapeType="1"/>
          </p:cNvSpPr>
          <p:nvPr/>
        </p:nvSpPr>
        <p:spPr bwMode="auto">
          <a:xfrm flipV="1">
            <a:off x="1828800" y="1295400"/>
            <a:ext cx="2209800" cy="9144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10" name="Line 42"/>
          <p:cNvSpPr>
            <a:spLocks noChangeShapeType="1"/>
          </p:cNvSpPr>
          <p:nvPr/>
        </p:nvSpPr>
        <p:spPr bwMode="auto">
          <a:xfrm flipV="1">
            <a:off x="1828800" y="1676400"/>
            <a:ext cx="3048000" cy="5334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11" name="Line 43"/>
          <p:cNvSpPr>
            <a:spLocks noChangeShapeType="1"/>
          </p:cNvSpPr>
          <p:nvPr/>
        </p:nvSpPr>
        <p:spPr bwMode="auto">
          <a:xfrm>
            <a:off x="1981200" y="1828800"/>
            <a:ext cx="2057400" cy="4572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12" name="Line 44"/>
          <p:cNvSpPr>
            <a:spLocks noChangeShapeType="1"/>
          </p:cNvSpPr>
          <p:nvPr/>
        </p:nvSpPr>
        <p:spPr bwMode="auto">
          <a:xfrm flipV="1">
            <a:off x="1981200" y="1676400"/>
            <a:ext cx="1524000" cy="1524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13" name="Line 45"/>
          <p:cNvSpPr>
            <a:spLocks noChangeShapeType="1"/>
          </p:cNvSpPr>
          <p:nvPr/>
        </p:nvSpPr>
        <p:spPr bwMode="auto">
          <a:xfrm flipV="1">
            <a:off x="1981200" y="1295400"/>
            <a:ext cx="2057400" cy="5334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14" name="Line 46"/>
          <p:cNvSpPr>
            <a:spLocks noChangeShapeType="1"/>
          </p:cNvSpPr>
          <p:nvPr/>
        </p:nvSpPr>
        <p:spPr bwMode="auto">
          <a:xfrm flipV="1">
            <a:off x="1981200" y="1676400"/>
            <a:ext cx="2895600" cy="1524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15" name="Line 47"/>
          <p:cNvSpPr>
            <a:spLocks noChangeShapeType="1"/>
          </p:cNvSpPr>
          <p:nvPr/>
        </p:nvSpPr>
        <p:spPr bwMode="auto">
          <a:xfrm>
            <a:off x="914400" y="1905000"/>
            <a:ext cx="3124200" cy="3810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16" name="Line 48"/>
          <p:cNvSpPr>
            <a:spLocks noChangeShapeType="1"/>
          </p:cNvSpPr>
          <p:nvPr/>
        </p:nvSpPr>
        <p:spPr bwMode="auto">
          <a:xfrm flipV="1">
            <a:off x="914400" y="1676400"/>
            <a:ext cx="3962400" cy="2286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17" name="Line 49"/>
          <p:cNvSpPr>
            <a:spLocks noChangeShapeType="1"/>
          </p:cNvSpPr>
          <p:nvPr/>
        </p:nvSpPr>
        <p:spPr bwMode="auto">
          <a:xfrm flipV="1">
            <a:off x="914400" y="1295400"/>
            <a:ext cx="3124200" cy="6096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18" name="Line 50"/>
          <p:cNvSpPr>
            <a:spLocks noChangeShapeType="1"/>
          </p:cNvSpPr>
          <p:nvPr/>
        </p:nvSpPr>
        <p:spPr bwMode="auto">
          <a:xfrm flipV="1">
            <a:off x="914400" y="1676400"/>
            <a:ext cx="2590800" cy="2286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19" name="Line 51"/>
          <p:cNvSpPr>
            <a:spLocks noChangeShapeType="1"/>
          </p:cNvSpPr>
          <p:nvPr/>
        </p:nvSpPr>
        <p:spPr bwMode="auto">
          <a:xfrm>
            <a:off x="1752600" y="1447800"/>
            <a:ext cx="2286000" cy="8382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20" name="Line 52"/>
          <p:cNvSpPr>
            <a:spLocks noChangeShapeType="1"/>
          </p:cNvSpPr>
          <p:nvPr/>
        </p:nvSpPr>
        <p:spPr bwMode="auto">
          <a:xfrm>
            <a:off x="1752600" y="1447800"/>
            <a:ext cx="1752600" cy="2286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21" name="Line 53"/>
          <p:cNvSpPr>
            <a:spLocks noChangeShapeType="1"/>
          </p:cNvSpPr>
          <p:nvPr/>
        </p:nvSpPr>
        <p:spPr bwMode="auto">
          <a:xfrm flipV="1">
            <a:off x="1752600" y="1295400"/>
            <a:ext cx="2286000" cy="1524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22" name="Line 54"/>
          <p:cNvSpPr>
            <a:spLocks noChangeShapeType="1"/>
          </p:cNvSpPr>
          <p:nvPr/>
        </p:nvSpPr>
        <p:spPr bwMode="auto">
          <a:xfrm>
            <a:off x="1752600" y="1447800"/>
            <a:ext cx="3124200" cy="228600"/>
          </a:xfrm>
          <a:prstGeom prst="line">
            <a:avLst/>
          </a:prstGeom>
          <a:noFill/>
          <a:ln w="63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24" name="Rectangle 56"/>
          <p:cNvSpPr>
            <a:spLocks noChangeArrowheads="1"/>
          </p:cNvSpPr>
          <p:nvPr/>
        </p:nvSpPr>
        <p:spPr bwMode="auto">
          <a:xfrm>
            <a:off x="381000" y="3200400"/>
            <a:ext cx="57912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MIN</a:t>
            </a:r>
          </a:p>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MAX</a:t>
            </a:r>
          </a:p>
          <a:p>
            <a:pPr>
              <a:spcBef>
                <a:spcPts val="200"/>
              </a:spcBef>
              <a:spcAft>
                <a:spcPts val="200"/>
              </a:spcAft>
            </a:pPr>
            <a:r>
              <a:rPr lang="en-US" altLang="en-US" sz="2400" b="0" dirty="0">
                <a:solidFill>
                  <a:srgbClr val="FF0000"/>
                </a:solidFill>
                <a:latin typeface="Times New Roman" panose="02020603050405020304" pitchFamily="18" charset="0"/>
                <a:cs typeface="Times New Roman" panose="02020603050405020304" pitchFamily="18" charset="0"/>
              </a:rPr>
              <a:t>Group Average</a:t>
            </a:r>
          </a:p>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Distance Between Centroids</a:t>
            </a:r>
          </a:p>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Other methods driven by an objective function</a:t>
            </a:r>
          </a:p>
          <a:p>
            <a:pPr lvl="1">
              <a:spcBef>
                <a:spcPts val="200"/>
              </a:spcBef>
              <a:spcAft>
                <a:spcPts val="200"/>
              </a:spcAft>
            </a:pPr>
            <a:r>
              <a:rPr lang="en-US" altLang="en-US" sz="2000" b="0" dirty="0">
                <a:latin typeface="Times New Roman" panose="02020603050405020304" pitchFamily="18" charset="0"/>
                <a:cs typeface="Times New Roman" panose="02020603050405020304" pitchFamily="18" charset="0"/>
              </a:rPr>
              <a:t>Ward’s Method uses squared error</a:t>
            </a:r>
            <a:endParaRPr lang="en-US" altLang="en-US"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777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Line 2"/>
          <p:cNvSpPr>
            <a:spLocks noChangeShapeType="1"/>
          </p:cNvSpPr>
          <p:nvPr/>
        </p:nvSpPr>
        <p:spPr bwMode="auto">
          <a:xfrm flipV="1">
            <a:off x="1371600" y="1981200"/>
            <a:ext cx="2895600" cy="0"/>
          </a:xfrm>
          <a:prstGeom prst="line">
            <a:avLst/>
          </a:prstGeom>
          <a:noFill/>
          <a:ln w="25400">
            <a:solidFill>
              <a:srgbClr val="FFCC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419" name="Freeform 3" descr="5%"/>
          <p:cNvSpPr>
            <a:spLocks/>
          </p:cNvSpPr>
          <p:nvPr/>
        </p:nvSpPr>
        <p:spPr bwMode="auto">
          <a:xfrm rot="-5400000">
            <a:off x="462757" y="1289843"/>
            <a:ext cx="1828800" cy="1382713"/>
          </a:xfrm>
          <a:custGeom>
            <a:avLst/>
            <a:gdLst>
              <a:gd name="T0" fmla="*/ 1324198 w 598"/>
              <a:gd name="T1" fmla="*/ 146330 h 652"/>
              <a:gd name="T2" fmla="*/ 758432 w 598"/>
              <a:gd name="T3" fmla="*/ 0 h 652"/>
              <a:gd name="T4" fmla="*/ 464845 w 598"/>
              <a:gd name="T5" fmla="*/ 72105 h 652"/>
              <a:gd name="T6" fmla="*/ 382274 w 598"/>
              <a:gd name="T7" fmla="*/ 203590 h 652"/>
              <a:gd name="T8" fmla="*/ 214074 w 598"/>
              <a:gd name="T9" fmla="*/ 364765 h 652"/>
              <a:gd name="T10" fmla="*/ 149852 w 598"/>
              <a:gd name="T11" fmla="*/ 377489 h 652"/>
              <a:gd name="T12" fmla="*/ 88688 w 598"/>
              <a:gd name="T13" fmla="*/ 466560 h 652"/>
              <a:gd name="T14" fmla="*/ 45873 w 598"/>
              <a:gd name="T15" fmla="*/ 553509 h 652"/>
              <a:gd name="T16" fmla="*/ 88688 w 598"/>
              <a:gd name="T17" fmla="*/ 814359 h 652"/>
              <a:gd name="T18" fmla="*/ 296645 w 598"/>
              <a:gd name="T19" fmla="*/ 873739 h 652"/>
              <a:gd name="T20" fmla="*/ 235481 w 598"/>
              <a:gd name="T21" fmla="*/ 1032793 h 652"/>
              <a:gd name="T22" fmla="*/ 318052 w 598"/>
              <a:gd name="T23" fmla="*/ 1308488 h 652"/>
              <a:gd name="T24" fmla="*/ 507660 w 598"/>
              <a:gd name="T25" fmla="*/ 1367868 h 652"/>
              <a:gd name="T26" fmla="*/ 568824 w 598"/>
              <a:gd name="T27" fmla="*/ 1382713 h 652"/>
              <a:gd name="T28" fmla="*/ 737025 w 598"/>
              <a:gd name="T29" fmla="*/ 1280918 h 652"/>
              <a:gd name="T30" fmla="*/ 1073426 w 598"/>
              <a:gd name="T31" fmla="*/ 1382713 h 652"/>
              <a:gd name="T32" fmla="*/ 1367013 w 598"/>
              <a:gd name="T33" fmla="*/ 1251228 h 652"/>
              <a:gd name="T34" fmla="*/ 1596377 w 598"/>
              <a:gd name="T35" fmla="*/ 1149433 h 652"/>
              <a:gd name="T36" fmla="*/ 1743171 w 598"/>
              <a:gd name="T37" fmla="*/ 945844 h 652"/>
              <a:gd name="T38" fmla="*/ 1639192 w 598"/>
              <a:gd name="T39" fmla="*/ 829204 h 652"/>
              <a:gd name="T40" fmla="*/ 1721763 w 598"/>
              <a:gd name="T41" fmla="*/ 742254 h 652"/>
              <a:gd name="T42" fmla="*/ 1828800 w 598"/>
              <a:gd name="T43" fmla="*/ 610769 h 652"/>
              <a:gd name="T44" fmla="*/ 1785985 w 598"/>
              <a:gd name="T45" fmla="*/ 407179 h 652"/>
              <a:gd name="T46" fmla="*/ 1367013 w 598"/>
              <a:gd name="T47" fmla="*/ 203590 h 652"/>
              <a:gd name="T48" fmla="*/ 1324198 w 598"/>
              <a:gd name="T49" fmla="*/ 146330 h 6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8" h="652">
                <a:moveTo>
                  <a:pt x="433" y="69"/>
                </a:moveTo>
                <a:cubicBezTo>
                  <a:pt x="379" y="31"/>
                  <a:pt x="310" y="21"/>
                  <a:pt x="248" y="0"/>
                </a:cubicBezTo>
                <a:cubicBezTo>
                  <a:pt x="195" y="7"/>
                  <a:pt x="192" y="10"/>
                  <a:pt x="152" y="34"/>
                </a:cubicBezTo>
                <a:cubicBezTo>
                  <a:pt x="144" y="57"/>
                  <a:pt x="132" y="73"/>
                  <a:pt x="125" y="96"/>
                </a:cubicBezTo>
                <a:cubicBezTo>
                  <a:pt x="133" y="189"/>
                  <a:pt x="154" y="159"/>
                  <a:pt x="70" y="172"/>
                </a:cubicBezTo>
                <a:cubicBezTo>
                  <a:pt x="63" y="173"/>
                  <a:pt x="56" y="176"/>
                  <a:pt x="49" y="178"/>
                </a:cubicBezTo>
                <a:cubicBezTo>
                  <a:pt x="29" y="209"/>
                  <a:pt x="39" y="188"/>
                  <a:pt x="29" y="220"/>
                </a:cubicBezTo>
                <a:cubicBezTo>
                  <a:pt x="25" y="234"/>
                  <a:pt x="15" y="261"/>
                  <a:pt x="15" y="261"/>
                </a:cubicBezTo>
                <a:cubicBezTo>
                  <a:pt x="18" y="302"/>
                  <a:pt x="0" y="355"/>
                  <a:pt x="29" y="384"/>
                </a:cubicBezTo>
                <a:cubicBezTo>
                  <a:pt x="46" y="401"/>
                  <a:pt x="97" y="412"/>
                  <a:pt x="97" y="412"/>
                </a:cubicBezTo>
                <a:cubicBezTo>
                  <a:pt x="92" y="438"/>
                  <a:pt x="84" y="462"/>
                  <a:pt x="77" y="487"/>
                </a:cubicBezTo>
                <a:cubicBezTo>
                  <a:pt x="79" y="523"/>
                  <a:pt x="71" y="585"/>
                  <a:pt x="104" y="617"/>
                </a:cubicBezTo>
                <a:cubicBezTo>
                  <a:pt x="121" y="634"/>
                  <a:pt x="144" y="638"/>
                  <a:pt x="166" y="645"/>
                </a:cubicBezTo>
                <a:cubicBezTo>
                  <a:pt x="173" y="647"/>
                  <a:pt x="186" y="652"/>
                  <a:pt x="186" y="652"/>
                </a:cubicBezTo>
                <a:cubicBezTo>
                  <a:pt x="214" y="643"/>
                  <a:pt x="224" y="628"/>
                  <a:pt x="241" y="604"/>
                </a:cubicBezTo>
                <a:cubicBezTo>
                  <a:pt x="276" y="626"/>
                  <a:pt x="311" y="642"/>
                  <a:pt x="351" y="652"/>
                </a:cubicBezTo>
                <a:cubicBezTo>
                  <a:pt x="400" y="644"/>
                  <a:pt x="419" y="631"/>
                  <a:pt x="447" y="590"/>
                </a:cubicBezTo>
                <a:cubicBezTo>
                  <a:pt x="467" y="531"/>
                  <a:pt x="403" y="553"/>
                  <a:pt x="522" y="542"/>
                </a:cubicBezTo>
                <a:cubicBezTo>
                  <a:pt x="555" y="520"/>
                  <a:pt x="557" y="482"/>
                  <a:pt x="570" y="446"/>
                </a:cubicBezTo>
                <a:cubicBezTo>
                  <a:pt x="561" y="418"/>
                  <a:pt x="562" y="408"/>
                  <a:pt x="536" y="391"/>
                </a:cubicBezTo>
                <a:cubicBezTo>
                  <a:pt x="512" y="355"/>
                  <a:pt x="529" y="362"/>
                  <a:pt x="563" y="350"/>
                </a:cubicBezTo>
                <a:cubicBezTo>
                  <a:pt x="595" y="303"/>
                  <a:pt x="586" y="325"/>
                  <a:pt x="598" y="288"/>
                </a:cubicBezTo>
                <a:cubicBezTo>
                  <a:pt x="596" y="271"/>
                  <a:pt x="597" y="218"/>
                  <a:pt x="584" y="192"/>
                </a:cubicBezTo>
                <a:cubicBezTo>
                  <a:pt x="560" y="146"/>
                  <a:pt x="494" y="112"/>
                  <a:pt x="447" y="96"/>
                </a:cubicBezTo>
                <a:cubicBezTo>
                  <a:pt x="437" y="93"/>
                  <a:pt x="438" y="78"/>
                  <a:pt x="433" y="69"/>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pattFill prst="pct5">
                  <a:fgClr>
                    <a:schemeClr val="tx1"/>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420" name="Rectangle 4"/>
          <p:cNvSpPr>
            <a:spLocks noGrp="1" noChangeArrowheads="1"/>
          </p:cNvSpPr>
          <p:nvPr>
            <p:ph type="title"/>
          </p:nvPr>
        </p:nvSpPr>
        <p:spPr>
          <a:xfrm>
            <a:off x="381000" y="152400"/>
            <a:ext cx="8280400" cy="552450"/>
          </a:xfrm>
        </p:spPr>
        <p:txBody>
          <a:bodyPr/>
          <a:lstStyle/>
          <a:p>
            <a:r>
              <a:rPr lang="en-US" altLang="en-US" sz="2800">
                <a:latin typeface="Times New Roman" panose="02020603050405020304" pitchFamily="18" charset="0"/>
                <a:cs typeface="Times New Roman" panose="02020603050405020304" pitchFamily="18" charset="0"/>
              </a:rPr>
              <a:t>How to Define Inter-Cluster Similarity</a:t>
            </a:r>
          </a:p>
        </p:txBody>
      </p:sp>
      <p:sp>
        <p:nvSpPr>
          <p:cNvPr id="60421" name="Rectangle 5"/>
          <p:cNvSpPr>
            <a:spLocks noGrp="1" noChangeArrowheads="1"/>
          </p:cNvSpPr>
          <p:nvPr>
            <p:ph idx="1"/>
          </p:nvPr>
        </p:nvSpPr>
        <p:spPr>
          <a:xfrm>
            <a:off x="639763" y="2344738"/>
            <a:ext cx="4800600" cy="3303587"/>
          </a:xfrm>
        </p:spPr>
        <p:txBody>
          <a:bodyPr/>
          <a:lstStyle/>
          <a:p>
            <a:pPr marL="990600" lvl="1" indent="-533400">
              <a:lnSpc>
                <a:spcPct val="90000"/>
              </a:lnSpc>
              <a:spcBef>
                <a:spcPct val="20000"/>
              </a:spcBef>
              <a:buFont typeface="Arial" charset="0"/>
              <a:buNone/>
            </a:pPr>
            <a:r>
              <a:rPr lang="en-US" altLang="en-US" sz="1000"/>
              <a:t> </a:t>
            </a:r>
          </a:p>
        </p:txBody>
      </p:sp>
      <p:sp>
        <p:nvSpPr>
          <p:cNvPr id="2" name="Slide Number Placeholder 1"/>
          <p:cNvSpPr>
            <a:spLocks noGrp="1"/>
          </p:cNvSpPr>
          <p:nvPr>
            <p:ph type="sldNum" sz="quarter" idx="12"/>
          </p:nvPr>
        </p:nvSpPr>
        <p:spPr/>
        <p:txBody>
          <a:bodyPr/>
          <a:lstStyle/>
          <a:p>
            <a:fld id="{76F96C40-0356-46F5-90E5-FF57DE76D9A0}" type="slidenum">
              <a:rPr lang="en-US" smtClean="0"/>
              <a:t>9</a:t>
            </a:fld>
            <a:endParaRPr lang="en-US"/>
          </a:p>
        </p:txBody>
      </p:sp>
      <p:sp>
        <p:nvSpPr>
          <p:cNvPr id="60423" name="Oval 31"/>
          <p:cNvSpPr>
            <a:spLocks noChangeArrowheads="1"/>
          </p:cNvSpPr>
          <p:nvPr/>
        </p:nvSpPr>
        <p:spPr bwMode="auto">
          <a:xfrm rot="-5400000">
            <a:off x="1752600" y="22098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0424" name="Oval 32"/>
          <p:cNvSpPr>
            <a:spLocks noChangeArrowheads="1"/>
          </p:cNvSpPr>
          <p:nvPr/>
        </p:nvSpPr>
        <p:spPr bwMode="auto">
          <a:xfrm rot="-5400000">
            <a:off x="1676400" y="14478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0425" name="Oval 33"/>
          <p:cNvSpPr>
            <a:spLocks noChangeArrowheads="1"/>
          </p:cNvSpPr>
          <p:nvPr/>
        </p:nvSpPr>
        <p:spPr bwMode="auto">
          <a:xfrm rot="-5400000">
            <a:off x="838200" y="19050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0426" name="Oval 34"/>
          <p:cNvSpPr>
            <a:spLocks noChangeArrowheads="1"/>
          </p:cNvSpPr>
          <p:nvPr/>
        </p:nvSpPr>
        <p:spPr bwMode="auto">
          <a:xfrm rot="-5400000">
            <a:off x="1903413" y="1751013"/>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0427" name="Freeform 35" descr="5%"/>
          <p:cNvSpPr>
            <a:spLocks/>
          </p:cNvSpPr>
          <p:nvPr/>
        </p:nvSpPr>
        <p:spPr bwMode="auto">
          <a:xfrm rot="5400000" flipV="1">
            <a:off x="3352800" y="1143000"/>
            <a:ext cx="1828800" cy="1676400"/>
          </a:xfrm>
          <a:custGeom>
            <a:avLst/>
            <a:gdLst>
              <a:gd name="T0" fmla="*/ 1324198 w 598"/>
              <a:gd name="T1" fmla="*/ 177410 h 652"/>
              <a:gd name="T2" fmla="*/ 758432 w 598"/>
              <a:gd name="T3" fmla="*/ 0 h 652"/>
              <a:gd name="T4" fmla="*/ 464845 w 598"/>
              <a:gd name="T5" fmla="*/ 87420 h 652"/>
              <a:gd name="T6" fmla="*/ 382274 w 598"/>
              <a:gd name="T7" fmla="*/ 246832 h 652"/>
              <a:gd name="T8" fmla="*/ 214074 w 598"/>
              <a:gd name="T9" fmla="*/ 442240 h 652"/>
              <a:gd name="T10" fmla="*/ 149852 w 598"/>
              <a:gd name="T11" fmla="*/ 457667 h 652"/>
              <a:gd name="T12" fmla="*/ 88688 w 598"/>
              <a:gd name="T13" fmla="*/ 565656 h 652"/>
              <a:gd name="T14" fmla="*/ 45873 w 598"/>
              <a:gd name="T15" fmla="*/ 671074 h 652"/>
              <a:gd name="T16" fmla="*/ 88688 w 598"/>
              <a:gd name="T17" fmla="*/ 987328 h 652"/>
              <a:gd name="T18" fmla="*/ 296645 w 598"/>
              <a:gd name="T19" fmla="*/ 1059320 h 652"/>
              <a:gd name="T20" fmla="*/ 235481 w 598"/>
              <a:gd name="T21" fmla="*/ 1252158 h 652"/>
              <a:gd name="T22" fmla="*/ 318052 w 598"/>
              <a:gd name="T23" fmla="*/ 1586409 h 652"/>
              <a:gd name="T24" fmla="*/ 507660 w 598"/>
              <a:gd name="T25" fmla="*/ 1658402 h 652"/>
              <a:gd name="T26" fmla="*/ 568824 w 598"/>
              <a:gd name="T27" fmla="*/ 1676400 h 652"/>
              <a:gd name="T28" fmla="*/ 737025 w 598"/>
              <a:gd name="T29" fmla="*/ 1552984 h 652"/>
              <a:gd name="T30" fmla="*/ 1073426 w 598"/>
              <a:gd name="T31" fmla="*/ 1676400 h 652"/>
              <a:gd name="T32" fmla="*/ 1367013 w 598"/>
              <a:gd name="T33" fmla="*/ 1516988 h 652"/>
              <a:gd name="T34" fmla="*/ 1596377 w 598"/>
              <a:gd name="T35" fmla="*/ 1393572 h 652"/>
              <a:gd name="T36" fmla="*/ 1743171 w 598"/>
              <a:gd name="T37" fmla="*/ 1146740 h 652"/>
              <a:gd name="T38" fmla="*/ 1639192 w 598"/>
              <a:gd name="T39" fmla="*/ 1005326 h 652"/>
              <a:gd name="T40" fmla="*/ 1721763 w 598"/>
              <a:gd name="T41" fmla="*/ 899908 h 652"/>
              <a:gd name="T42" fmla="*/ 1828800 w 598"/>
              <a:gd name="T43" fmla="*/ 740496 h 652"/>
              <a:gd name="T44" fmla="*/ 1785985 w 598"/>
              <a:gd name="T45" fmla="*/ 493664 h 652"/>
              <a:gd name="T46" fmla="*/ 1367013 w 598"/>
              <a:gd name="T47" fmla="*/ 246832 h 652"/>
              <a:gd name="T48" fmla="*/ 1324198 w 598"/>
              <a:gd name="T49" fmla="*/ 177410 h 6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8" h="652">
                <a:moveTo>
                  <a:pt x="433" y="69"/>
                </a:moveTo>
                <a:cubicBezTo>
                  <a:pt x="379" y="31"/>
                  <a:pt x="310" y="21"/>
                  <a:pt x="248" y="0"/>
                </a:cubicBezTo>
                <a:cubicBezTo>
                  <a:pt x="195" y="7"/>
                  <a:pt x="192" y="10"/>
                  <a:pt x="152" y="34"/>
                </a:cubicBezTo>
                <a:cubicBezTo>
                  <a:pt x="144" y="57"/>
                  <a:pt x="132" y="73"/>
                  <a:pt x="125" y="96"/>
                </a:cubicBezTo>
                <a:cubicBezTo>
                  <a:pt x="133" y="189"/>
                  <a:pt x="154" y="159"/>
                  <a:pt x="70" y="172"/>
                </a:cubicBezTo>
                <a:cubicBezTo>
                  <a:pt x="63" y="173"/>
                  <a:pt x="56" y="176"/>
                  <a:pt x="49" y="178"/>
                </a:cubicBezTo>
                <a:cubicBezTo>
                  <a:pt x="29" y="209"/>
                  <a:pt x="39" y="188"/>
                  <a:pt x="29" y="220"/>
                </a:cubicBezTo>
                <a:cubicBezTo>
                  <a:pt x="25" y="234"/>
                  <a:pt x="15" y="261"/>
                  <a:pt x="15" y="261"/>
                </a:cubicBezTo>
                <a:cubicBezTo>
                  <a:pt x="18" y="302"/>
                  <a:pt x="0" y="355"/>
                  <a:pt x="29" y="384"/>
                </a:cubicBezTo>
                <a:cubicBezTo>
                  <a:pt x="46" y="401"/>
                  <a:pt x="97" y="412"/>
                  <a:pt x="97" y="412"/>
                </a:cubicBezTo>
                <a:cubicBezTo>
                  <a:pt x="92" y="438"/>
                  <a:pt x="84" y="462"/>
                  <a:pt x="77" y="487"/>
                </a:cubicBezTo>
                <a:cubicBezTo>
                  <a:pt x="79" y="523"/>
                  <a:pt x="71" y="585"/>
                  <a:pt x="104" y="617"/>
                </a:cubicBezTo>
                <a:cubicBezTo>
                  <a:pt x="121" y="634"/>
                  <a:pt x="144" y="638"/>
                  <a:pt x="166" y="645"/>
                </a:cubicBezTo>
                <a:cubicBezTo>
                  <a:pt x="173" y="647"/>
                  <a:pt x="186" y="652"/>
                  <a:pt x="186" y="652"/>
                </a:cubicBezTo>
                <a:cubicBezTo>
                  <a:pt x="214" y="643"/>
                  <a:pt x="224" y="628"/>
                  <a:pt x="241" y="604"/>
                </a:cubicBezTo>
                <a:cubicBezTo>
                  <a:pt x="276" y="626"/>
                  <a:pt x="311" y="642"/>
                  <a:pt x="351" y="652"/>
                </a:cubicBezTo>
                <a:cubicBezTo>
                  <a:pt x="400" y="644"/>
                  <a:pt x="419" y="631"/>
                  <a:pt x="447" y="590"/>
                </a:cubicBezTo>
                <a:cubicBezTo>
                  <a:pt x="467" y="531"/>
                  <a:pt x="403" y="553"/>
                  <a:pt x="522" y="542"/>
                </a:cubicBezTo>
                <a:cubicBezTo>
                  <a:pt x="555" y="520"/>
                  <a:pt x="557" y="482"/>
                  <a:pt x="570" y="446"/>
                </a:cubicBezTo>
                <a:cubicBezTo>
                  <a:pt x="561" y="418"/>
                  <a:pt x="562" y="408"/>
                  <a:pt x="536" y="391"/>
                </a:cubicBezTo>
                <a:cubicBezTo>
                  <a:pt x="512" y="355"/>
                  <a:pt x="529" y="362"/>
                  <a:pt x="563" y="350"/>
                </a:cubicBezTo>
                <a:cubicBezTo>
                  <a:pt x="595" y="303"/>
                  <a:pt x="586" y="325"/>
                  <a:pt x="598" y="288"/>
                </a:cubicBezTo>
                <a:cubicBezTo>
                  <a:pt x="596" y="271"/>
                  <a:pt x="597" y="218"/>
                  <a:pt x="584" y="192"/>
                </a:cubicBezTo>
                <a:cubicBezTo>
                  <a:pt x="560" y="146"/>
                  <a:pt x="494" y="112"/>
                  <a:pt x="447" y="96"/>
                </a:cubicBezTo>
                <a:cubicBezTo>
                  <a:pt x="437" y="93"/>
                  <a:pt x="438" y="78"/>
                  <a:pt x="433" y="69"/>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pattFill prst="pct5">
                  <a:fgClr>
                    <a:schemeClr val="tx1"/>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428" name="Oval 36"/>
          <p:cNvSpPr>
            <a:spLocks noChangeArrowheads="1"/>
          </p:cNvSpPr>
          <p:nvPr/>
        </p:nvSpPr>
        <p:spPr bwMode="auto">
          <a:xfrm rot="5400000" flipV="1">
            <a:off x="4876800" y="16002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0429" name="Oval 37"/>
          <p:cNvSpPr>
            <a:spLocks noChangeArrowheads="1"/>
          </p:cNvSpPr>
          <p:nvPr/>
        </p:nvSpPr>
        <p:spPr bwMode="auto">
          <a:xfrm rot="5400000" flipV="1">
            <a:off x="3516313" y="1598613"/>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0430" name="Oval 38"/>
          <p:cNvSpPr>
            <a:spLocks noChangeArrowheads="1"/>
          </p:cNvSpPr>
          <p:nvPr/>
        </p:nvSpPr>
        <p:spPr bwMode="auto">
          <a:xfrm rot="5400000" flipV="1">
            <a:off x="4038600" y="22098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0431" name="Oval 39"/>
          <p:cNvSpPr>
            <a:spLocks noChangeArrowheads="1"/>
          </p:cNvSpPr>
          <p:nvPr/>
        </p:nvSpPr>
        <p:spPr bwMode="auto">
          <a:xfrm rot="5400000" flipV="1">
            <a:off x="4038600" y="1219200"/>
            <a:ext cx="76200" cy="762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0433" name="Rectangle 41"/>
          <p:cNvSpPr>
            <a:spLocks noChangeArrowheads="1"/>
          </p:cNvSpPr>
          <p:nvPr/>
        </p:nvSpPr>
        <p:spPr bwMode="auto">
          <a:xfrm>
            <a:off x="381000" y="3200400"/>
            <a:ext cx="57912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MIN</a:t>
            </a:r>
          </a:p>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MAX</a:t>
            </a:r>
          </a:p>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Group Average</a:t>
            </a:r>
          </a:p>
          <a:p>
            <a:pPr>
              <a:spcBef>
                <a:spcPts val="200"/>
              </a:spcBef>
              <a:spcAft>
                <a:spcPts val="200"/>
              </a:spcAft>
            </a:pPr>
            <a:r>
              <a:rPr lang="en-US" altLang="en-US" sz="2400" b="0" dirty="0">
                <a:solidFill>
                  <a:srgbClr val="FF0000"/>
                </a:solidFill>
                <a:latin typeface="Times New Roman" panose="02020603050405020304" pitchFamily="18" charset="0"/>
                <a:cs typeface="Times New Roman" panose="02020603050405020304" pitchFamily="18" charset="0"/>
              </a:rPr>
              <a:t>Distance Between Centroids</a:t>
            </a:r>
          </a:p>
          <a:p>
            <a:pPr>
              <a:spcBef>
                <a:spcPts val="200"/>
              </a:spcBef>
              <a:spcAft>
                <a:spcPts val="200"/>
              </a:spcAft>
            </a:pPr>
            <a:r>
              <a:rPr lang="en-US" altLang="en-US" sz="2400" b="0" dirty="0">
                <a:latin typeface="Times New Roman" panose="02020603050405020304" pitchFamily="18" charset="0"/>
                <a:cs typeface="Times New Roman" panose="02020603050405020304" pitchFamily="18" charset="0"/>
              </a:rPr>
              <a:t>Other methods driven by an objective function</a:t>
            </a:r>
          </a:p>
          <a:p>
            <a:pPr lvl="1">
              <a:spcBef>
                <a:spcPts val="200"/>
              </a:spcBef>
              <a:spcAft>
                <a:spcPts val="200"/>
              </a:spcAft>
            </a:pPr>
            <a:r>
              <a:rPr lang="en-US" altLang="en-US" sz="2000" b="0" dirty="0">
                <a:latin typeface="Times New Roman" panose="02020603050405020304" pitchFamily="18" charset="0"/>
                <a:cs typeface="Times New Roman" panose="02020603050405020304" pitchFamily="18" charset="0"/>
              </a:rPr>
              <a:t>Ward’s Method uses squared error</a:t>
            </a:r>
            <a:endParaRPr lang="en-US" altLang="en-US" b="0" dirty="0">
              <a:latin typeface="Times New Roman" panose="02020603050405020304" pitchFamily="18" charset="0"/>
              <a:cs typeface="Times New Roman" panose="02020603050405020304" pitchFamily="18" charset="0"/>
            </a:endParaRPr>
          </a:p>
        </p:txBody>
      </p:sp>
      <p:sp>
        <p:nvSpPr>
          <p:cNvPr id="60434" name="Text Box 42"/>
          <p:cNvSpPr txBox="1">
            <a:spLocks noChangeArrowheads="1"/>
          </p:cNvSpPr>
          <p:nvPr/>
        </p:nvSpPr>
        <p:spPr bwMode="auto">
          <a:xfrm>
            <a:off x="1219200" y="1828800"/>
            <a:ext cx="228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a:solidFill>
                  <a:srgbClr val="FF0000"/>
                </a:solidFill>
                <a:sym typeface="Symbol" pitchFamily="18" charset="2"/>
              </a:rPr>
              <a:t></a:t>
            </a:r>
          </a:p>
        </p:txBody>
      </p:sp>
      <p:sp>
        <p:nvSpPr>
          <p:cNvPr id="60435" name="Text Box 43"/>
          <p:cNvSpPr txBox="1">
            <a:spLocks noChangeArrowheads="1"/>
          </p:cNvSpPr>
          <p:nvPr/>
        </p:nvSpPr>
        <p:spPr bwMode="auto">
          <a:xfrm>
            <a:off x="4114800" y="1828800"/>
            <a:ext cx="228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a:solidFill>
                  <a:srgbClr val="FF0000"/>
                </a:solidFill>
                <a:sym typeface="Symbol" pitchFamily="18" charset="2"/>
              </a:rPr>
              <a:t></a:t>
            </a:r>
          </a:p>
        </p:txBody>
      </p:sp>
    </p:spTree>
    <p:extLst>
      <p:ext uri="{BB962C8B-B14F-4D97-AF65-F5344CB8AC3E}">
        <p14:creationId xmlns:p14="http://schemas.microsoft.com/office/powerpoint/2010/main" val="1095672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0434" name="Rectangle 2"/>
          <p:cNvSpPr>
            <a:spLocks noGrp="1" noChangeArrowheads="1"/>
          </p:cNvSpPr>
          <p:nvPr>
            <p:ph type="title"/>
          </p:nvPr>
        </p:nvSpPr>
        <p:spPr>
          <a:xfrm>
            <a:off x="990600" y="76200"/>
            <a:ext cx="7772400" cy="1143000"/>
          </a:xfrm>
        </p:spPr>
        <p:txBody>
          <a:bodyPr/>
          <a:lstStyle/>
          <a:p>
            <a:r>
              <a:rPr lang="en-US" altLang="en-US">
                <a:latin typeface="Times New Roman" panose="02020603050405020304" pitchFamily="18" charset="0"/>
                <a:cs typeface="Times New Roman" panose="02020603050405020304" pitchFamily="18" charset="0"/>
              </a:rPr>
              <a:t>Concepts in Clustering</a:t>
            </a:r>
          </a:p>
        </p:txBody>
      </p:sp>
      <p:sp>
        <p:nvSpPr>
          <p:cNvPr id="1170435" name="Rectangle 3"/>
          <p:cNvSpPr>
            <a:spLocks noGrp="1" noChangeArrowheads="1"/>
          </p:cNvSpPr>
          <p:nvPr>
            <p:ph type="body" idx="1"/>
          </p:nvPr>
        </p:nvSpPr>
        <p:spPr>
          <a:xfrm>
            <a:off x="457200" y="1676400"/>
            <a:ext cx="8534400" cy="4719638"/>
          </a:xfrm>
        </p:spPr>
        <p:txBody>
          <a:bodyPr>
            <a:normAutofit/>
          </a:bodyPr>
          <a:lstStyle/>
          <a:p>
            <a:pPr lvl="1">
              <a:lnSpc>
                <a:spcPct val="90000"/>
              </a:lnSpc>
            </a:pPr>
            <a:r>
              <a:rPr lang="en-US" altLang="en-US" sz="2400" dirty="0">
                <a:latin typeface="Times New Roman" panose="02020603050405020304" pitchFamily="18" charset="0"/>
                <a:cs typeface="Times New Roman" panose="02020603050405020304" pitchFamily="18" charset="0"/>
              </a:rPr>
              <a:t>“A good clustering is one where </a:t>
            </a:r>
          </a:p>
          <a:p>
            <a:pPr lvl="2">
              <a:lnSpc>
                <a:spcPct val="90000"/>
              </a:lnSpc>
            </a:pPr>
            <a:r>
              <a:rPr lang="en-US" altLang="en-US" sz="2400" dirty="0">
                <a:solidFill>
                  <a:srgbClr val="FF0000"/>
                </a:solidFill>
                <a:latin typeface="Times New Roman" panose="02020603050405020304" pitchFamily="18" charset="0"/>
                <a:cs typeface="Times New Roman" panose="02020603050405020304" pitchFamily="18" charset="0"/>
              </a:rPr>
              <a:t>(Intra-cluster distance)</a:t>
            </a:r>
            <a:r>
              <a:rPr lang="en-US" altLang="en-US" sz="2400" dirty="0">
                <a:latin typeface="Times New Roman" panose="02020603050405020304" pitchFamily="18" charset="0"/>
                <a:cs typeface="Times New Roman" panose="02020603050405020304" pitchFamily="18" charset="0"/>
              </a:rPr>
              <a:t> the sum of distances between objects in the same cluster are minimized, </a:t>
            </a:r>
          </a:p>
          <a:p>
            <a:pPr lvl="2">
              <a:lnSpc>
                <a:spcPct val="90000"/>
              </a:lnSpc>
            </a:pPr>
            <a:r>
              <a:rPr lang="en-US" altLang="en-US" sz="2400" dirty="0">
                <a:solidFill>
                  <a:srgbClr val="FF0000"/>
                </a:solidFill>
                <a:latin typeface="Times New Roman" panose="02020603050405020304" pitchFamily="18" charset="0"/>
                <a:cs typeface="Times New Roman" panose="02020603050405020304" pitchFamily="18" charset="0"/>
              </a:rPr>
              <a:t>(Inter-cluster distance)</a:t>
            </a:r>
            <a:r>
              <a:rPr lang="en-US" altLang="en-US" sz="2400" dirty="0">
                <a:latin typeface="Times New Roman" panose="02020603050405020304" pitchFamily="18" charset="0"/>
                <a:cs typeface="Times New Roman" panose="02020603050405020304" pitchFamily="18" charset="0"/>
              </a:rPr>
              <a:t> while the distances between different clusters are maximized</a:t>
            </a:r>
          </a:p>
        </p:txBody>
      </p:sp>
    </p:spTree>
    <p:extLst>
      <p:ext uri="{BB962C8B-B14F-4D97-AF65-F5344CB8AC3E}">
        <p14:creationId xmlns:p14="http://schemas.microsoft.com/office/powerpoint/2010/main" val="4173961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Hierarchical Clustering</a:t>
            </a:r>
          </a:p>
        </p:txBody>
      </p:sp>
      <p:sp>
        <p:nvSpPr>
          <p:cNvPr id="3" name="Content Placeholder 2"/>
          <p:cNvSpPr>
            <a:spLocks noGrp="1"/>
          </p:cNvSpPr>
          <p:nvPr>
            <p:ph idx="1"/>
          </p:nvPr>
        </p:nvSpPr>
        <p:spPr>
          <a:xfrm>
            <a:off x="457200" y="1600200"/>
            <a:ext cx="8229600" cy="4499693"/>
          </a:xfrm>
        </p:spPr>
        <p:txBody>
          <a:bodyPr>
            <a:normAutofit/>
          </a:bodyPr>
          <a:lstStyle/>
          <a:p>
            <a:r>
              <a:rPr lang="en-US" sz="2400" dirty="0">
                <a:latin typeface="Times New Roman" panose="02020603050405020304" pitchFamily="18" charset="0"/>
                <a:cs typeface="Times New Roman" panose="02020603050405020304" pitchFamily="18" charset="0"/>
              </a:rPr>
              <a:t>Two methods: Top-down or Bottoms-up</a:t>
            </a:r>
          </a:p>
          <a:p>
            <a:pPr lvl="1"/>
            <a:r>
              <a:rPr lang="en-US" sz="2400" dirty="0">
                <a:latin typeface="Times New Roman" panose="02020603050405020304" pitchFamily="18" charset="0"/>
                <a:cs typeface="Times New Roman" panose="02020603050405020304" pitchFamily="18" charset="0"/>
              </a:rPr>
              <a:t>Divisive hierarchical clustering works by recursively splitting the initial cluster into successive clusters moving down through a hierarchy.  </a:t>
            </a:r>
          </a:p>
          <a:p>
            <a:pPr lvl="1"/>
            <a:r>
              <a:rPr lang="en-US" sz="2400" dirty="0">
                <a:latin typeface="Times New Roman" panose="02020603050405020304" pitchFamily="18" charset="0"/>
                <a:cs typeface="Times New Roman" panose="02020603050405020304" pitchFamily="18" charset="0"/>
              </a:rPr>
              <a:t>Agglomerative clustering is the bottoms up approach that starts with a set of clusters then successively merges clusters until all are merged up through a hierarchy into one cluster. </a:t>
            </a:r>
          </a:p>
          <a:p>
            <a:pPr lvl="1"/>
            <a:r>
              <a:rPr lang="en-US" sz="2400" i="1" dirty="0">
                <a:latin typeface="Times New Roman" panose="02020603050405020304" pitchFamily="18" charset="0"/>
                <a:cs typeface="Times New Roman" panose="02020603050405020304" pitchFamily="18" charset="0"/>
              </a:rPr>
              <a:t>One benefit of Hierarchical Clustering is that you don’t have to specify the number of clusters before you begin your analysis!</a:t>
            </a:r>
          </a:p>
          <a:p>
            <a:pPr lvl="1"/>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11</a:t>
            </a:fld>
            <a:endParaRPr lang="en-US"/>
          </a:p>
        </p:txBody>
      </p:sp>
    </p:spTree>
    <p:extLst>
      <p:ext uri="{BB962C8B-B14F-4D97-AF65-F5344CB8AC3E}">
        <p14:creationId xmlns:p14="http://schemas.microsoft.com/office/powerpoint/2010/main" val="495780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does it work?</a:t>
            </a:r>
          </a:p>
        </p:txBody>
      </p:sp>
      <p:sp>
        <p:nvSpPr>
          <p:cNvPr id="3" name="Slide Number Placeholder 2"/>
          <p:cNvSpPr>
            <a:spLocks noGrp="1"/>
          </p:cNvSpPr>
          <p:nvPr>
            <p:ph type="sldNum" sz="quarter" idx="12"/>
          </p:nvPr>
        </p:nvSpPr>
        <p:spPr/>
        <p:txBody>
          <a:bodyPr/>
          <a:lstStyle/>
          <a:p>
            <a:fld id="{76F96C40-0356-46F5-90E5-FF57DE76D9A0}" type="slidenum">
              <a:rPr lang="en-US" smtClean="0"/>
              <a:t>12</a:t>
            </a:fld>
            <a:endParaRPr lang="en-US"/>
          </a:p>
        </p:txBody>
      </p:sp>
      <p:sp>
        <p:nvSpPr>
          <p:cNvPr id="5" name="TextBox 4"/>
          <p:cNvSpPr txBox="1"/>
          <p:nvPr/>
        </p:nvSpPr>
        <p:spPr>
          <a:xfrm>
            <a:off x="976569" y="6186928"/>
            <a:ext cx="7133394"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From- </a:t>
            </a:r>
            <a:r>
              <a:rPr lang="en-US" dirty="0">
                <a:hlinkClick r:id="rId2"/>
              </a:rPr>
              <a:t>Artificial Intelligence - All in One</a:t>
            </a:r>
            <a:br>
              <a:rPr lang="en-US" dirty="0"/>
            </a:br>
            <a:endParaRPr lang="en-US"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3"/>
          <a:stretch>
            <a:fillRect/>
          </a:stretch>
        </p:blipFill>
        <p:spPr>
          <a:xfrm>
            <a:off x="1105731" y="1379438"/>
            <a:ext cx="7143750" cy="4442407"/>
          </a:xfrm>
          <a:prstGeom prst="rect">
            <a:avLst/>
          </a:prstGeom>
        </p:spPr>
      </p:pic>
      <p:pic>
        <p:nvPicPr>
          <p:cNvPr id="10" name="Picture 9"/>
          <p:cNvPicPr>
            <a:picLocks noChangeAspect="1"/>
          </p:cNvPicPr>
          <p:nvPr/>
        </p:nvPicPr>
        <p:blipFill>
          <a:blip r:embed="rId4"/>
          <a:stretch>
            <a:fillRect/>
          </a:stretch>
        </p:blipFill>
        <p:spPr>
          <a:xfrm>
            <a:off x="1066799" y="1379438"/>
            <a:ext cx="7182681" cy="4442407"/>
          </a:xfrm>
          <a:prstGeom prst="rect">
            <a:avLst/>
          </a:prstGeom>
        </p:spPr>
      </p:pic>
      <p:pic>
        <p:nvPicPr>
          <p:cNvPr id="11" name="Picture 10"/>
          <p:cNvPicPr>
            <a:picLocks noChangeAspect="1"/>
          </p:cNvPicPr>
          <p:nvPr/>
        </p:nvPicPr>
        <p:blipFill>
          <a:blip r:embed="rId5"/>
          <a:stretch>
            <a:fillRect/>
          </a:stretch>
        </p:blipFill>
        <p:spPr>
          <a:xfrm>
            <a:off x="1058106" y="1395387"/>
            <a:ext cx="7187184" cy="4442137"/>
          </a:xfrm>
          <a:prstGeom prst="rect">
            <a:avLst/>
          </a:prstGeom>
        </p:spPr>
      </p:pic>
      <p:pic>
        <p:nvPicPr>
          <p:cNvPr id="12" name="Picture 11"/>
          <p:cNvPicPr>
            <a:picLocks/>
          </p:cNvPicPr>
          <p:nvPr/>
        </p:nvPicPr>
        <p:blipFill>
          <a:blip r:embed="rId6"/>
          <a:stretch>
            <a:fillRect/>
          </a:stretch>
        </p:blipFill>
        <p:spPr>
          <a:xfrm>
            <a:off x="1084014" y="1409489"/>
            <a:ext cx="7187184" cy="4443984"/>
          </a:xfrm>
          <a:prstGeom prst="rect">
            <a:avLst/>
          </a:prstGeom>
        </p:spPr>
      </p:pic>
      <p:pic>
        <p:nvPicPr>
          <p:cNvPr id="13" name="Picture 12"/>
          <p:cNvPicPr>
            <a:picLocks/>
          </p:cNvPicPr>
          <p:nvPr/>
        </p:nvPicPr>
        <p:blipFill>
          <a:blip r:embed="rId7"/>
          <a:stretch>
            <a:fillRect/>
          </a:stretch>
        </p:blipFill>
        <p:spPr>
          <a:xfrm>
            <a:off x="1042416" y="1371600"/>
            <a:ext cx="7187184" cy="4443984"/>
          </a:xfrm>
          <a:prstGeom prst="rect">
            <a:avLst/>
          </a:prstGeom>
        </p:spPr>
      </p:pic>
      <p:pic>
        <p:nvPicPr>
          <p:cNvPr id="14" name="Picture 13"/>
          <p:cNvPicPr>
            <a:picLocks noChangeAspect="1"/>
          </p:cNvPicPr>
          <p:nvPr/>
        </p:nvPicPr>
        <p:blipFill>
          <a:blip r:embed="rId8"/>
          <a:stretch>
            <a:fillRect/>
          </a:stretch>
        </p:blipFill>
        <p:spPr>
          <a:xfrm>
            <a:off x="474014" y="1242362"/>
            <a:ext cx="8134350" cy="4686300"/>
          </a:xfrm>
          <a:prstGeom prst="rect">
            <a:avLst/>
          </a:prstGeom>
        </p:spPr>
      </p:pic>
      <p:pic>
        <p:nvPicPr>
          <p:cNvPr id="15" name="Picture 14"/>
          <p:cNvPicPr>
            <a:picLocks/>
          </p:cNvPicPr>
          <p:nvPr/>
        </p:nvPicPr>
        <p:blipFill>
          <a:blip r:embed="rId9"/>
          <a:stretch>
            <a:fillRect/>
          </a:stretch>
        </p:blipFill>
        <p:spPr>
          <a:xfrm>
            <a:off x="474014" y="1271019"/>
            <a:ext cx="8134350" cy="4690872"/>
          </a:xfrm>
          <a:prstGeom prst="rect">
            <a:avLst/>
          </a:prstGeom>
        </p:spPr>
      </p:pic>
      <p:pic>
        <p:nvPicPr>
          <p:cNvPr id="16" name="Picture 15"/>
          <p:cNvPicPr>
            <a:picLocks noChangeAspect="1"/>
          </p:cNvPicPr>
          <p:nvPr/>
        </p:nvPicPr>
        <p:blipFill>
          <a:blip r:embed="rId10"/>
          <a:stretch>
            <a:fillRect/>
          </a:stretch>
        </p:blipFill>
        <p:spPr>
          <a:xfrm>
            <a:off x="493507" y="1242383"/>
            <a:ext cx="8134350" cy="4800600"/>
          </a:xfrm>
          <a:prstGeom prst="rect">
            <a:avLst/>
          </a:prstGeom>
        </p:spPr>
      </p:pic>
      <p:pic>
        <p:nvPicPr>
          <p:cNvPr id="17" name="Picture 16"/>
          <p:cNvPicPr>
            <a:picLocks/>
          </p:cNvPicPr>
          <p:nvPr/>
        </p:nvPicPr>
        <p:blipFill>
          <a:blip r:embed="rId11"/>
          <a:stretch>
            <a:fillRect/>
          </a:stretch>
        </p:blipFill>
        <p:spPr>
          <a:xfrm>
            <a:off x="495279" y="1219200"/>
            <a:ext cx="8138160" cy="4837176"/>
          </a:xfrm>
          <a:prstGeom prst="rect">
            <a:avLst/>
          </a:prstGeom>
        </p:spPr>
      </p:pic>
    </p:spTree>
    <p:extLst>
      <p:ext uri="{BB962C8B-B14F-4D97-AF65-F5344CB8AC3E}">
        <p14:creationId xmlns:p14="http://schemas.microsoft.com/office/powerpoint/2010/main" val="1236294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1698171" y="-783770"/>
            <a:ext cx="5791201" cy="8273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76F96C40-0356-46F5-90E5-FF57DE76D9A0}" type="slidenum">
              <a:rPr lang="en-US" smtClean="0"/>
              <a:t>13</a:t>
            </a:fld>
            <a:endParaRPr lang="en-US"/>
          </a:p>
        </p:txBody>
      </p:sp>
    </p:spTree>
    <p:extLst>
      <p:ext uri="{BB962C8B-B14F-4D97-AF65-F5344CB8AC3E}">
        <p14:creationId xmlns:p14="http://schemas.microsoft.com/office/powerpoint/2010/main" val="297811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k-Means Clustering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229600" cy="4800600"/>
              </a:xfrm>
            </p:spPr>
            <p:txBody>
              <a:bodyPr>
                <a:normAutofit fontScale="92500" lnSpcReduction="10000"/>
              </a:bodyPr>
              <a:lstStyle/>
              <a:p>
                <a:r>
                  <a:rPr lang="en-US" sz="2400" dirty="0">
                    <a:latin typeface="Times New Roman" panose="02020603050405020304" pitchFamily="18" charset="0"/>
                    <a:cs typeface="Times New Roman" panose="02020603050405020304" pitchFamily="18" charset="0"/>
                  </a:rPr>
                  <a:t>There are multiple ways to cluster the data but K-Means algorithm is the most used algorithm. Which tries to improve the inter group similarity while keeping the groups as far as possible from each other.</a:t>
                </a:r>
              </a:p>
              <a:p>
                <a:r>
                  <a:rPr lang="en-US" sz="2400" dirty="0">
                    <a:latin typeface="Times New Roman" panose="02020603050405020304" pitchFamily="18" charset="0"/>
                    <a:cs typeface="Times New Roman" panose="02020603050405020304" pitchFamily="18" charset="0"/>
                  </a:rPr>
                  <a:t>Basically K-Means runs on distance calculations, which again uses “Euclidean Distance” for this purpose. Euclidean distance calculates the distance between two given points using the following formula:</a:t>
                </a:r>
              </a:p>
              <a:p>
                <a:r>
                  <a:rPr lang="en-US" sz="2400" dirty="0">
                    <a:latin typeface="Times New Roman" panose="02020603050405020304" pitchFamily="18" charset="0"/>
                    <a:cs typeface="Times New Roman" panose="02020603050405020304" pitchFamily="18" charset="0"/>
                  </a:rPr>
                  <a:t>Euclidean Distance =  </a:t>
                </a:r>
                <a14:m>
                  <m:oMath xmlns:m="http://schemas.openxmlformats.org/officeDocument/2006/math">
                    <m:rad>
                      <m:radPr>
                        <m:degHide m:val="on"/>
                        <m:ctrlPr>
                          <a:rPr lang="en-US" sz="2400" i="1" smtClean="0">
                            <a:latin typeface="Cambria Math" panose="02040503050406030204" pitchFamily="18" charset="0"/>
                            <a:cs typeface="Times New Roman" panose="02020603050405020304" pitchFamily="18" charset="0"/>
                          </a:rPr>
                        </m:ctrlPr>
                      </m:radPr>
                      <m:deg/>
                      <m:e>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m:t>
                            </m:r>
                          </m:e>
                          <m:sup>
                            <m:r>
                              <a:rPr lang="en-US" sz="2400" b="0" i="1" smtClean="0">
                                <a:latin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𝑌</m:t>
                            </m:r>
                          </m:e>
                          <m:sub>
                            <m:r>
                              <a:rPr lang="en-US" sz="2400" i="1">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2</m:t>
                            </m:r>
                          </m:sub>
                        </m:sSub>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m:t>
                            </m:r>
                          </m:e>
                          <m:sup>
                            <m:r>
                              <a:rPr lang="en-US" sz="2400" b="0" i="1" smtClean="0">
                                <a:latin typeface="Cambria Math" panose="02040503050406030204" pitchFamily="18" charset="0"/>
                                <a:cs typeface="Times New Roman" panose="02020603050405020304" pitchFamily="18" charset="0"/>
                              </a:rPr>
                              <m:t>2</m:t>
                            </m:r>
                          </m:sup>
                        </m:sSup>
                      </m:e>
                    </m:rad>
                  </m:oMath>
                </a14:m>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Above formula captures the distance in 2-Dimensional space but the same is applicable in multi-dimensional space as well with increase in number of terms getting added. “K” in K-Means represents the number of clusters in which we want our data to divide into.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229600" cy="4800600"/>
              </a:xfrm>
              <a:blipFill>
                <a:blip r:embed="rId3"/>
                <a:stretch>
                  <a:fillRect l="-889" t="-1525"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6F96C40-0356-46F5-90E5-FF57DE76D9A0}" type="slidenum">
              <a:rPr lang="en-US" smtClean="0"/>
              <a:t>14</a:t>
            </a:fld>
            <a:endParaRPr lang="en-US"/>
          </a:p>
        </p:txBody>
      </p:sp>
      <p:sp>
        <p:nvSpPr>
          <p:cNvPr id="7" name="Rectangle 6"/>
          <p:cNvSpPr/>
          <p:nvPr/>
        </p:nvSpPr>
        <p:spPr>
          <a:xfrm>
            <a:off x="3276600" y="6400800"/>
            <a:ext cx="5867400" cy="307777"/>
          </a:xfrm>
          <a:prstGeom prst="rect">
            <a:avLst/>
          </a:prstGeom>
        </p:spPr>
        <p:txBody>
          <a:bodyPr wrap="square">
            <a:spAutoFit/>
          </a:bodyPr>
          <a:lstStyle/>
          <a:p>
            <a:r>
              <a:rPr lang="en-US" sz="1400" dirty="0"/>
              <a:t>https://www.dezyre.com/data-science-in-r-programming-tutorial</a:t>
            </a:r>
          </a:p>
        </p:txBody>
      </p:sp>
    </p:spTree>
    <p:extLst>
      <p:ext uri="{BB962C8B-B14F-4D97-AF65-F5344CB8AC3E}">
        <p14:creationId xmlns:p14="http://schemas.microsoft.com/office/powerpoint/2010/main" val="691647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k-Means Clustering</a:t>
            </a:r>
          </a:p>
        </p:txBody>
      </p:sp>
      <p:sp>
        <p:nvSpPr>
          <p:cNvPr id="3" name="Content Placeholder 2"/>
          <p:cNvSpPr>
            <a:spLocks noGrp="1"/>
          </p:cNvSpPr>
          <p:nvPr>
            <p:ph idx="1"/>
          </p:nvPr>
        </p:nvSpPr>
        <p:spPr>
          <a:xfrm>
            <a:off x="457200" y="1600200"/>
            <a:ext cx="8229600" cy="3539430"/>
          </a:xfrm>
        </p:spPr>
        <p:txBody>
          <a:bodyPr>
            <a:normAutofit/>
          </a:bodyPr>
          <a:lstStyle/>
          <a:p>
            <a:r>
              <a:rPr lang="en-US" sz="2400" dirty="0">
                <a:latin typeface="Times New Roman" panose="02020603050405020304" pitchFamily="18" charset="0"/>
                <a:cs typeface="Times New Roman" panose="02020603050405020304" pitchFamily="18" charset="0"/>
              </a:rPr>
              <a:t>Divide or partition data into k clusters based on “features”</a:t>
            </a:r>
          </a:p>
          <a:p>
            <a:pPr lvl="1"/>
            <a:r>
              <a:rPr lang="en-US" sz="2400" dirty="0">
                <a:latin typeface="Times New Roman" panose="02020603050405020304" pitchFamily="18" charset="0"/>
                <a:cs typeface="Times New Roman" panose="02020603050405020304" pitchFamily="18" charset="0"/>
              </a:rPr>
              <a:t>Define or initialize center points of clusters</a:t>
            </a:r>
          </a:p>
          <a:p>
            <a:pPr lvl="1"/>
            <a:r>
              <a:rPr lang="en-US" sz="2400" dirty="0">
                <a:latin typeface="Times New Roman" panose="02020603050405020304" pitchFamily="18" charset="0"/>
                <a:cs typeface="Times New Roman" panose="02020603050405020304" pitchFamily="18" charset="0"/>
              </a:rPr>
              <a:t>Assign data points to clusters based on the closest center</a:t>
            </a:r>
          </a:p>
          <a:p>
            <a:pPr lvl="1"/>
            <a:r>
              <a:rPr lang="en-US" sz="2400" dirty="0">
                <a:latin typeface="Times New Roman" panose="02020603050405020304" pitchFamily="18" charset="0"/>
                <a:cs typeface="Times New Roman" panose="02020603050405020304" pitchFamily="18" charset="0"/>
              </a:rPr>
              <a:t>Move centers to the centroid of each cluster formed</a:t>
            </a:r>
          </a:p>
          <a:p>
            <a:pPr lvl="1"/>
            <a:r>
              <a:rPr lang="en-US" sz="2400" dirty="0">
                <a:latin typeface="Times New Roman" panose="02020603050405020304" pitchFamily="18" charset="0"/>
                <a:cs typeface="Times New Roman" panose="02020603050405020304" pitchFamily="18" charset="0"/>
              </a:rPr>
              <a:t>Move data points to the closest center</a:t>
            </a:r>
          </a:p>
          <a:p>
            <a:pPr lvl="1"/>
            <a:r>
              <a:rPr lang="en-US" sz="2400" dirty="0">
                <a:latin typeface="Times New Roman" panose="02020603050405020304" pitchFamily="18" charset="0"/>
                <a:cs typeface="Times New Roman" panose="02020603050405020304" pitchFamily="18" charset="0"/>
              </a:rPr>
              <a:t>Repeat until no data points move</a:t>
            </a:r>
          </a:p>
        </p:txBody>
      </p:sp>
      <p:sp>
        <p:nvSpPr>
          <p:cNvPr id="4" name="Slide Number Placeholder 3"/>
          <p:cNvSpPr>
            <a:spLocks noGrp="1"/>
          </p:cNvSpPr>
          <p:nvPr>
            <p:ph type="sldNum" sz="quarter" idx="12"/>
          </p:nvPr>
        </p:nvSpPr>
        <p:spPr/>
        <p:txBody>
          <a:bodyPr/>
          <a:lstStyle/>
          <a:p>
            <a:fld id="{76F96C40-0356-46F5-90E5-FF57DE76D9A0}" type="slidenum">
              <a:rPr lang="en-US" smtClean="0"/>
              <a:t>15</a:t>
            </a:fld>
            <a:endParaRPr lang="en-US"/>
          </a:p>
        </p:txBody>
      </p:sp>
    </p:spTree>
    <p:extLst>
      <p:ext uri="{BB962C8B-B14F-4D97-AF65-F5344CB8AC3E}">
        <p14:creationId xmlns:p14="http://schemas.microsoft.com/office/powerpoint/2010/main" val="2360972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2200" y="3044952"/>
            <a:ext cx="4724400" cy="3448050"/>
          </a:xfrm>
          <a:prstGeom prst="rect">
            <a:avLst/>
          </a:prstGeom>
        </p:spPr>
      </p:pic>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K-means Algorithm</a:t>
            </a:r>
          </a:p>
        </p:txBody>
      </p:sp>
      <p:sp>
        <p:nvSpPr>
          <p:cNvPr id="3" name="Content Placeholder 2"/>
          <p:cNvSpPr>
            <a:spLocks noGrp="1"/>
          </p:cNvSpPr>
          <p:nvPr>
            <p:ph idx="1"/>
          </p:nvPr>
        </p:nvSpPr>
        <p:spPr>
          <a:xfrm>
            <a:off x="457200" y="1600200"/>
            <a:ext cx="8229600" cy="3539430"/>
          </a:xfrm>
        </p:spPr>
        <p:txBody>
          <a:bodyPr>
            <a:normAutofit/>
          </a:bodyPr>
          <a:lstStyle/>
          <a:p>
            <a:pPr marL="0" indent="0">
              <a:buNone/>
            </a:pPr>
            <a:r>
              <a:rPr lang="en-US" sz="2400" i="1" dirty="0">
                <a:latin typeface="Times New Roman" panose="02020603050405020304" pitchFamily="18" charset="0"/>
                <a:cs typeface="Times New Roman" panose="02020603050405020304" pitchFamily="18" charset="0"/>
              </a:rPr>
              <a:t>Step 1</a:t>
            </a:r>
            <a:r>
              <a:rPr lang="en-US" sz="2400" dirty="0">
                <a:latin typeface="Times New Roman" panose="02020603050405020304" pitchFamily="18" charset="0"/>
                <a:cs typeface="Times New Roman" panose="02020603050405020304" pitchFamily="18" charset="0"/>
              </a:rPr>
              <a:t> - Start with number of clusters (k) we want e.g., 3 in this case. K-Means algorithm start the process with random centers in data, and then tries to attach the nearest points to these centers.</a:t>
            </a:r>
          </a:p>
        </p:txBody>
      </p:sp>
      <p:sp>
        <p:nvSpPr>
          <p:cNvPr id="4" name="Slide Number Placeholder 3"/>
          <p:cNvSpPr>
            <a:spLocks noGrp="1"/>
          </p:cNvSpPr>
          <p:nvPr>
            <p:ph type="sldNum" sz="quarter" idx="12"/>
          </p:nvPr>
        </p:nvSpPr>
        <p:spPr/>
        <p:txBody>
          <a:bodyPr/>
          <a:lstStyle/>
          <a:p>
            <a:fld id="{76F96C40-0356-46F5-90E5-FF57DE76D9A0}" type="slidenum">
              <a:rPr lang="en-US" smtClean="0"/>
              <a:t>16</a:t>
            </a:fld>
            <a:endParaRPr lang="en-US"/>
          </a:p>
        </p:txBody>
      </p:sp>
      <p:pic>
        <p:nvPicPr>
          <p:cNvPr id="5" name="Picture 4"/>
          <p:cNvPicPr>
            <a:picLocks noChangeAspect="1"/>
          </p:cNvPicPr>
          <p:nvPr/>
        </p:nvPicPr>
        <p:blipFill>
          <a:blip r:embed="rId4"/>
          <a:stretch>
            <a:fillRect/>
          </a:stretch>
        </p:blipFill>
        <p:spPr>
          <a:xfrm>
            <a:off x="2362200" y="3048000"/>
            <a:ext cx="4724400" cy="3449349"/>
          </a:xfrm>
          <a:prstGeom prst="rect">
            <a:avLst/>
          </a:prstGeom>
        </p:spPr>
      </p:pic>
      <p:sp>
        <p:nvSpPr>
          <p:cNvPr id="7" name="Rectangle 6"/>
          <p:cNvSpPr/>
          <p:nvPr/>
        </p:nvSpPr>
        <p:spPr>
          <a:xfrm>
            <a:off x="3276600" y="6400800"/>
            <a:ext cx="5867400" cy="307777"/>
          </a:xfrm>
          <a:prstGeom prst="rect">
            <a:avLst/>
          </a:prstGeom>
        </p:spPr>
        <p:txBody>
          <a:bodyPr wrap="square">
            <a:spAutoFit/>
          </a:bodyPr>
          <a:lstStyle/>
          <a:p>
            <a:r>
              <a:rPr lang="en-US" sz="1400" dirty="0"/>
              <a:t>https://www.dezyre.com/data-science-in-r-programming-tutorial</a:t>
            </a:r>
          </a:p>
        </p:txBody>
      </p:sp>
    </p:spTree>
    <p:extLst>
      <p:ext uri="{BB962C8B-B14F-4D97-AF65-F5344CB8AC3E}">
        <p14:creationId xmlns:p14="http://schemas.microsoft.com/office/powerpoint/2010/main" val="2120243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K-means Algorithm</a:t>
            </a:r>
          </a:p>
        </p:txBody>
      </p:sp>
      <p:sp>
        <p:nvSpPr>
          <p:cNvPr id="3" name="Content Placeholder 2"/>
          <p:cNvSpPr>
            <a:spLocks noGrp="1"/>
          </p:cNvSpPr>
          <p:nvPr>
            <p:ph idx="1"/>
          </p:nvPr>
        </p:nvSpPr>
        <p:spPr>
          <a:xfrm>
            <a:off x="457200" y="1600200"/>
            <a:ext cx="8229600" cy="3539430"/>
          </a:xfrm>
        </p:spPr>
        <p:txBody>
          <a:bodyPr>
            <a:normAutofit/>
          </a:bodyPr>
          <a:lstStyle/>
          <a:p>
            <a:pPr marL="0" indent="0">
              <a:buNone/>
            </a:pPr>
            <a:r>
              <a:rPr lang="en-US" sz="2400" i="1" dirty="0">
                <a:latin typeface="Times New Roman" panose="02020603050405020304" pitchFamily="18" charset="0"/>
                <a:cs typeface="Times New Roman" panose="02020603050405020304" pitchFamily="18" charset="0"/>
              </a:rPr>
              <a:t>Step 2</a:t>
            </a:r>
            <a:r>
              <a:rPr lang="en-US" sz="2400" dirty="0">
                <a:latin typeface="Times New Roman" panose="02020603050405020304" pitchFamily="18" charset="0"/>
                <a:cs typeface="Times New Roman" panose="02020603050405020304" pitchFamily="18" charset="0"/>
              </a:rPr>
              <a:t> - Algorithm then moves the randomly allocated centers to the means of created groups.</a:t>
            </a:r>
          </a:p>
        </p:txBody>
      </p:sp>
      <p:sp>
        <p:nvSpPr>
          <p:cNvPr id="4" name="Slide Number Placeholder 3"/>
          <p:cNvSpPr>
            <a:spLocks noGrp="1"/>
          </p:cNvSpPr>
          <p:nvPr>
            <p:ph type="sldNum" sz="quarter" idx="12"/>
          </p:nvPr>
        </p:nvSpPr>
        <p:spPr/>
        <p:txBody>
          <a:bodyPr/>
          <a:lstStyle/>
          <a:p>
            <a:fld id="{76F96C40-0356-46F5-90E5-FF57DE76D9A0}" type="slidenum">
              <a:rPr lang="en-US" smtClean="0"/>
              <a:t>17</a:t>
            </a:fld>
            <a:endParaRPr lang="en-US"/>
          </a:p>
        </p:txBody>
      </p:sp>
      <p:sp>
        <p:nvSpPr>
          <p:cNvPr id="7" name="Rectangle 6"/>
          <p:cNvSpPr/>
          <p:nvPr/>
        </p:nvSpPr>
        <p:spPr>
          <a:xfrm>
            <a:off x="3276600" y="6400800"/>
            <a:ext cx="5867400" cy="307777"/>
          </a:xfrm>
          <a:prstGeom prst="rect">
            <a:avLst/>
          </a:prstGeom>
        </p:spPr>
        <p:txBody>
          <a:bodyPr wrap="square">
            <a:spAutoFit/>
          </a:bodyPr>
          <a:lstStyle/>
          <a:p>
            <a:r>
              <a:rPr lang="en-US" sz="1400" dirty="0"/>
              <a:t>https://www.dezyre.com/data-science-in-r-programming-tutorial</a:t>
            </a:r>
          </a:p>
        </p:txBody>
      </p:sp>
      <p:pic>
        <p:nvPicPr>
          <p:cNvPr id="8" name="Picture 7"/>
          <p:cNvPicPr>
            <a:picLocks/>
          </p:cNvPicPr>
          <p:nvPr/>
        </p:nvPicPr>
        <p:blipFill>
          <a:blip r:embed="rId3"/>
          <a:stretch>
            <a:fillRect/>
          </a:stretch>
        </p:blipFill>
        <p:spPr>
          <a:xfrm>
            <a:off x="2359152" y="3044952"/>
            <a:ext cx="4727448" cy="3447288"/>
          </a:xfrm>
          <a:prstGeom prst="rect">
            <a:avLst/>
          </a:prstGeom>
        </p:spPr>
      </p:pic>
      <p:sp>
        <p:nvSpPr>
          <p:cNvPr id="5" name="Rectangle 4"/>
          <p:cNvSpPr/>
          <p:nvPr/>
        </p:nvSpPr>
        <p:spPr>
          <a:xfrm>
            <a:off x="4572000" y="3810000"/>
            <a:ext cx="11430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733800" y="4800600"/>
            <a:ext cx="152400" cy="377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657600" y="4951083"/>
            <a:ext cx="152400" cy="377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562600" y="5184648"/>
            <a:ext cx="262128" cy="3339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410200" y="5530540"/>
            <a:ext cx="228600" cy="2194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5799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1"/>
                                        </p:tgtEl>
                                      </p:cBhvr>
                                    </p:animEffect>
                                    <p:set>
                                      <p:cBhvr>
                                        <p:cTn id="10" dur="1" fill="hold">
                                          <p:stCondLst>
                                            <p:cond delay="499"/>
                                          </p:stCondLst>
                                        </p:cTn>
                                        <p:tgtEl>
                                          <p:spTgt spid="11"/>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5"/>
                                        </p:tgtEl>
                                      </p:cBhvr>
                                    </p:animEffect>
                                    <p:set>
                                      <p:cBhvr>
                                        <p:cTn id="13" dur="1" fill="hold">
                                          <p:stCondLst>
                                            <p:cond delay="499"/>
                                          </p:stCondLst>
                                        </p:cTn>
                                        <p:tgtEl>
                                          <p:spTgt spid="5"/>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9"/>
                                        </p:tgtEl>
                                      </p:cBhvr>
                                    </p:animEffect>
                                    <p:set>
                                      <p:cBhvr>
                                        <p:cTn id="16" dur="1" fill="hold">
                                          <p:stCondLst>
                                            <p:cond delay="499"/>
                                          </p:stCondLst>
                                        </p:cTn>
                                        <p:tgtEl>
                                          <p:spTgt spid="9"/>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10"/>
                                        </p:tgtEl>
                                      </p:cBhvr>
                                    </p:animEffect>
                                    <p:set>
                                      <p:cBhvr>
                                        <p:cTn id="19"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p:cNvPicPr>
          <p:nvPr/>
        </p:nvPicPr>
        <p:blipFill>
          <a:blip r:embed="rId3"/>
          <a:stretch>
            <a:fillRect/>
          </a:stretch>
        </p:blipFill>
        <p:spPr>
          <a:xfrm>
            <a:off x="2359152" y="3044952"/>
            <a:ext cx="4727448" cy="3447288"/>
          </a:xfrm>
          <a:prstGeom prst="rect">
            <a:avLst/>
          </a:prstGeom>
        </p:spPr>
      </p:pic>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K-means Algorithm</a:t>
            </a:r>
          </a:p>
        </p:txBody>
      </p:sp>
      <p:sp>
        <p:nvSpPr>
          <p:cNvPr id="3" name="Content Placeholder 2"/>
          <p:cNvSpPr>
            <a:spLocks noGrp="1"/>
          </p:cNvSpPr>
          <p:nvPr>
            <p:ph idx="1"/>
          </p:nvPr>
        </p:nvSpPr>
        <p:spPr>
          <a:xfrm>
            <a:off x="457200" y="1600200"/>
            <a:ext cx="8229600" cy="3539430"/>
          </a:xfrm>
        </p:spPr>
        <p:txBody>
          <a:bodyPr>
            <a:normAutofit/>
          </a:bodyPr>
          <a:lstStyle/>
          <a:p>
            <a:pPr marL="0" indent="0">
              <a:buNone/>
            </a:pPr>
            <a:r>
              <a:rPr lang="en-US" sz="2400" i="1" dirty="0">
                <a:latin typeface="Times New Roman" panose="02020603050405020304" pitchFamily="18" charset="0"/>
                <a:cs typeface="Times New Roman" panose="02020603050405020304" pitchFamily="18" charset="0"/>
              </a:rPr>
              <a:t>Step 3</a:t>
            </a:r>
            <a:r>
              <a:rPr lang="en-US" sz="2400" dirty="0">
                <a:latin typeface="Times New Roman" panose="02020603050405020304" pitchFamily="18" charset="0"/>
                <a:cs typeface="Times New Roman" panose="02020603050405020304" pitchFamily="18" charset="0"/>
              </a:rPr>
              <a:t> - In the next step, data points are again reassigned to these newly created centers</a:t>
            </a:r>
          </a:p>
          <a:p>
            <a:pPr marL="0" indent="0">
              <a:buNone/>
            </a:pPr>
            <a:r>
              <a:rPr lang="en-US" sz="2400" i="1" dirty="0">
                <a:latin typeface="Times New Roman" panose="02020603050405020304" pitchFamily="18" charset="0"/>
                <a:cs typeface="Times New Roman" panose="02020603050405020304" pitchFamily="18" charset="0"/>
              </a:rPr>
              <a:t>Step 4</a:t>
            </a:r>
            <a:r>
              <a:rPr lang="en-US" sz="2400" dirty="0">
                <a:latin typeface="Times New Roman" panose="02020603050405020304" pitchFamily="18" charset="0"/>
                <a:cs typeface="Times New Roman" panose="02020603050405020304" pitchFamily="18" charset="0"/>
              </a:rPr>
              <a:t> - Steps 2 &amp; 3 are repeated until no member changes their association/ groups</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18</a:t>
            </a:fld>
            <a:endParaRPr lang="en-US"/>
          </a:p>
        </p:txBody>
      </p:sp>
      <p:sp>
        <p:nvSpPr>
          <p:cNvPr id="7" name="Rectangle 6"/>
          <p:cNvSpPr/>
          <p:nvPr/>
        </p:nvSpPr>
        <p:spPr>
          <a:xfrm>
            <a:off x="3276600" y="6400800"/>
            <a:ext cx="5867400" cy="307777"/>
          </a:xfrm>
          <a:prstGeom prst="rect">
            <a:avLst/>
          </a:prstGeom>
        </p:spPr>
        <p:txBody>
          <a:bodyPr wrap="square">
            <a:spAutoFit/>
          </a:bodyPr>
          <a:lstStyle/>
          <a:p>
            <a:r>
              <a:rPr lang="en-US" sz="1400" dirty="0"/>
              <a:t>https://www.dezyre.com/data-science-in-r-programming-tutorial</a:t>
            </a:r>
          </a:p>
        </p:txBody>
      </p:sp>
      <p:sp>
        <p:nvSpPr>
          <p:cNvPr id="8" name="Freeform 7"/>
          <p:cNvSpPr/>
          <p:nvPr/>
        </p:nvSpPr>
        <p:spPr>
          <a:xfrm>
            <a:off x="4015819" y="4308049"/>
            <a:ext cx="339365" cy="1819374"/>
          </a:xfrm>
          <a:custGeom>
            <a:avLst/>
            <a:gdLst>
              <a:gd name="connsiteX0" fmla="*/ 339365 w 339365"/>
              <a:gd name="connsiteY0" fmla="*/ 0 h 1819374"/>
              <a:gd name="connsiteX1" fmla="*/ 0 w 339365"/>
              <a:gd name="connsiteY1" fmla="*/ 1819374 h 1819374"/>
              <a:gd name="connsiteX2" fmla="*/ 0 w 339365"/>
              <a:gd name="connsiteY2" fmla="*/ 1819374 h 1819374"/>
            </a:gdLst>
            <a:ahLst/>
            <a:cxnLst>
              <a:cxn ang="0">
                <a:pos x="connsiteX0" y="connsiteY0"/>
              </a:cxn>
              <a:cxn ang="0">
                <a:pos x="connsiteX1" y="connsiteY1"/>
              </a:cxn>
              <a:cxn ang="0">
                <a:pos x="connsiteX2" y="connsiteY2"/>
              </a:cxn>
            </a:cxnLst>
            <a:rect l="l" t="t" r="r" b="b"/>
            <a:pathLst>
              <a:path w="339365" h="1819374">
                <a:moveTo>
                  <a:pt x="339365" y="0"/>
                </a:moveTo>
                <a:lnTo>
                  <a:pt x="0" y="1819374"/>
                </a:lnTo>
                <a:lnTo>
                  <a:pt x="0" y="1819374"/>
                </a:lnTo>
              </a:path>
            </a:pathLst>
          </a:cu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flipH="1" flipV="1">
            <a:off x="3276600" y="4648200"/>
            <a:ext cx="152400" cy="6096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5307291" y="5139630"/>
            <a:ext cx="407709" cy="2147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5715000" y="3733800"/>
            <a:ext cx="304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endCxn id="8" idx="0"/>
          </p:cNvCxnSpPr>
          <p:nvPr/>
        </p:nvCxnSpPr>
        <p:spPr>
          <a:xfrm>
            <a:off x="3733800" y="3124200"/>
            <a:ext cx="621384" cy="118384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355184" y="4308049"/>
            <a:ext cx="2502816"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1010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heel(1)">
                                      <p:cBhvr>
                                        <p:cTn id="19" dur="750"/>
                                        <p:tgtEl>
                                          <p:spTgt spid="15"/>
                                        </p:tgtEl>
                                      </p:cBhvr>
                                    </p:animEffect>
                                  </p:childTnLst>
                                </p:cTn>
                              </p:par>
                              <p:par>
                                <p:cTn id="20" presetID="21" presetClass="entr" presetSubtype="1"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heel(1)">
                                      <p:cBhvr>
                                        <p:cTn id="22" dur="750"/>
                                        <p:tgtEl>
                                          <p:spTgt spid="10"/>
                                        </p:tgtEl>
                                      </p:cBhvr>
                                    </p:animEffect>
                                  </p:childTnLst>
                                </p:cTn>
                              </p:par>
                              <p:par>
                                <p:cTn id="23" presetID="21" presetClass="entr" presetSubtype="1"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heel(1)">
                                      <p:cBhvr>
                                        <p:cTn id="25"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0891" y="1482297"/>
            <a:ext cx="3048000" cy="3416320"/>
          </a:xfrm>
          <a:prstGeom prst="rect">
            <a:avLst/>
          </a:prstGeom>
          <a:noFill/>
        </p:spPr>
        <p:txBody>
          <a:bodyPr wrap="square" rtlCol="0">
            <a:spAutoFit/>
          </a:bodyPr>
          <a:lstStyle/>
          <a:p>
            <a:pPr marL="342900" lvl="0" indent="-342900">
              <a:buFont typeface="+mj-lt"/>
              <a:buAutoNum type="arabicPeriod"/>
            </a:pPr>
            <a:r>
              <a:rPr lang="en-US" sz="2400" dirty="0">
                <a:latin typeface="Times New Roman" panose="02020603050405020304" pitchFamily="18" charset="0"/>
                <a:cs typeface="Times New Roman" panose="02020603050405020304" pitchFamily="18" charset="0"/>
              </a:rPr>
              <a:t>Initialize, i.e. pick k random points as cluster centers.</a:t>
            </a:r>
          </a:p>
          <a:p>
            <a:pPr marL="342900" lvl="0" indent="-342900">
              <a:buFont typeface="+mj-lt"/>
              <a:buAutoNum type="arabicPeriod"/>
            </a:pPr>
            <a:r>
              <a:rPr lang="en-US" sz="2400" dirty="0">
                <a:latin typeface="Times New Roman" panose="02020603050405020304" pitchFamily="18" charset="0"/>
                <a:cs typeface="Times New Roman" panose="02020603050405020304" pitchFamily="18" charset="0"/>
              </a:rPr>
              <a:t>Assign data points to the closest center.</a:t>
            </a:r>
          </a:p>
          <a:p>
            <a:pPr marL="342900" lvl="0" indent="-342900">
              <a:buFont typeface="+mj-lt"/>
              <a:buAutoNum type="arabicPeriod"/>
            </a:pPr>
            <a:r>
              <a:rPr lang="en-US" sz="2400" dirty="0">
                <a:latin typeface="Times New Roman" panose="02020603050405020304" pitchFamily="18" charset="0"/>
                <a:cs typeface="Times New Roman" panose="02020603050405020304" pitchFamily="18" charset="0"/>
              </a:rPr>
              <a:t>Change the cluster center to the average of its assigned points.</a:t>
            </a:r>
          </a:p>
        </p:txBody>
      </p:sp>
      <p:sp>
        <p:nvSpPr>
          <p:cNvPr id="2" name="Slide Number Placeholder 1"/>
          <p:cNvSpPr>
            <a:spLocks noGrp="1"/>
          </p:cNvSpPr>
          <p:nvPr>
            <p:ph type="sldNum" sz="quarter" idx="12"/>
          </p:nvPr>
        </p:nvSpPr>
        <p:spPr/>
        <p:txBody>
          <a:bodyPr/>
          <a:lstStyle/>
          <a:p>
            <a:fld id="{76F96C40-0356-46F5-90E5-FF57DE76D9A0}" type="slidenum">
              <a:rPr lang="en-US" smtClean="0"/>
              <a:t>19</a:t>
            </a:fld>
            <a:endParaRPr lang="en-US" dirty="0"/>
          </a:p>
        </p:txBody>
      </p:sp>
      <p:pic>
        <p:nvPicPr>
          <p:cNvPr id="3" name="Clustering">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186615" y="1295400"/>
            <a:ext cx="5486400" cy="4114800"/>
          </a:xfrm>
          <a:prstGeom prst="rect">
            <a:avLst/>
          </a:prstGeom>
        </p:spPr>
      </p:pic>
    </p:spTree>
    <p:extLst>
      <p:ext uri="{BB962C8B-B14F-4D97-AF65-F5344CB8AC3E}">
        <p14:creationId xmlns:p14="http://schemas.microsoft.com/office/powerpoint/2010/main" val="185183842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mute="1">
                <p:cTn id="7" fill="hold" display="0">
                  <p:stCondLst>
                    <p:cond delay="indefinite"/>
                  </p:stCondLst>
                </p:cTn>
                <p:tgtEl>
                  <p:spTgt spid="3"/>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1683" name="Rectangle 3"/>
              <p:cNvSpPr>
                <a:spLocks noGrp="1" noChangeArrowheads="1"/>
              </p:cNvSpPr>
              <p:nvPr>
                <p:ph type="body" idx="4294967295"/>
              </p:nvPr>
            </p:nvSpPr>
            <p:spPr>
              <a:xfrm>
                <a:off x="228600" y="1371600"/>
                <a:ext cx="8686800" cy="5334000"/>
              </a:xfrm>
            </p:spPr>
            <p:txBody>
              <a:bodyPr>
                <a:normAutofit lnSpcReduction="10000"/>
              </a:bodyPr>
              <a:lstStyle/>
              <a:p>
                <a:r>
                  <a:rPr lang="en-US" altLang="en-US" sz="2000" dirty="0">
                    <a:latin typeface="Times New Roman" panose="02020603050405020304" pitchFamily="18" charset="0"/>
                    <a:cs typeface="Times New Roman" panose="02020603050405020304" pitchFamily="18" charset="0"/>
                  </a:rPr>
                  <a:t>Empirical method</a:t>
                </a:r>
              </a:p>
              <a:p>
                <a:pPr lvl="1"/>
                <a:r>
                  <a:rPr lang="en-US" altLang="en-US" sz="2000" dirty="0">
                    <a:latin typeface="Times New Roman" panose="02020603050405020304" pitchFamily="18" charset="0"/>
                    <a:cs typeface="Times New Roman" panose="02020603050405020304" pitchFamily="18" charset="0"/>
                  </a:rPr>
                  <a:t># of clusters ≈</a:t>
                </a:r>
                <a14:m>
                  <m:oMath xmlns:m="http://schemas.openxmlformats.org/officeDocument/2006/math">
                    <m:rad>
                      <m:radPr>
                        <m:degHide m:val="on"/>
                        <m:ctrlPr>
                          <a:rPr lang="en-US" altLang="en-US" sz="2000" i="1" smtClean="0">
                            <a:latin typeface="Cambria Math" panose="02040503050406030204" pitchFamily="18" charset="0"/>
                            <a:cs typeface="Times New Roman" panose="02020603050405020304" pitchFamily="18" charset="0"/>
                          </a:rPr>
                        </m:ctrlPr>
                      </m:radPr>
                      <m:deg/>
                      <m:e>
                        <m:r>
                          <a:rPr lang="en-US" altLang="en-US" sz="2000" b="0" i="1" smtClean="0">
                            <a:latin typeface="Cambria Math" panose="02040503050406030204" pitchFamily="18" charset="0"/>
                            <a:cs typeface="Times New Roman" panose="02020603050405020304" pitchFamily="18" charset="0"/>
                          </a:rPr>
                          <m:t>𝑛</m:t>
                        </m:r>
                      </m:e>
                    </m:rad>
                    <m:r>
                      <a:rPr lang="en-US" altLang="en-US" sz="2000" b="0" i="1" smtClean="0">
                        <a:latin typeface="Cambria Math" panose="02040503050406030204" pitchFamily="18" charset="0"/>
                        <a:cs typeface="Times New Roman" panose="02020603050405020304" pitchFamily="18" charset="0"/>
                      </a:rPr>
                      <m:t>/2</m:t>
                    </m:r>
                  </m:oMath>
                </a14:m>
                <a:r>
                  <a:rPr lang="en-US" altLang="en-US" sz="2000" dirty="0">
                    <a:latin typeface="Times New Roman" panose="02020603050405020304" pitchFamily="18" charset="0"/>
                    <a:cs typeface="Times New Roman" panose="02020603050405020304" pitchFamily="18" charset="0"/>
                  </a:rPr>
                  <a:t> for a dataset of n points</a:t>
                </a:r>
              </a:p>
              <a:p>
                <a:r>
                  <a:rPr lang="en-US" altLang="en-US" sz="2000" dirty="0">
                    <a:latin typeface="Times New Roman" panose="02020603050405020304" pitchFamily="18" charset="0"/>
                    <a:cs typeface="Times New Roman" panose="02020603050405020304" pitchFamily="18" charset="0"/>
                  </a:rPr>
                  <a:t>Elbow method</a:t>
                </a:r>
              </a:p>
              <a:p>
                <a:pPr lvl="1"/>
                <a:r>
                  <a:rPr lang="en-US" altLang="en-US" sz="2000" dirty="0">
                    <a:latin typeface="Times New Roman" panose="02020603050405020304" pitchFamily="18" charset="0"/>
                    <a:cs typeface="Times New Roman" panose="02020603050405020304" pitchFamily="18" charset="0"/>
                  </a:rPr>
                  <a:t>Use the turning point in the curve of sum of within cluster variance w.r.t  the # of clusters</a:t>
                </a:r>
              </a:p>
              <a:p>
                <a:r>
                  <a:rPr lang="en-US" altLang="en-US" sz="2000" dirty="0">
                    <a:latin typeface="Times New Roman" panose="02020603050405020304" pitchFamily="18" charset="0"/>
                    <a:cs typeface="Times New Roman" panose="02020603050405020304" pitchFamily="18" charset="0"/>
                  </a:rPr>
                  <a:t>Cross validation method</a:t>
                </a:r>
              </a:p>
              <a:p>
                <a:pPr lvl="1"/>
                <a:r>
                  <a:rPr lang="en-US" altLang="en-US" sz="2000" dirty="0">
                    <a:latin typeface="Times New Roman" panose="02020603050405020304" pitchFamily="18" charset="0"/>
                    <a:cs typeface="Times New Roman" panose="02020603050405020304" pitchFamily="18" charset="0"/>
                  </a:rPr>
                  <a:t>Divide a given data set into </a:t>
                </a:r>
                <a:r>
                  <a:rPr lang="en-US" altLang="en-US" sz="2000" i="1" dirty="0">
                    <a:latin typeface="Times New Roman" panose="02020603050405020304" pitchFamily="18" charset="0"/>
                    <a:cs typeface="Times New Roman" panose="02020603050405020304" pitchFamily="18" charset="0"/>
                  </a:rPr>
                  <a:t>m</a:t>
                </a:r>
                <a:r>
                  <a:rPr lang="en-US" altLang="en-US" sz="2000" dirty="0">
                    <a:latin typeface="Times New Roman" panose="02020603050405020304" pitchFamily="18" charset="0"/>
                    <a:cs typeface="Times New Roman" panose="02020603050405020304" pitchFamily="18" charset="0"/>
                  </a:rPr>
                  <a:t> parts</a:t>
                </a:r>
              </a:p>
              <a:p>
                <a:pPr lvl="1"/>
                <a:r>
                  <a:rPr lang="en-US" altLang="en-US" sz="2000" dirty="0">
                    <a:latin typeface="Times New Roman" panose="02020603050405020304" pitchFamily="18" charset="0"/>
                    <a:cs typeface="Times New Roman" panose="02020603050405020304" pitchFamily="18" charset="0"/>
                  </a:rPr>
                  <a:t>Use </a:t>
                </a:r>
                <a:r>
                  <a:rPr lang="en-US" altLang="en-US" sz="2000" i="1" dirty="0">
                    <a:latin typeface="Times New Roman" panose="02020603050405020304" pitchFamily="18" charset="0"/>
                    <a:cs typeface="Times New Roman" panose="02020603050405020304" pitchFamily="18" charset="0"/>
                  </a:rPr>
                  <a:t>m</a:t>
                </a:r>
                <a:r>
                  <a:rPr lang="en-US" altLang="en-US" sz="2000" dirty="0">
                    <a:latin typeface="Times New Roman" panose="02020603050405020304" pitchFamily="18" charset="0"/>
                    <a:cs typeface="Times New Roman" panose="02020603050405020304" pitchFamily="18" charset="0"/>
                  </a:rPr>
                  <a:t> – 1 parts to obtain a clustering model</a:t>
                </a:r>
              </a:p>
              <a:p>
                <a:pPr lvl="1"/>
                <a:r>
                  <a:rPr lang="en-US" altLang="en-US" sz="2000" dirty="0">
                    <a:latin typeface="Times New Roman" panose="02020603050405020304" pitchFamily="18" charset="0"/>
                    <a:cs typeface="Times New Roman" panose="02020603050405020304" pitchFamily="18" charset="0"/>
                  </a:rPr>
                  <a:t>Use the remaining part to test the quality of the clustering</a:t>
                </a:r>
              </a:p>
              <a:p>
                <a:pPr lvl="2"/>
                <a:r>
                  <a:rPr lang="en-US" altLang="en-US" sz="2000" dirty="0">
                    <a:latin typeface="Times New Roman" panose="02020603050405020304" pitchFamily="18" charset="0"/>
                    <a:cs typeface="Times New Roman" panose="02020603050405020304" pitchFamily="18" charset="0"/>
                  </a:rPr>
                  <a:t>E.g., For each point in the test set, find the closest centroid, and use the sum of squared distance between all points in the test set and the closest centroids to measure how well the model fits the test set</a:t>
                </a:r>
              </a:p>
              <a:p>
                <a:pPr lvl="1"/>
                <a:r>
                  <a:rPr lang="en-US" altLang="en-US" sz="2000" dirty="0">
                    <a:latin typeface="Times New Roman" panose="02020603050405020304" pitchFamily="18" charset="0"/>
                    <a:cs typeface="Times New Roman" panose="02020603050405020304" pitchFamily="18" charset="0"/>
                  </a:rPr>
                  <a:t>For any k &gt; 0, repeat it </a:t>
                </a:r>
                <a:r>
                  <a:rPr lang="en-US" altLang="en-US" sz="2000" i="1" dirty="0">
                    <a:latin typeface="Times New Roman" panose="02020603050405020304" pitchFamily="18" charset="0"/>
                    <a:cs typeface="Times New Roman" panose="02020603050405020304" pitchFamily="18" charset="0"/>
                  </a:rPr>
                  <a:t>m</a:t>
                </a:r>
                <a:r>
                  <a:rPr lang="en-US" altLang="en-US" sz="2000" dirty="0">
                    <a:latin typeface="Times New Roman" panose="02020603050405020304" pitchFamily="18" charset="0"/>
                    <a:cs typeface="Times New Roman" panose="02020603050405020304" pitchFamily="18" charset="0"/>
                  </a:rPr>
                  <a:t> times, compare the overall quality measure w.r.t. different </a:t>
                </a:r>
                <a:r>
                  <a:rPr lang="en-US" altLang="en-US" sz="2000" i="1" dirty="0">
                    <a:latin typeface="Times New Roman" panose="02020603050405020304" pitchFamily="18" charset="0"/>
                    <a:cs typeface="Times New Roman" panose="02020603050405020304" pitchFamily="18" charset="0"/>
                  </a:rPr>
                  <a:t>k’s</a:t>
                </a:r>
                <a:r>
                  <a:rPr lang="en-US" altLang="en-US" sz="2000" dirty="0">
                    <a:latin typeface="Times New Roman" panose="02020603050405020304" pitchFamily="18" charset="0"/>
                    <a:cs typeface="Times New Roman" panose="02020603050405020304" pitchFamily="18" charset="0"/>
                  </a:rPr>
                  <a:t>, and find # of clusters that fits the data the best</a:t>
                </a:r>
              </a:p>
            </p:txBody>
          </p:sp>
        </mc:Choice>
        <mc:Fallback xmlns="">
          <p:sp>
            <p:nvSpPr>
              <p:cNvPr id="71683" name="Rectangle 3"/>
              <p:cNvSpPr>
                <a:spLocks noGrp="1" noRot="1" noChangeAspect="1" noMove="1" noResize="1" noEditPoints="1" noAdjustHandles="1" noChangeArrowheads="1" noChangeShapeType="1" noTextEdit="1"/>
              </p:cNvSpPr>
              <p:nvPr>
                <p:ph type="body" idx="4294967295"/>
              </p:nvPr>
            </p:nvSpPr>
            <p:spPr>
              <a:xfrm>
                <a:off x="228600" y="1371600"/>
                <a:ext cx="8686800" cy="5334000"/>
              </a:xfrm>
              <a:blipFill>
                <a:blip r:embed="rId3"/>
                <a:stretch>
                  <a:fillRect l="-702" t="-1143" r="-1333"/>
                </a:stretch>
              </a:blipFill>
            </p:spPr>
            <p:txBody>
              <a:bodyPr/>
              <a:lstStyle/>
              <a:p>
                <a:r>
                  <a:rPr lang="en-US">
                    <a:noFill/>
                  </a:rPr>
                  <a:t> </a:t>
                </a:r>
              </a:p>
            </p:txBody>
          </p:sp>
        </mc:Fallback>
      </mc:AlternateContent>
      <p:sp>
        <p:nvSpPr>
          <p:cNvPr id="5" name="Title 1"/>
          <p:cNvSpPr txBox="1">
            <a:spLocks/>
          </p:cNvSpPr>
          <p:nvPr/>
        </p:nvSpPr>
        <p:spPr>
          <a:xfrm>
            <a:off x="1640401" y="124047"/>
            <a:ext cx="6589199" cy="1280890"/>
          </a:xfrm>
          <a:prstGeom prst="rect">
            <a:avLst/>
          </a:prstGeo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panose="02020603050405020304" pitchFamily="18" charset="0"/>
                <a:cs typeface="Times New Roman" panose="02020603050405020304" pitchFamily="18" charset="0"/>
              </a:rPr>
              <a:t>What is the best value of k?</a:t>
            </a:r>
          </a:p>
        </p:txBody>
      </p:sp>
      <p:sp>
        <p:nvSpPr>
          <p:cNvPr id="6" name="Slide Number Placeholder 1"/>
          <p:cNvSpPr>
            <a:spLocks noGrp="1"/>
          </p:cNvSpPr>
          <p:nvPr>
            <p:ph type="sldNum" sz="quarter" idx="12"/>
          </p:nvPr>
        </p:nvSpPr>
        <p:spPr>
          <a:xfrm>
            <a:off x="511228" y="787783"/>
            <a:ext cx="584978" cy="365125"/>
          </a:xfrm>
        </p:spPr>
        <p:txBody>
          <a:bodyPr/>
          <a:lstStyle/>
          <a:p>
            <a:fld id="{76F96C40-0356-46F5-90E5-FF57DE76D9A0}" type="slidenum">
              <a:rPr lang="en-US" smtClean="0"/>
              <a:t>20</a:t>
            </a:fld>
            <a:endParaRPr lang="en-US" dirty="0"/>
          </a:p>
        </p:txBody>
      </p:sp>
    </p:spTree>
    <p:extLst>
      <p:ext uri="{BB962C8B-B14F-4D97-AF65-F5344CB8AC3E}">
        <p14:creationId xmlns:p14="http://schemas.microsoft.com/office/powerpoint/2010/main" val="913898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152908"/>
            <a:ext cx="4267200"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2"/>
          </p:nvPr>
        </p:nvSpPr>
        <p:spPr/>
        <p:txBody>
          <a:bodyPr/>
          <a:lstStyle/>
          <a:p>
            <a:fld id="{76F96C40-0356-46F5-90E5-FF57DE76D9A0}" type="slidenum">
              <a:rPr lang="en-US" smtClean="0"/>
              <a:t>21</a:t>
            </a:fld>
            <a:endParaRPr lang="en-US"/>
          </a:p>
        </p:txBody>
      </p:sp>
      <p:sp>
        <p:nvSpPr>
          <p:cNvPr id="44" name="Title 1"/>
          <p:cNvSpPr txBox="1">
            <a:spLocks/>
          </p:cNvSpPr>
          <p:nvPr/>
        </p:nvSpPr>
        <p:spPr>
          <a:xfrm>
            <a:off x="1676400" y="319310"/>
            <a:ext cx="6589199" cy="1280890"/>
          </a:xfrm>
          <a:prstGeom prst="rect">
            <a:avLst/>
          </a:prstGeo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panose="02020603050405020304" pitchFamily="18" charset="0"/>
                <a:cs typeface="Times New Roman" panose="02020603050405020304" pitchFamily="18" charset="0"/>
              </a:rPr>
              <a:t>Elbow method</a:t>
            </a:r>
          </a:p>
        </p:txBody>
      </p:sp>
      <p:sp>
        <p:nvSpPr>
          <p:cNvPr id="2" name="Rectangle 1"/>
          <p:cNvSpPr/>
          <p:nvPr/>
        </p:nvSpPr>
        <p:spPr>
          <a:xfrm>
            <a:off x="609600" y="4572841"/>
            <a:ext cx="8111683" cy="1015663"/>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The Elbow method is a method of interpretation and validation of consistency within cluster analysis designed to help finding the appropriate number of clusters in a dataset.</a:t>
            </a:r>
          </a:p>
        </p:txBody>
      </p:sp>
    </p:spTree>
    <p:extLst>
      <p:ext uri="{BB962C8B-B14F-4D97-AF65-F5344CB8AC3E}">
        <p14:creationId xmlns:p14="http://schemas.microsoft.com/office/powerpoint/2010/main" val="299488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1066800"/>
          </a:xfrm>
        </p:spPr>
        <p:txBody>
          <a:bodyPr/>
          <a:lstStyle/>
          <a:p>
            <a:r>
              <a:rPr lang="en-US" dirty="0">
                <a:latin typeface="Times New Roman" panose="02020603050405020304" pitchFamily="18" charset="0"/>
                <a:cs typeface="Times New Roman" panose="02020603050405020304" pitchFamily="18" charset="0"/>
              </a:rPr>
              <a:t>Iris dataset</a:t>
            </a:r>
          </a:p>
        </p:txBody>
      </p:sp>
      <p:sp>
        <p:nvSpPr>
          <p:cNvPr id="2" name="Slide Number Placeholder 1"/>
          <p:cNvSpPr>
            <a:spLocks noGrp="1"/>
          </p:cNvSpPr>
          <p:nvPr>
            <p:ph type="sldNum" sz="quarter" idx="12"/>
          </p:nvPr>
        </p:nvSpPr>
        <p:spPr/>
        <p:txBody>
          <a:bodyPr/>
          <a:lstStyle/>
          <a:p>
            <a:fld id="{76F96C40-0356-46F5-90E5-FF57DE76D9A0}" type="slidenum">
              <a:rPr lang="en-US" smtClean="0"/>
              <a:t>22</a:t>
            </a:fld>
            <a:endParaRPr lang="en-US"/>
          </a:p>
        </p:txBody>
      </p:sp>
      <p:pic>
        <p:nvPicPr>
          <p:cNvPr id="3" name="Picture 2"/>
          <p:cNvPicPr>
            <a:picLocks noChangeAspect="1"/>
          </p:cNvPicPr>
          <p:nvPr/>
        </p:nvPicPr>
        <p:blipFill>
          <a:blip r:embed="rId2"/>
          <a:stretch>
            <a:fillRect/>
          </a:stretch>
        </p:blipFill>
        <p:spPr>
          <a:xfrm>
            <a:off x="2943225" y="1647825"/>
            <a:ext cx="3257550" cy="3562350"/>
          </a:xfrm>
          <a:prstGeom prst="rect">
            <a:avLst/>
          </a:prstGeom>
        </p:spPr>
      </p:pic>
    </p:spTree>
    <p:extLst>
      <p:ext uri="{BB962C8B-B14F-4D97-AF65-F5344CB8AC3E}">
        <p14:creationId xmlns:p14="http://schemas.microsoft.com/office/powerpoint/2010/main" val="3934586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1066800"/>
          </a:xfrm>
        </p:spPr>
        <p:txBody>
          <a:bodyPr/>
          <a:lstStyle/>
          <a:p>
            <a:r>
              <a:rPr lang="en-US" dirty="0">
                <a:latin typeface="Times New Roman" panose="02020603050405020304" pitchFamily="18" charset="0"/>
                <a:cs typeface="Times New Roman" panose="02020603050405020304" pitchFamily="18" charset="0"/>
              </a:rPr>
              <a:t>Iris dataset</a:t>
            </a:r>
          </a:p>
        </p:txBody>
      </p:sp>
      <p:sp>
        <p:nvSpPr>
          <p:cNvPr id="2" name="Slide Number Placeholder 1"/>
          <p:cNvSpPr>
            <a:spLocks noGrp="1"/>
          </p:cNvSpPr>
          <p:nvPr>
            <p:ph type="sldNum" sz="quarter" idx="12"/>
          </p:nvPr>
        </p:nvSpPr>
        <p:spPr/>
        <p:txBody>
          <a:bodyPr/>
          <a:lstStyle/>
          <a:p>
            <a:fld id="{76F96C40-0356-46F5-90E5-FF57DE76D9A0}" type="slidenum">
              <a:rPr lang="en-US" smtClean="0"/>
              <a:t>23</a:t>
            </a:fld>
            <a:endParaRPr lang="en-US"/>
          </a:p>
        </p:txBody>
      </p:sp>
      <p:sp>
        <p:nvSpPr>
          <p:cNvPr id="5" name="Rectangle 4"/>
          <p:cNvSpPr/>
          <p:nvPr/>
        </p:nvSpPr>
        <p:spPr>
          <a:xfrm>
            <a:off x="685800" y="1447800"/>
            <a:ext cx="8001000" cy="2031325"/>
          </a:xfrm>
          <a:prstGeom prst="rect">
            <a:avLst/>
          </a:prstGeom>
        </p:spPr>
        <p:txBody>
          <a:bodyPr wrap="square">
            <a:spAutoFit/>
          </a:bodyPr>
          <a:lstStyle/>
          <a:p>
            <a:r>
              <a:rPr lang="en-US" dirty="0">
                <a:solidFill>
                  <a:srgbClr val="000000"/>
                </a:solidFill>
                <a:latin typeface="Courier New" panose="02070309020205020404" pitchFamily="49" charset="0"/>
              </a:rPr>
              <a:t>iris </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datasets</a:t>
            </a:r>
            <a:r>
              <a:rPr lang="en-US" b="1" dirty="0" err="1">
                <a:solidFill>
                  <a:srgbClr val="000080"/>
                </a:solidFill>
                <a:latin typeface="Courier New" panose="02070309020205020404" pitchFamily="49" charset="0"/>
              </a:rPr>
              <a:t>.</a:t>
            </a:r>
            <a:r>
              <a:rPr lang="en-US" dirty="0" err="1">
                <a:solidFill>
                  <a:srgbClr val="000000"/>
                </a:solidFill>
                <a:latin typeface="Courier New" panose="02070309020205020404" pitchFamily="49" charset="0"/>
              </a:rPr>
              <a:t>load_iris</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 </a:t>
            </a:r>
          </a:p>
          <a:p>
            <a:r>
              <a:rPr lang="en-US" dirty="0">
                <a:solidFill>
                  <a:srgbClr val="000000"/>
                </a:solidFill>
                <a:latin typeface="Courier New" panose="02070309020205020404" pitchFamily="49" charset="0"/>
              </a:rPr>
              <a:t>X </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iris</a:t>
            </a:r>
            <a:r>
              <a:rPr lang="en-US" b="1" dirty="0" err="1">
                <a:solidFill>
                  <a:srgbClr val="000080"/>
                </a:solidFill>
                <a:latin typeface="Courier New" panose="02070309020205020404" pitchFamily="49" charset="0"/>
              </a:rPr>
              <a:t>.</a:t>
            </a:r>
            <a:r>
              <a:rPr lang="en-US" dirty="0" err="1">
                <a:solidFill>
                  <a:srgbClr val="000000"/>
                </a:solidFill>
                <a:latin typeface="Courier New" panose="02070309020205020404" pitchFamily="49" charset="0"/>
              </a:rPr>
              <a:t>data</a:t>
            </a:r>
            <a:r>
              <a:rPr lang="en-US" dirty="0">
                <a:solidFill>
                  <a:srgbClr val="000000"/>
                </a:solidFill>
                <a:latin typeface="Courier New" panose="02070309020205020404" pitchFamily="49" charset="0"/>
              </a:rPr>
              <a:t> </a:t>
            </a:r>
            <a:r>
              <a:rPr lang="en-US" dirty="0">
                <a:solidFill>
                  <a:srgbClr val="008000"/>
                </a:solidFill>
                <a:latin typeface="Courier New" panose="02070309020205020404" pitchFamily="49" charset="0"/>
              </a:rPr>
              <a:t># Sepal and pedal </a:t>
            </a:r>
            <a:r>
              <a:rPr lang="en-US" dirty="0" err="1">
                <a:solidFill>
                  <a:srgbClr val="008000"/>
                </a:solidFill>
                <a:latin typeface="Courier New" panose="02070309020205020404" pitchFamily="49" charset="0"/>
              </a:rPr>
              <a:t>negth</a:t>
            </a:r>
            <a:r>
              <a:rPr lang="en-US" dirty="0">
                <a:solidFill>
                  <a:srgbClr val="008000"/>
                </a:solidFill>
                <a:latin typeface="Courier New" panose="02070309020205020404" pitchFamily="49" charset="0"/>
              </a:rPr>
              <a:t> and width</a:t>
            </a:r>
            <a:r>
              <a:rPr lang="en-US" dirty="0">
                <a:solidFill>
                  <a:srgbClr val="000000"/>
                </a:solidFill>
                <a:latin typeface="Courier New" panose="02070309020205020404" pitchFamily="49" charset="0"/>
              </a:rPr>
              <a:t> </a:t>
            </a:r>
          </a:p>
          <a:p>
            <a:r>
              <a:rPr lang="en-US" dirty="0">
                <a:solidFill>
                  <a:srgbClr val="000000"/>
                </a:solidFill>
                <a:latin typeface="Courier New" panose="02070309020205020404" pitchFamily="49" charset="0"/>
              </a:rPr>
              <a:t>y </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iris</a:t>
            </a:r>
            <a:r>
              <a:rPr lang="en-US" b="1" dirty="0" err="1">
                <a:solidFill>
                  <a:srgbClr val="000080"/>
                </a:solidFill>
                <a:latin typeface="Courier New" panose="02070309020205020404" pitchFamily="49" charset="0"/>
              </a:rPr>
              <a:t>.</a:t>
            </a:r>
            <a:r>
              <a:rPr lang="en-US" dirty="0" err="1">
                <a:solidFill>
                  <a:srgbClr val="000000"/>
                </a:solidFill>
                <a:latin typeface="Courier New" panose="02070309020205020404" pitchFamily="49" charset="0"/>
              </a:rPr>
              <a:t>target</a:t>
            </a:r>
            <a:r>
              <a:rPr lang="en-US" dirty="0">
                <a:solidFill>
                  <a:srgbClr val="000000"/>
                </a:solidFill>
                <a:latin typeface="Courier New" panose="02070309020205020404" pitchFamily="49" charset="0"/>
              </a:rPr>
              <a:t> </a:t>
            </a:r>
          </a:p>
          <a:p>
            <a:r>
              <a:rPr lang="en-US" b="1" dirty="0">
                <a:solidFill>
                  <a:srgbClr val="0000FF"/>
                </a:solidFill>
                <a:latin typeface="Courier New" panose="02070309020205020404" pitchFamily="49" charset="0"/>
              </a:rPr>
              <a:t>from</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sklearn</a:t>
            </a:r>
            <a:r>
              <a:rPr lang="en-US" b="1" dirty="0" err="1">
                <a:solidFill>
                  <a:srgbClr val="000080"/>
                </a:solidFill>
                <a:latin typeface="Courier New" panose="02070309020205020404" pitchFamily="49" charset="0"/>
              </a:rPr>
              <a:t>.</a:t>
            </a:r>
            <a:r>
              <a:rPr lang="en-US" dirty="0" err="1">
                <a:solidFill>
                  <a:srgbClr val="000000"/>
                </a:solidFill>
                <a:latin typeface="Courier New" panose="02070309020205020404" pitchFamily="49" charset="0"/>
              </a:rPr>
              <a:t>cluster</a:t>
            </a:r>
            <a:r>
              <a:rPr lang="en-US" dirty="0">
                <a:solidFill>
                  <a:srgbClr val="000000"/>
                </a:solidFill>
                <a:latin typeface="Courier New" panose="02070309020205020404" pitchFamily="49" charset="0"/>
              </a:rPr>
              <a:t> </a:t>
            </a:r>
            <a:r>
              <a:rPr lang="en-US" b="1" dirty="0">
                <a:solidFill>
                  <a:srgbClr val="0000FF"/>
                </a:solidFill>
                <a:latin typeface="Courier New" panose="02070309020205020404" pitchFamily="49" charset="0"/>
              </a:rPr>
              <a:t>import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KMeans</a:t>
            </a:r>
            <a:r>
              <a:rPr lang="en-US" dirty="0">
                <a:solidFill>
                  <a:srgbClr val="000000"/>
                </a:solidFill>
                <a:latin typeface="Courier New" panose="02070309020205020404" pitchFamily="49" charset="0"/>
              </a:rPr>
              <a:t> </a:t>
            </a:r>
          </a:p>
          <a:p>
            <a:r>
              <a:rPr lang="en-US" dirty="0">
                <a:solidFill>
                  <a:srgbClr val="000000"/>
                </a:solidFill>
                <a:latin typeface="Courier New" panose="02070309020205020404" pitchFamily="49" charset="0"/>
              </a:rPr>
              <a:t>km </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KMeans</a:t>
            </a:r>
            <a:r>
              <a:rPr lang="en-US" b="1" dirty="0">
                <a:solidFill>
                  <a:srgbClr val="000080"/>
                </a:solidFill>
                <a:latin typeface="Courier New" panose="02070309020205020404" pitchFamily="49" charset="0"/>
              </a:rPr>
              <a:t>(</a:t>
            </a:r>
            <a:r>
              <a:rPr lang="en-US" dirty="0" err="1">
                <a:solidFill>
                  <a:srgbClr val="000000"/>
                </a:solidFill>
                <a:latin typeface="Courier New" panose="02070309020205020404" pitchFamily="49" charset="0"/>
              </a:rPr>
              <a:t>n_clusters</a:t>
            </a:r>
            <a:r>
              <a:rPr lang="en-US" dirty="0">
                <a:solidFill>
                  <a:srgbClr val="000000"/>
                </a:solidFill>
                <a:latin typeface="Courier New" panose="02070309020205020404" pitchFamily="49" charset="0"/>
              </a:rPr>
              <a:t> </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 </a:t>
            </a:r>
            <a:r>
              <a:rPr lang="en-US" dirty="0">
                <a:solidFill>
                  <a:srgbClr val="FF0000"/>
                </a:solidFill>
                <a:latin typeface="Courier New" panose="02070309020205020404" pitchFamily="49" charset="0"/>
              </a:rPr>
              <a:t>3</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n_jobs</a:t>
            </a:r>
            <a:r>
              <a:rPr lang="en-US" dirty="0">
                <a:solidFill>
                  <a:srgbClr val="000000"/>
                </a:solidFill>
                <a:latin typeface="Courier New" panose="02070309020205020404" pitchFamily="49" charset="0"/>
              </a:rPr>
              <a:t> </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 </a:t>
            </a:r>
            <a:r>
              <a:rPr lang="en-US" dirty="0">
                <a:solidFill>
                  <a:srgbClr val="FF0000"/>
                </a:solidFill>
                <a:latin typeface="Courier New" panose="02070309020205020404" pitchFamily="49" charset="0"/>
              </a:rPr>
              <a:t>4</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random_state</a:t>
            </a:r>
            <a:r>
              <a:rPr lang="en-US" b="1" dirty="0">
                <a:solidFill>
                  <a:srgbClr val="000080"/>
                </a:solidFill>
                <a:latin typeface="Courier New" panose="02070309020205020404" pitchFamily="49" charset="0"/>
              </a:rPr>
              <a:t>=</a:t>
            </a:r>
            <a:r>
              <a:rPr lang="en-US" dirty="0">
                <a:solidFill>
                  <a:srgbClr val="FF0000"/>
                </a:solidFill>
                <a:latin typeface="Courier New" panose="02070309020205020404" pitchFamily="49" charset="0"/>
              </a:rPr>
              <a:t>21</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 </a:t>
            </a:r>
          </a:p>
          <a:p>
            <a:r>
              <a:rPr lang="en-US" dirty="0" err="1">
                <a:solidFill>
                  <a:srgbClr val="000000"/>
                </a:solidFill>
                <a:latin typeface="Courier New" panose="02070309020205020404" pitchFamily="49" charset="0"/>
              </a:rPr>
              <a:t>km</a:t>
            </a:r>
            <a:r>
              <a:rPr lang="en-US" b="1" dirty="0" err="1">
                <a:solidFill>
                  <a:srgbClr val="000080"/>
                </a:solidFill>
                <a:latin typeface="Courier New" panose="02070309020205020404" pitchFamily="49" charset="0"/>
              </a:rPr>
              <a:t>.</a:t>
            </a:r>
            <a:r>
              <a:rPr lang="en-US" dirty="0" err="1">
                <a:solidFill>
                  <a:srgbClr val="000000"/>
                </a:solidFill>
                <a:latin typeface="Courier New" panose="02070309020205020404" pitchFamily="49" charset="0"/>
              </a:rPr>
              <a:t>fit</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X</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 </a:t>
            </a:r>
          </a:p>
          <a:p>
            <a:endParaRPr lang="en-US" b="1" dirty="0">
              <a:solidFill>
                <a:srgbClr val="000000"/>
              </a:solidFill>
              <a:latin typeface="Courier New" panose="02070309020205020404" pitchFamily="49" charset="0"/>
            </a:endParaRPr>
          </a:p>
        </p:txBody>
      </p:sp>
      <p:sp>
        <p:nvSpPr>
          <p:cNvPr id="6" name="Rectangle 5"/>
          <p:cNvSpPr/>
          <p:nvPr/>
        </p:nvSpPr>
        <p:spPr>
          <a:xfrm>
            <a:off x="798954" y="3968018"/>
            <a:ext cx="8001000" cy="923330"/>
          </a:xfrm>
          <a:prstGeom prst="rect">
            <a:avLst/>
          </a:prstGeom>
        </p:spPr>
        <p:txBody>
          <a:bodyPr wrap="square">
            <a:spAutoFit/>
          </a:bodyPr>
          <a:lstStyle/>
          <a:p>
            <a:endParaRPr lang="en-US" b="1" dirty="0">
              <a:solidFill>
                <a:srgbClr val="000000"/>
              </a:solidFill>
              <a:latin typeface="Courier New" panose="02070309020205020404" pitchFamily="49" charset="0"/>
            </a:endParaRPr>
          </a:p>
          <a:p>
            <a:r>
              <a:rPr lang="en-US" dirty="0">
                <a:solidFill>
                  <a:srgbClr val="000000"/>
                </a:solidFill>
                <a:latin typeface="Courier New" panose="02070309020205020404" pitchFamily="49" charset="0"/>
              </a:rPr>
              <a:t>centers </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km</a:t>
            </a:r>
            <a:r>
              <a:rPr lang="en-US" b="1" dirty="0" err="1">
                <a:solidFill>
                  <a:srgbClr val="000080"/>
                </a:solidFill>
                <a:latin typeface="Courier New" panose="02070309020205020404" pitchFamily="49" charset="0"/>
              </a:rPr>
              <a:t>.</a:t>
            </a:r>
            <a:r>
              <a:rPr lang="en-US" dirty="0" err="1">
                <a:solidFill>
                  <a:srgbClr val="000000"/>
                </a:solidFill>
                <a:latin typeface="Courier New" panose="02070309020205020404" pitchFamily="49" charset="0"/>
              </a:rPr>
              <a:t>cluster_centers</a:t>
            </a:r>
            <a:r>
              <a:rPr lang="en-US" dirty="0">
                <a:solidFill>
                  <a:srgbClr val="000000"/>
                </a:solidFill>
                <a:latin typeface="Courier New" panose="02070309020205020404" pitchFamily="49" charset="0"/>
              </a:rPr>
              <a:t>_ </a:t>
            </a:r>
          </a:p>
          <a:p>
            <a:r>
              <a:rPr lang="en-US" b="1" dirty="0">
                <a:solidFill>
                  <a:srgbClr val="0000FF"/>
                </a:solidFill>
                <a:latin typeface="Courier New" panose="02070309020205020404" pitchFamily="49" charset="0"/>
              </a:rPr>
              <a:t>print</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centers</a:t>
            </a:r>
            <a:r>
              <a:rPr lang="en-US" b="1" dirty="0">
                <a:solidFill>
                  <a:srgbClr val="000080"/>
                </a:solidFill>
                <a:latin typeface="Courier New" panose="02070309020205020404" pitchFamily="49" charset="0"/>
              </a:rPr>
              <a:t>)</a:t>
            </a:r>
            <a:endParaRPr lang="en-US" dirty="0">
              <a:effectLst/>
            </a:endParaRPr>
          </a:p>
        </p:txBody>
      </p:sp>
      <p:sp>
        <p:nvSpPr>
          <p:cNvPr id="7" name="Rectangle 3"/>
          <p:cNvSpPr txBox="1">
            <a:spLocks noChangeArrowheads="1"/>
          </p:cNvSpPr>
          <p:nvPr/>
        </p:nvSpPr>
        <p:spPr>
          <a:xfrm>
            <a:off x="685800" y="3503320"/>
            <a:ext cx="8686800" cy="41669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altLang="en-US" sz="2000" dirty="0">
                <a:latin typeface="Times New Roman" panose="02020603050405020304" pitchFamily="18" charset="0"/>
                <a:cs typeface="Times New Roman" panose="02020603050405020304" pitchFamily="18" charset="0"/>
              </a:rPr>
              <a:t>We can see the centers</a:t>
            </a:r>
          </a:p>
        </p:txBody>
      </p:sp>
      <p:pic>
        <p:nvPicPr>
          <p:cNvPr id="9" name="Picture 8"/>
          <p:cNvPicPr>
            <a:picLocks noChangeAspect="1"/>
          </p:cNvPicPr>
          <p:nvPr/>
        </p:nvPicPr>
        <p:blipFill>
          <a:blip r:embed="rId2"/>
          <a:stretch>
            <a:fillRect/>
          </a:stretch>
        </p:blipFill>
        <p:spPr>
          <a:xfrm>
            <a:off x="990600" y="5289731"/>
            <a:ext cx="5772150" cy="914400"/>
          </a:xfrm>
          <a:prstGeom prst="rect">
            <a:avLst/>
          </a:prstGeom>
        </p:spPr>
      </p:pic>
    </p:spTree>
    <p:extLst>
      <p:ext uri="{BB962C8B-B14F-4D97-AF65-F5344CB8AC3E}">
        <p14:creationId xmlns:p14="http://schemas.microsoft.com/office/powerpoint/2010/main" val="1638715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1066800"/>
          </a:xfrm>
        </p:spPr>
        <p:txBody>
          <a:bodyPr/>
          <a:lstStyle/>
          <a:p>
            <a:r>
              <a:rPr lang="en-US" dirty="0">
                <a:latin typeface="Times New Roman" panose="02020603050405020304" pitchFamily="18" charset="0"/>
                <a:cs typeface="Times New Roman" panose="02020603050405020304" pitchFamily="18" charset="0"/>
              </a:rPr>
              <a:t>Graphical representation</a:t>
            </a:r>
          </a:p>
        </p:txBody>
      </p:sp>
      <p:sp>
        <p:nvSpPr>
          <p:cNvPr id="2" name="Slide Number Placeholder 1"/>
          <p:cNvSpPr>
            <a:spLocks noGrp="1"/>
          </p:cNvSpPr>
          <p:nvPr>
            <p:ph type="sldNum" sz="quarter" idx="12"/>
          </p:nvPr>
        </p:nvSpPr>
        <p:spPr/>
        <p:txBody>
          <a:bodyPr/>
          <a:lstStyle/>
          <a:p>
            <a:fld id="{76F96C40-0356-46F5-90E5-FF57DE76D9A0}" type="slidenum">
              <a:rPr lang="en-US" smtClean="0"/>
              <a:t>24</a:t>
            </a:fld>
            <a:endParaRPr lang="en-US"/>
          </a:p>
        </p:txBody>
      </p:sp>
      <p:sp>
        <p:nvSpPr>
          <p:cNvPr id="7" name="Rectangle 3"/>
          <p:cNvSpPr txBox="1">
            <a:spLocks noChangeArrowheads="1"/>
          </p:cNvSpPr>
          <p:nvPr/>
        </p:nvSpPr>
        <p:spPr>
          <a:xfrm>
            <a:off x="685800" y="1371600"/>
            <a:ext cx="8686800" cy="41669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altLang="en-US" sz="2000" dirty="0">
                <a:latin typeface="Times New Roman" panose="02020603050405020304" pitchFamily="18" charset="0"/>
                <a:cs typeface="Times New Roman" panose="02020603050405020304" pitchFamily="18" charset="0"/>
              </a:rPr>
              <a:t>Graphical interpretation</a:t>
            </a:r>
          </a:p>
        </p:txBody>
      </p:sp>
      <p:sp>
        <p:nvSpPr>
          <p:cNvPr id="3" name="Rectangle 2"/>
          <p:cNvSpPr/>
          <p:nvPr/>
        </p:nvSpPr>
        <p:spPr>
          <a:xfrm>
            <a:off x="541708" y="1940691"/>
            <a:ext cx="8620580" cy="3323987"/>
          </a:xfrm>
          <a:prstGeom prst="rect">
            <a:avLst/>
          </a:prstGeom>
        </p:spPr>
        <p:txBody>
          <a:bodyPr wrap="square">
            <a:spAutoFit/>
          </a:bodyPr>
          <a:lstStyle/>
          <a:p>
            <a:r>
              <a:rPr lang="en-US" sz="1400" b="1" dirty="0">
                <a:solidFill>
                  <a:srgbClr val="0000FF"/>
                </a:solidFill>
                <a:latin typeface="Courier New" panose="02070309020205020404" pitchFamily="49" charset="0"/>
              </a:rPr>
              <a:t>import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matplotlib</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pyplot</a:t>
            </a:r>
            <a:r>
              <a:rPr lang="en-US" sz="1400" dirty="0">
                <a:solidFill>
                  <a:srgbClr val="000000"/>
                </a:solidFill>
                <a:latin typeface="Courier New" panose="02070309020205020404" pitchFamily="49" charset="0"/>
              </a:rPr>
              <a:t> </a:t>
            </a:r>
            <a:r>
              <a:rPr lang="en-US" sz="1400" b="1" dirty="0">
                <a:solidFill>
                  <a:srgbClr val="0000FF"/>
                </a:solidFill>
                <a:latin typeface="Courier New" panose="02070309020205020404" pitchFamily="49" charset="0"/>
              </a:rPr>
              <a:t>as</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plt</a:t>
            </a:r>
            <a:endParaRPr lang="en-US" sz="1400" dirty="0">
              <a:solidFill>
                <a:srgbClr val="000000"/>
              </a:solidFill>
              <a:latin typeface="Courier New" panose="02070309020205020404" pitchFamily="49" charset="0"/>
            </a:endParaRPr>
          </a:p>
          <a:p>
            <a:r>
              <a:rPr lang="en-US" sz="1400" dirty="0" err="1">
                <a:solidFill>
                  <a:srgbClr val="000000"/>
                </a:solidFill>
                <a:latin typeface="Courier New" panose="02070309020205020404" pitchFamily="49" charset="0"/>
              </a:rPr>
              <a:t>new_labels</a:t>
            </a:r>
            <a:r>
              <a:rPr lang="en-US" sz="1400" dirty="0">
                <a:solidFill>
                  <a:srgbClr val="000000"/>
                </a:solidFill>
                <a:latin typeface="Courier New" panose="02070309020205020404" pitchFamily="49" charset="0"/>
              </a:rPr>
              <a:t> </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km</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labels</a:t>
            </a:r>
            <a:r>
              <a:rPr lang="en-US" sz="1400" dirty="0">
                <a:solidFill>
                  <a:srgbClr val="000000"/>
                </a:solidFill>
                <a:latin typeface="Courier New" panose="02070309020205020404" pitchFamily="49" charset="0"/>
              </a:rPr>
              <a:t>_ </a:t>
            </a:r>
          </a:p>
          <a:p>
            <a:r>
              <a:rPr lang="en-US" sz="1400" dirty="0">
                <a:solidFill>
                  <a:srgbClr val="000000"/>
                </a:solidFill>
                <a:latin typeface="Courier New" panose="02070309020205020404" pitchFamily="49" charset="0"/>
              </a:rPr>
              <a:t>fig</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axes </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plt</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subplots</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a:solidFill>
                  <a:srgbClr val="FF0000"/>
                </a:solidFill>
                <a:latin typeface="Courier New" panose="02070309020205020404" pitchFamily="49" charset="0"/>
              </a:rPr>
              <a:t>2</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figsize</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16</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8</a:t>
            </a:r>
            <a:r>
              <a:rPr lang="en-US" sz="1400" b="1" dirty="0">
                <a:solidFill>
                  <a:srgbClr val="000080"/>
                </a:solidFill>
                <a:latin typeface="Courier New" panose="02070309020205020404" pitchFamily="49" charset="0"/>
              </a:rPr>
              <a:t>))</a:t>
            </a:r>
          </a:p>
          <a:p>
            <a:r>
              <a:rPr lang="en-US" sz="1400" dirty="0">
                <a:solidFill>
                  <a:srgbClr val="000000"/>
                </a:solidFill>
                <a:latin typeface="Courier New" panose="02070309020205020404" pitchFamily="49" charset="0"/>
              </a:rPr>
              <a:t>axes</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0</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scatter</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X</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0</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X</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c</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y</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cmap</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a:t>
            </a:r>
            <a:r>
              <a:rPr lang="en-US" sz="1400" dirty="0" err="1">
                <a:solidFill>
                  <a:srgbClr val="808080"/>
                </a:solidFill>
                <a:latin typeface="Courier New" panose="02070309020205020404" pitchFamily="49" charset="0"/>
              </a:rPr>
              <a:t>gist_rainbow</a:t>
            </a:r>
            <a:r>
              <a:rPr lang="en-US" sz="1400" dirty="0">
                <a:solidFill>
                  <a:srgbClr val="808080"/>
                </a:solidFill>
                <a:latin typeface="Courier New" panose="02070309020205020404" pitchFamily="49" charset="0"/>
              </a:rPr>
              <a:t>'</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edgecolor</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'k'</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s</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150</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a:solidFill>
                  <a:srgbClr val="000000"/>
                </a:solidFill>
                <a:latin typeface="Courier New" panose="02070309020205020404" pitchFamily="49" charset="0"/>
              </a:rPr>
              <a:t>axes</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scatter</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X</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0</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X</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c</a:t>
            </a:r>
            <a:r>
              <a:rPr lang="en-US" sz="1400" b="1" dirty="0">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new_labels</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cmap</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'jet'</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edgecolor</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'k'</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s</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150</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a:solidFill>
                  <a:srgbClr val="000000"/>
                </a:solidFill>
                <a:latin typeface="Courier New" panose="02070309020205020404" pitchFamily="49" charset="0"/>
              </a:rPr>
              <a:t>axes</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0</a:t>
            </a:r>
            <a:r>
              <a:rPr lang="en-US" sz="1400" b="1" dirty="0">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set_xlabel</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'Sepal length'</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fontsize</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18</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a:solidFill>
                  <a:srgbClr val="000000"/>
                </a:solidFill>
                <a:latin typeface="Courier New" panose="02070309020205020404" pitchFamily="49" charset="0"/>
              </a:rPr>
              <a:t>axes</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0</a:t>
            </a:r>
            <a:r>
              <a:rPr lang="en-US" sz="1400" b="1" dirty="0">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set_ylabel</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'Sepal width'</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fontsize</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18</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a:solidFill>
                  <a:srgbClr val="000000"/>
                </a:solidFill>
                <a:latin typeface="Courier New" panose="02070309020205020404" pitchFamily="49" charset="0"/>
              </a:rPr>
              <a:t>axes</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a:t>
            </a:r>
            <a:r>
              <a:rPr lang="en-US" sz="1400" b="1" dirty="0">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set_xlabel</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'Sepal length'</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fontsize</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18</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a:solidFill>
                  <a:srgbClr val="000000"/>
                </a:solidFill>
                <a:latin typeface="Courier New" panose="02070309020205020404" pitchFamily="49" charset="0"/>
              </a:rPr>
              <a:t>axes</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a:t>
            </a:r>
            <a:r>
              <a:rPr lang="en-US" sz="1400" b="1" dirty="0">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set_ylabel</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'Sepal width'</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fontsize</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18</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a:solidFill>
                  <a:srgbClr val="000000"/>
                </a:solidFill>
                <a:latin typeface="Courier New" panose="02070309020205020404" pitchFamily="49" charset="0"/>
              </a:rPr>
              <a:t>axes</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0</a:t>
            </a:r>
            <a:r>
              <a:rPr lang="en-US" sz="1400" b="1" dirty="0">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tick_params</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direction</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'in'</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length</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10</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width</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5</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colors</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'k'</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labelsize</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20</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a:solidFill>
                  <a:srgbClr val="000000"/>
                </a:solidFill>
                <a:latin typeface="Courier New" panose="02070309020205020404" pitchFamily="49" charset="0"/>
              </a:rPr>
              <a:t>axes</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a:t>
            </a:r>
            <a:r>
              <a:rPr lang="en-US" sz="1400" b="1" dirty="0">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tick_params</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direction</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'in'</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length</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10</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width</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5</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colors</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'k'</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labelsize</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20</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axes</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0</a:t>
            </a:r>
            <a:r>
              <a:rPr lang="en-US" sz="1400" b="1" dirty="0">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set_title</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'Actual'</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fontsize</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18</a:t>
            </a:r>
            <a:r>
              <a:rPr lang="en-US" sz="1400" b="1" dirty="0">
                <a:solidFill>
                  <a:srgbClr val="000080"/>
                </a:solidFill>
                <a:latin typeface="Courier New" panose="02070309020205020404" pitchFamily="49" charset="0"/>
              </a:rPr>
              <a:t>)</a:t>
            </a:r>
          </a:p>
          <a:p>
            <a:r>
              <a:rPr lang="en-US" sz="1400" dirty="0">
                <a:solidFill>
                  <a:srgbClr val="000000"/>
                </a:solidFill>
                <a:latin typeface="Courier New" panose="02070309020205020404" pitchFamily="49" charset="0"/>
              </a:rPr>
              <a:t> axes</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a:t>
            </a:r>
            <a:r>
              <a:rPr lang="en-US" sz="1400" b="1" dirty="0">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set_title</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'Predicted'</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fontsize</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18</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err="1">
                <a:solidFill>
                  <a:srgbClr val="000000"/>
                </a:solidFill>
                <a:latin typeface="Courier New" panose="02070309020205020404" pitchFamily="49" charset="0"/>
              </a:rPr>
              <a:t>plt</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show</a:t>
            </a:r>
            <a:r>
              <a:rPr lang="en-US" sz="1400" b="1" dirty="0">
                <a:solidFill>
                  <a:srgbClr val="000080"/>
                </a:solidFill>
                <a:latin typeface="Courier New" panose="02070309020205020404" pitchFamily="49" charset="0"/>
              </a:rPr>
              <a:t>()</a:t>
            </a:r>
            <a:endParaRPr lang="en-US" sz="1400" dirty="0">
              <a:effectLst/>
            </a:endParaRPr>
          </a:p>
        </p:txBody>
      </p:sp>
      <p:pic>
        <p:nvPicPr>
          <p:cNvPr id="8" name="Picture 7"/>
          <p:cNvPicPr>
            <a:picLocks noChangeAspect="1"/>
          </p:cNvPicPr>
          <p:nvPr/>
        </p:nvPicPr>
        <p:blipFill>
          <a:blip r:embed="rId2"/>
          <a:stretch>
            <a:fillRect/>
          </a:stretch>
        </p:blipFill>
        <p:spPr>
          <a:xfrm>
            <a:off x="676656" y="2071394"/>
            <a:ext cx="7467600" cy="3914775"/>
          </a:xfrm>
          <a:prstGeom prst="rect">
            <a:avLst/>
          </a:prstGeom>
        </p:spPr>
      </p:pic>
      <p:sp>
        <p:nvSpPr>
          <p:cNvPr id="10" name="Rectangle 9"/>
          <p:cNvSpPr/>
          <p:nvPr/>
        </p:nvSpPr>
        <p:spPr>
          <a:xfrm>
            <a:off x="5412293" y="6547175"/>
            <a:ext cx="3749995" cy="307777"/>
          </a:xfrm>
          <a:prstGeom prst="rect">
            <a:avLst/>
          </a:prstGeom>
        </p:spPr>
        <p:txBody>
          <a:bodyPr wrap="square">
            <a:spAutoFit/>
          </a:bodyPr>
          <a:lstStyle/>
          <a:p>
            <a:r>
              <a:rPr lang="en-US" sz="1400" dirty="0"/>
              <a:t>https://medium.com/@belen.sanchez27/</a:t>
            </a:r>
          </a:p>
        </p:txBody>
      </p:sp>
    </p:spTree>
    <p:extLst>
      <p:ext uri="{BB962C8B-B14F-4D97-AF65-F5344CB8AC3E}">
        <p14:creationId xmlns:p14="http://schemas.microsoft.com/office/powerpoint/2010/main" val="1962720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1066800"/>
          </a:xfrm>
        </p:spPr>
        <p:txBody>
          <a:bodyPr/>
          <a:lstStyle/>
          <a:p>
            <a:r>
              <a:rPr lang="en-US" dirty="0">
                <a:latin typeface="Times New Roman" panose="02020603050405020304" pitchFamily="18" charset="0"/>
                <a:cs typeface="Times New Roman" panose="02020603050405020304" pitchFamily="18" charset="0"/>
              </a:rPr>
              <a:t>Elbow method</a:t>
            </a:r>
          </a:p>
        </p:txBody>
      </p:sp>
      <p:sp>
        <p:nvSpPr>
          <p:cNvPr id="2" name="Slide Number Placeholder 1"/>
          <p:cNvSpPr>
            <a:spLocks noGrp="1"/>
          </p:cNvSpPr>
          <p:nvPr>
            <p:ph type="sldNum" sz="quarter" idx="12"/>
          </p:nvPr>
        </p:nvSpPr>
        <p:spPr/>
        <p:txBody>
          <a:bodyPr/>
          <a:lstStyle/>
          <a:p>
            <a:fld id="{76F96C40-0356-46F5-90E5-FF57DE76D9A0}" type="slidenum">
              <a:rPr lang="en-US" smtClean="0"/>
              <a:t>25</a:t>
            </a:fld>
            <a:endParaRPr lang="en-US"/>
          </a:p>
        </p:txBody>
      </p:sp>
      <p:sp>
        <p:nvSpPr>
          <p:cNvPr id="7" name="Rectangle 3"/>
          <p:cNvSpPr txBox="1">
            <a:spLocks noChangeArrowheads="1"/>
          </p:cNvSpPr>
          <p:nvPr/>
        </p:nvSpPr>
        <p:spPr>
          <a:xfrm>
            <a:off x="685800" y="1371600"/>
            <a:ext cx="8686800" cy="41669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altLang="en-US" sz="2000" dirty="0">
                <a:latin typeface="Times New Roman" panose="02020603050405020304" pitchFamily="18" charset="0"/>
                <a:cs typeface="Times New Roman" panose="02020603050405020304" pitchFamily="18" charset="0"/>
              </a:rPr>
              <a:t>Using elbow method to find optimum k</a:t>
            </a:r>
          </a:p>
        </p:txBody>
      </p:sp>
      <p:sp>
        <p:nvSpPr>
          <p:cNvPr id="5" name="Rectangle 4"/>
          <p:cNvSpPr/>
          <p:nvPr/>
        </p:nvSpPr>
        <p:spPr>
          <a:xfrm>
            <a:off x="803717" y="1905514"/>
            <a:ext cx="6629400" cy="2462213"/>
          </a:xfrm>
          <a:prstGeom prst="rect">
            <a:avLst/>
          </a:prstGeom>
        </p:spPr>
        <p:txBody>
          <a:bodyPr wrap="square">
            <a:spAutoFit/>
          </a:bodyPr>
          <a:lstStyle/>
          <a:p>
            <a:r>
              <a:rPr lang="en-US" sz="1400" dirty="0">
                <a:solidFill>
                  <a:srgbClr val="000000"/>
                </a:solidFill>
                <a:latin typeface="Courier New" panose="02070309020205020404" pitchFamily="49" charset="0"/>
              </a:rPr>
              <a:t>distortions </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a:solidFill>
                  <a:srgbClr val="000000"/>
                </a:solidFill>
                <a:latin typeface="Courier New" panose="02070309020205020404" pitchFamily="49" charset="0"/>
              </a:rPr>
              <a:t>K </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range</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10</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b="1" dirty="0">
                <a:solidFill>
                  <a:srgbClr val="0000FF"/>
                </a:solidFill>
                <a:latin typeface="Courier New" panose="02070309020205020404" pitchFamily="49" charset="0"/>
              </a:rPr>
              <a:t>for</a:t>
            </a:r>
            <a:r>
              <a:rPr lang="en-US" sz="1400" dirty="0">
                <a:solidFill>
                  <a:srgbClr val="000000"/>
                </a:solidFill>
                <a:latin typeface="Courier New" panose="02070309020205020404" pitchFamily="49" charset="0"/>
              </a:rPr>
              <a:t> k </a:t>
            </a:r>
            <a:r>
              <a:rPr lang="en-US" sz="1400" b="1" dirty="0">
                <a:solidFill>
                  <a:srgbClr val="0000FF"/>
                </a:solidFill>
                <a:latin typeface="Courier New" panose="02070309020205020404" pitchFamily="49" charset="0"/>
              </a:rPr>
              <a:t>in</a:t>
            </a:r>
            <a:r>
              <a:rPr lang="en-US" sz="1400" dirty="0">
                <a:solidFill>
                  <a:srgbClr val="000000"/>
                </a:solidFill>
                <a:latin typeface="Courier New" panose="02070309020205020404" pitchFamily="49" charset="0"/>
              </a:rPr>
              <a:t> K</a:t>
            </a:r>
            <a:r>
              <a:rPr lang="en-US" sz="1400" b="1" dirty="0">
                <a:solidFill>
                  <a:srgbClr val="000080"/>
                </a:solidFill>
                <a:latin typeface="Courier New" panose="02070309020205020404" pitchFamily="49" charset="0"/>
              </a:rPr>
              <a:t>:</a:t>
            </a:r>
          </a:p>
          <a:p>
            <a:r>
              <a:rPr lang="en-US" sz="1400" dirty="0" err="1">
                <a:solidFill>
                  <a:srgbClr val="000000"/>
                </a:solidFill>
                <a:latin typeface="Courier New" panose="02070309020205020404" pitchFamily="49" charset="0"/>
              </a:rPr>
              <a:t>kmeanModel</a:t>
            </a:r>
            <a:r>
              <a:rPr lang="en-US" sz="1400" dirty="0">
                <a:solidFill>
                  <a:srgbClr val="000000"/>
                </a:solidFill>
                <a:latin typeface="Courier New" panose="02070309020205020404" pitchFamily="49" charset="0"/>
              </a:rPr>
              <a:t> </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KMeans</a:t>
            </a:r>
            <a:r>
              <a:rPr lang="en-US" sz="1400" b="1" dirty="0">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n_clusters</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k</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fit</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X</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err="1">
                <a:solidFill>
                  <a:srgbClr val="000000"/>
                </a:solidFill>
                <a:latin typeface="Courier New" panose="02070309020205020404" pitchFamily="49" charset="0"/>
              </a:rPr>
              <a:t>kmeanModel</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fit</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X</a:t>
            </a:r>
            <a:r>
              <a:rPr lang="en-US" sz="1400" b="1">
                <a:solidFill>
                  <a:srgbClr val="000080"/>
                </a:solidFill>
                <a:latin typeface="Courier New" panose="02070309020205020404" pitchFamily="49" charset="0"/>
              </a:rPr>
              <a:t>)</a:t>
            </a:r>
            <a:r>
              <a:rPr lang="en-US" sz="1400">
                <a:solidFill>
                  <a:srgbClr val="000000"/>
                </a:solidFill>
                <a:latin typeface="Courier New" panose="02070309020205020404" pitchFamily="49" charset="0"/>
              </a:rPr>
              <a:t> </a:t>
            </a:r>
          </a:p>
          <a:p>
            <a:r>
              <a:rPr lang="en-US" sz="1400">
                <a:solidFill>
                  <a:srgbClr val="000000"/>
                </a:solidFill>
                <a:latin typeface="Courier New" panose="02070309020205020404" pitchFamily="49" charset="0"/>
              </a:rPr>
              <a:t>distortions</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append</a:t>
            </a:r>
            <a:r>
              <a:rPr lang="en-US" sz="1400" b="1" dirty="0">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kmeanModel</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inertia</a:t>
            </a:r>
            <a:r>
              <a:rPr lang="en-US" sz="1400" dirty="0">
                <a:solidFill>
                  <a:srgbClr val="000000"/>
                </a:solidFill>
                <a:latin typeface="Courier New" panose="02070309020205020404" pitchFamily="49" charset="0"/>
              </a:rPr>
              <a:t>_</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a:solidFill>
                  <a:srgbClr val="008000"/>
                </a:solidFill>
                <a:latin typeface="Courier New" panose="02070309020205020404" pitchFamily="49" charset="0"/>
              </a:rPr>
              <a:t># Plot the elbow</a:t>
            </a:r>
            <a:r>
              <a:rPr lang="en-US" sz="1400" dirty="0">
                <a:solidFill>
                  <a:srgbClr val="000000"/>
                </a:solidFill>
                <a:latin typeface="Courier New" panose="02070309020205020404" pitchFamily="49" charset="0"/>
              </a:rPr>
              <a:t> </a:t>
            </a:r>
          </a:p>
          <a:p>
            <a:r>
              <a:rPr lang="en-US" sz="1400" dirty="0" err="1">
                <a:solidFill>
                  <a:srgbClr val="000000"/>
                </a:solidFill>
                <a:latin typeface="Courier New" panose="02070309020205020404" pitchFamily="49" charset="0"/>
              </a:rPr>
              <a:t>plt</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plot</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K</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distortions</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a:solidFill>
                  <a:srgbClr val="808080"/>
                </a:solidFill>
                <a:latin typeface="Courier New" panose="02070309020205020404" pitchFamily="49" charset="0"/>
              </a:rPr>
              <a:t>'</a:t>
            </a:r>
            <a:r>
              <a:rPr lang="en-US" sz="1400" dirty="0" err="1">
                <a:solidFill>
                  <a:srgbClr val="808080"/>
                </a:solidFill>
                <a:latin typeface="Courier New" panose="02070309020205020404" pitchFamily="49" charset="0"/>
              </a:rPr>
              <a:t>bx</a:t>
            </a:r>
            <a:r>
              <a:rPr lang="en-US" sz="1400" dirty="0">
                <a:solidFill>
                  <a:srgbClr val="808080"/>
                </a:solidFill>
                <a:latin typeface="Courier New" panose="02070309020205020404" pitchFamily="49" charset="0"/>
              </a:rPr>
              <a:t>-'</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err="1">
                <a:solidFill>
                  <a:srgbClr val="000000"/>
                </a:solidFill>
                <a:latin typeface="Courier New" panose="02070309020205020404" pitchFamily="49" charset="0"/>
              </a:rPr>
              <a:t>plt</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xlabel</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'k'</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err="1">
                <a:solidFill>
                  <a:srgbClr val="000000"/>
                </a:solidFill>
                <a:latin typeface="Courier New" panose="02070309020205020404" pitchFamily="49" charset="0"/>
              </a:rPr>
              <a:t>plt</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ylabel</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'Distortion'</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err="1">
                <a:solidFill>
                  <a:srgbClr val="000000"/>
                </a:solidFill>
                <a:latin typeface="Courier New" panose="02070309020205020404" pitchFamily="49" charset="0"/>
              </a:rPr>
              <a:t>plt</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title</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'The Elbow Method showing the optimal k'</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err="1">
                <a:solidFill>
                  <a:srgbClr val="000000"/>
                </a:solidFill>
                <a:latin typeface="Courier New" panose="02070309020205020404" pitchFamily="49" charset="0"/>
              </a:rPr>
              <a:t>plt</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show</a:t>
            </a:r>
            <a:r>
              <a:rPr lang="en-US" sz="1400" b="1" dirty="0">
                <a:solidFill>
                  <a:srgbClr val="000080"/>
                </a:solidFill>
                <a:latin typeface="Courier New" panose="02070309020205020404" pitchFamily="49" charset="0"/>
              </a:rPr>
              <a:t>()</a:t>
            </a:r>
            <a:endParaRPr lang="en-US" sz="1400" dirty="0">
              <a:effectLst/>
            </a:endParaRPr>
          </a:p>
        </p:txBody>
      </p:sp>
      <p:pic>
        <p:nvPicPr>
          <p:cNvPr id="6" name="Picture 5"/>
          <p:cNvPicPr>
            <a:picLocks noChangeAspect="1"/>
          </p:cNvPicPr>
          <p:nvPr/>
        </p:nvPicPr>
        <p:blipFill>
          <a:blip r:embed="rId2"/>
          <a:stretch>
            <a:fillRect/>
          </a:stretch>
        </p:blipFill>
        <p:spPr>
          <a:xfrm>
            <a:off x="2438400" y="4152283"/>
            <a:ext cx="3705225" cy="2501617"/>
          </a:xfrm>
          <a:prstGeom prst="rect">
            <a:avLst/>
          </a:prstGeom>
        </p:spPr>
      </p:pic>
    </p:spTree>
    <p:extLst>
      <p:ext uri="{BB962C8B-B14F-4D97-AF65-F5344CB8AC3E}">
        <p14:creationId xmlns:p14="http://schemas.microsoft.com/office/powerpoint/2010/main" val="1718432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6F96C40-0356-46F5-90E5-FF57DE76D9A0}" type="slidenum">
              <a:rPr lang="en-US" smtClean="0"/>
              <a:t>26</a:t>
            </a:fld>
            <a:endParaRPr lang="en-US"/>
          </a:p>
        </p:txBody>
      </p:sp>
      <p:sp>
        <p:nvSpPr>
          <p:cNvPr id="6" name="Title 1"/>
          <p:cNvSpPr txBox="1">
            <a:spLocks/>
          </p:cNvSpPr>
          <p:nvPr/>
        </p:nvSpPr>
        <p:spPr>
          <a:xfrm>
            <a:off x="1770629" y="228600"/>
            <a:ext cx="6589199" cy="1280890"/>
          </a:xfrm>
          <a:prstGeom prst="rect">
            <a:avLst/>
          </a:prstGeo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err="1">
                <a:latin typeface="Times New Roman" panose="02020603050405020304" pitchFamily="18" charset="0"/>
                <a:cs typeface="Times New Roman" panose="02020603050405020304" pitchFamily="18" charset="0"/>
              </a:rPr>
              <a:t>Dendrogram</a:t>
            </a:r>
            <a:r>
              <a:rPr lang="en-US" dirty="0">
                <a:latin typeface="Times New Roman" panose="02020603050405020304" pitchFamily="18" charset="0"/>
                <a:cs typeface="Times New Roman" panose="02020603050405020304" pitchFamily="18" charset="0"/>
              </a:rPr>
              <a:t> example</a:t>
            </a:r>
          </a:p>
        </p:txBody>
      </p:sp>
      <p:sp>
        <p:nvSpPr>
          <p:cNvPr id="4" name="Rectangle 3"/>
          <p:cNvSpPr/>
          <p:nvPr/>
        </p:nvSpPr>
        <p:spPr>
          <a:xfrm>
            <a:off x="441124" y="1752600"/>
            <a:ext cx="7924800" cy="1815882"/>
          </a:xfrm>
          <a:prstGeom prst="rect">
            <a:avLst/>
          </a:prstGeom>
        </p:spPr>
        <p:txBody>
          <a:bodyPr wrap="square">
            <a:spAutoFit/>
          </a:bodyPr>
          <a:lstStyle/>
          <a:p>
            <a:r>
              <a:rPr lang="en-US" sz="1600" dirty="0">
                <a:solidFill>
                  <a:srgbClr val="008000"/>
                </a:solidFill>
                <a:latin typeface="Courier New" panose="02070309020205020404" pitchFamily="49" charset="0"/>
              </a:rPr>
              <a:t># create </a:t>
            </a:r>
            <a:r>
              <a:rPr lang="en-US" sz="1600" dirty="0" err="1">
                <a:solidFill>
                  <a:srgbClr val="008000"/>
                </a:solidFill>
                <a:latin typeface="Courier New" panose="02070309020205020404" pitchFamily="49" charset="0"/>
              </a:rPr>
              <a:t>dendrogram</a:t>
            </a:r>
            <a:r>
              <a:rPr lang="en-US" sz="1600" dirty="0">
                <a:solidFill>
                  <a:srgbClr val="000000"/>
                </a:solidFill>
                <a:latin typeface="Courier New" panose="02070309020205020404" pitchFamily="49" charset="0"/>
              </a:rPr>
              <a:t> </a:t>
            </a:r>
          </a:p>
          <a:p>
            <a:r>
              <a:rPr lang="en-US" sz="1600" dirty="0" err="1">
                <a:solidFill>
                  <a:srgbClr val="000000"/>
                </a:solidFill>
                <a:latin typeface="Courier New" panose="02070309020205020404" pitchFamily="49" charset="0"/>
              </a:rPr>
              <a:t>dendrogram</a:t>
            </a:r>
            <a:r>
              <a:rPr lang="en-US" sz="1600" dirty="0">
                <a:solidFill>
                  <a:srgbClr val="000000"/>
                </a:solidFill>
                <a:latin typeface="Courier New" panose="02070309020205020404" pitchFamily="49" charset="0"/>
              </a:rPr>
              <a:t> </a:t>
            </a:r>
            <a:r>
              <a:rPr lang="en-US" sz="1600" b="1" dirty="0">
                <a:solidFill>
                  <a:srgbClr val="000080"/>
                </a:solidFill>
                <a:latin typeface="Courier New" panose="02070309020205020404" pitchFamily="49" charset="0"/>
              </a:rPr>
              <a:t>=</a:t>
            </a:r>
            <a:r>
              <a:rPr lang="en-US" sz="1600" dirty="0">
                <a:solidFill>
                  <a:srgbClr val="000000"/>
                </a:solidFill>
                <a:latin typeface="Courier New" panose="02070309020205020404" pitchFamily="49" charset="0"/>
              </a:rPr>
              <a:t> </a:t>
            </a:r>
            <a:r>
              <a:rPr lang="en-US" sz="1600" dirty="0" err="1">
                <a:solidFill>
                  <a:srgbClr val="000000"/>
                </a:solidFill>
                <a:latin typeface="Courier New" panose="02070309020205020404" pitchFamily="49" charset="0"/>
              </a:rPr>
              <a:t>sch</a:t>
            </a:r>
            <a:r>
              <a:rPr lang="en-US" sz="1600" b="1" dirty="0" err="1">
                <a:solidFill>
                  <a:srgbClr val="000080"/>
                </a:solidFill>
                <a:latin typeface="Courier New" panose="02070309020205020404" pitchFamily="49" charset="0"/>
              </a:rPr>
              <a:t>.</a:t>
            </a:r>
            <a:r>
              <a:rPr lang="en-US" sz="1600" dirty="0" err="1">
                <a:solidFill>
                  <a:srgbClr val="000000"/>
                </a:solidFill>
                <a:latin typeface="Courier New" panose="02070309020205020404" pitchFamily="49" charset="0"/>
              </a:rPr>
              <a:t>dendrogram</a:t>
            </a:r>
            <a:r>
              <a:rPr lang="en-US" sz="1600" b="1" dirty="0">
                <a:solidFill>
                  <a:srgbClr val="000080"/>
                </a:solidFill>
                <a:latin typeface="Courier New" panose="02070309020205020404" pitchFamily="49" charset="0"/>
              </a:rPr>
              <a:t>(</a:t>
            </a:r>
            <a:r>
              <a:rPr lang="en-US" sz="1600" dirty="0" err="1">
                <a:solidFill>
                  <a:srgbClr val="000000"/>
                </a:solidFill>
                <a:latin typeface="Courier New" panose="02070309020205020404" pitchFamily="49" charset="0"/>
              </a:rPr>
              <a:t>sch</a:t>
            </a:r>
            <a:r>
              <a:rPr lang="en-US" sz="1600" b="1" dirty="0" err="1">
                <a:solidFill>
                  <a:srgbClr val="000080"/>
                </a:solidFill>
                <a:latin typeface="Courier New" panose="02070309020205020404" pitchFamily="49" charset="0"/>
              </a:rPr>
              <a:t>.</a:t>
            </a:r>
            <a:r>
              <a:rPr lang="en-US" sz="1600" dirty="0" err="1">
                <a:solidFill>
                  <a:srgbClr val="000000"/>
                </a:solidFill>
                <a:latin typeface="Courier New" panose="02070309020205020404" pitchFamily="49" charset="0"/>
              </a:rPr>
              <a:t>linkage</a:t>
            </a:r>
            <a:r>
              <a:rPr lang="en-US" sz="1600" b="1" dirty="0">
                <a:solidFill>
                  <a:srgbClr val="000080"/>
                </a:solidFill>
                <a:latin typeface="Courier New" panose="02070309020205020404" pitchFamily="49" charset="0"/>
              </a:rPr>
              <a:t>(</a:t>
            </a:r>
            <a:r>
              <a:rPr lang="en-US" sz="1600" dirty="0">
                <a:solidFill>
                  <a:srgbClr val="000000"/>
                </a:solidFill>
                <a:latin typeface="Courier New" panose="02070309020205020404" pitchFamily="49" charset="0"/>
              </a:rPr>
              <a:t>points</a:t>
            </a:r>
            <a:r>
              <a:rPr lang="en-US" sz="1600" b="1" dirty="0">
                <a:solidFill>
                  <a:srgbClr val="000080"/>
                </a:solidFill>
                <a:latin typeface="Courier New" panose="02070309020205020404" pitchFamily="49" charset="0"/>
              </a:rPr>
              <a:t>,</a:t>
            </a:r>
            <a:r>
              <a:rPr lang="en-US" sz="1600" dirty="0">
                <a:solidFill>
                  <a:srgbClr val="000000"/>
                </a:solidFill>
                <a:latin typeface="Courier New" panose="02070309020205020404" pitchFamily="49" charset="0"/>
              </a:rPr>
              <a:t> method</a:t>
            </a:r>
            <a:r>
              <a:rPr lang="en-US" sz="1600" b="1" dirty="0">
                <a:solidFill>
                  <a:srgbClr val="000080"/>
                </a:solidFill>
                <a:latin typeface="Courier New" panose="02070309020205020404" pitchFamily="49" charset="0"/>
              </a:rPr>
              <a:t>=</a:t>
            </a:r>
            <a:r>
              <a:rPr lang="en-US" sz="1600" dirty="0">
                <a:solidFill>
                  <a:srgbClr val="808080"/>
                </a:solidFill>
                <a:latin typeface="Courier New" panose="02070309020205020404" pitchFamily="49" charset="0"/>
              </a:rPr>
              <a:t>'ward'</a:t>
            </a:r>
            <a:r>
              <a:rPr lang="en-US" sz="1600" b="1" dirty="0">
                <a:solidFill>
                  <a:srgbClr val="000080"/>
                </a:solidFill>
                <a:latin typeface="Courier New" panose="02070309020205020404" pitchFamily="49" charset="0"/>
              </a:rPr>
              <a:t>))</a:t>
            </a:r>
            <a:r>
              <a:rPr lang="en-US" sz="1600" dirty="0">
                <a:solidFill>
                  <a:srgbClr val="000000"/>
                </a:solidFill>
                <a:latin typeface="Courier New" panose="02070309020205020404" pitchFamily="49" charset="0"/>
              </a:rPr>
              <a:t> </a:t>
            </a:r>
          </a:p>
          <a:p>
            <a:r>
              <a:rPr lang="en-US" sz="1600" dirty="0">
                <a:solidFill>
                  <a:srgbClr val="008000"/>
                </a:solidFill>
                <a:latin typeface="Courier New" panose="02070309020205020404" pitchFamily="49" charset="0"/>
              </a:rPr>
              <a:t># create clusters</a:t>
            </a:r>
            <a:r>
              <a:rPr lang="en-US" sz="1600" dirty="0">
                <a:solidFill>
                  <a:srgbClr val="000000"/>
                </a:solidFill>
                <a:latin typeface="Courier New" panose="02070309020205020404" pitchFamily="49" charset="0"/>
              </a:rPr>
              <a:t> </a:t>
            </a:r>
          </a:p>
          <a:p>
            <a:r>
              <a:rPr lang="en-US" sz="1600" dirty="0" err="1">
                <a:solidFill>
                  <a:srgbClr val="000000"/>
                </a:solidFill>
                <a:latin typeface="Courier New" panose="02070309020205020404" pitchFamily="49" charset="0"/>
              </a:rPr>
              <a:t>hc</a:t>
            </a:r>
            <a:r>
              <a:rPr lang="en-US" sz="1600" dirty="0">
                <a:solidFill>
                  <a:srgbClr val="000000"/>
                </a:solidFill>
                <a:latin typeface="Courier New" panose="02070309020205020404" pitchFamily="49" charset="0"/>
              </a:rPr>
              <a:t> </a:t>
            </a:r>
            <a:r>
              <a:rPr lang="en-US" sz="1600" b="1" dirty="0">
                <a:solidFill>
                  <a:srgbClr val="000080"/>
                </a:solidFill>
                <a:latin typeface="Courier New" panose="02070309020205020404" pitchFamily="49" charset="0"/>
              </a:rPr>
              <a:t>=</a:t>
            </a:r>
            <a:r>
              <a:rPr lang="en-US" sz="1600" dirty="0">
                <a:solidFill>
                  <a:srgbClr val="000000"/>
                </a:solidFill>
                <a:latin typeface="Courier New" panose="02070309020205020404" pitchFamily="49" charset="0"/>
              </a:rPr>
              <a:t> </a:t>
            </a:r>
            <a:r>
              <a:rPr lang="en-US" sz="1600" dirty="0" err="1">
                <a:solidFill>
                  <a:srgbClr val="000000"/>
                </a:solidFill>
                <a:latin typeface="Courier New" panose="02070309020205020404" pitchFamily="49" charset="0"/>
              </a:rPr>
              <a:t>AgglomerativeClustering</a:t>
            </a:r>
            <a:r>
              <a:rPr lang="en-US" sz="1600" b="1" dirty="0">
                <a:solidFill>
                  <a:srgbClr val="000080"/>
                </a:solidFill>
                <a:latin typeface="Courier New" panose="02070309020205020404" pitchFamily="49" charset="0"/>
              </a:rPr>
              <a:t>(</a:t>
            </a:r>
            <a:r>
              <a:rPr lang="en-US" sz="1600" dirty="0" err="1">
                <a:solidFill>
                  <a:srgbClr val="000000"/>
                </a:solidFill>
                <a:latin typeface="Courier New" panose="02070309020205020404" pitchFamily="49" charset="0"/>
              </a:rPr>
              <a:t>n_clusters</a:t>
            </a:r>
            <a:r>
              <a:rPr lang="en-US" sz="1600" b="1" dirty="0">
                <a:solidFill>
                  <a:srgbClr val="000080"/>
                </a:solidFill>
                <a:latin typeface="Courier New" panose="02070309020205020404" pitchFamily="49" charset="0"/>
              </a:rPr>
              <a:t>=</a:t>
            </a:r>
            <a:r>
              <a:rPr lang="en-US" sz="1600" dirty="0">
                <a:solidFill>
                  <a:srgbClr val="FF0000"/>
                </a:solidFill>
                <a:latin typeface="Courier New" panose="02070309020205020404" pitchFamily="49" charset="0"/>
              </a:rPr>
              <a:t>4</a:t>
            </a:r>
            <a:r>
              <a:rPr lang="en-US" sz="1600" b="1" dirty="0">
                <a:solidFill>
                  <a:srgbClr val="000080"/>
                </a:solidFill>
                <a:latin typeface="Courier New" panose="02070309020205020404" pitchFamily="49" charset="0"/>
              </a:rPr>
              <a:t>,</a:t>
            </a:r>
            <a:r>
              <a:rPr lang="en-US" sz="1600" dirty="0">
                <a:solidFill>
                  <a:srgbClr val="000000"/>
                </a:solidFill>
                <a:latin typeface="Courier New" panose="02070309020205020404" pitchFamily="49" charset="0"/>
              </a:rPr>
              <a:t> affinity </a:t>
            </a:r>
            <a:r>
              <a:rPr lang="en-US" sz="1600" b="1" dirty="0">
                <a:solidFill>
                  <a:srgbClr val="000080"/>
                </a:solidFill>
                <a:latin typeface="Courier New" panose="02070309020205020404" pitchFamily="49" charset="0"/>
              </a:rPr>
              <a:t>=</a:t>
            </a:r>
            <a:r>
              <a:rPr lang="en-US" sz="1600" dirty="0">
                <a:solidFill>
                  <a:srgbClr val="000000"/>
                </a:solidFill>
                <a:latin typeface="Courier New" panose="02070309020205020404" pitchFamily="49" charset="0"/>
              </a:rPr>
              <a:t> </a:t>
            </a:r>
            <a:r>
              <a:rPr lang="en-US" sz="1600" dirty="0">
                <a:solidFill>
                  <a:srgbClr val="808080"/>
                </a:solidFill>
                <a:latin typeface="Courier New" panose="02070309020205020404" pitchFamily="49" charset="0"/>
              </a:rPr>
              <a:t>'</a:t>
            </a:r>
            <a:r>
              <a:rPr lang="en-US" sz="1600" dirty="0" err="1">
                <a:solidFill>
                  <a:srgbClr val="808080"/>
                </a:solidFill>
                <a:latin typeface="Courier New" panose="02070309020205020404" pitchFamily="49" charset="0"/>
              </a:rPr>
              <a:t>euclidean</a:t>
            </a:r>
            <a:r>
              <a:rPr lang="en-US" sz="1600" dirty="0">
                <a:solidFill>
                  <a:srgbClr val="808080"/>
                </a:solidFill>
                <a:latin typeface="Courier New" panose="02070309020205020404" pitchFamily="49" charset="0"/>
              </a:rPr>
              <a:t>'</a:t>
            </a:r>
            <a:r>
              <a:rPr lang="en-US" sz="1600" b="1" dirty="0">
                <a:solidFill>
                  <a:srgbClr val="000080"/>
                </a:solidFill>
                <a:latin typeface="Courier New" panose="02070309020205020404" pitchFamily="49" charset="0"/>
              </a:rPr>
              <a:t>,</a:t>
            </a:r>
            <a:r>
              <a:rPr lang="en-US" sz="1600" dirty="0">
                <a:solidFill>
                  <a:srgbClr val="000000"/>
                </a:solidFill>
                <a:latin typeface="Courier New" panose="02070309020205020404" pitchFamily="49" charset="0"/>
              </a:rPr>
              <a:t> linkage </a:t>
            </a:r>
            <a:r>
              <a:rPr lang="en-US" sz="1600" b="1" dirty="0">
                <a:solidFill>
                  <a:srgbClr val="000080"/>
                </a:solidFill>
                <a:latin typeface="Courier New" panose="02070309020205020404" pitchFamily="49" charset="0"/>
              </a:rPr>
              <a:t>=</a:t>
            </a:r>
            <a:r>
              <a:rPr lang="en-US" sz="1600" dirty="0">
                <a:solidFill>
                  <a:srgbClr val="000000"/>
                </a:solidFill>
                <a:latin typeface="Courier New" panose="02070309020205020404" pitchFamily="49" charset="0"/>
              </a:rPr>
              <a:t> </a:t>
            </a:r>
            <a:r>
              <a:rPr lang="en-US" sz="1600" dirty="0">
                <a:solidFill>
                  <a:srgbClr val="808080"/>
                </a:solidFill>
                <a:latin typeface="Courier New" panose="02070309020205020404" pitchFamily="49" charset="0"/>
              </a:rPr>
              <a:t>'ward'</a:t>
            </a:r>
            <a:r>
              <a:rPr lang="en-US" sz="1600" b="1" dirty="0">
                <a:solidFill>
                  <a:srgbClr val="000080"/>
                </a:solidFill>
                <a:latin typeface="Courier New" panose="02070309020205020404" pitchFamily="49" charset="0"/>
              </a:rPr>
              <a:t>)</a:t>
            </a:r>
            <a:r>
              <a:rPr lang="en-US" sz="1600" dirty="0">
                <a:solidFill>
                  <a:srgbClr val="000000"/>
                </a:solidFill>
                <a:latin typeface="Courier New" panose="02070309020205020404" pitchFamily="49" charset="0"/>
              </a:rPr>
              <a:t> </a:t>
            </a:r>
          </a:p>
          <a:p>
            <a:r>
              <a:rPr lang="en-US" sz="1600" dirty="0">
                <a:solidFill>
                  <a:srgbClr val="008000"/>
                </a:solidFill>
                <a:latin typeface="Courier New" panose="02070309020205020404" pitchFamily="49" charset="0"/>
              </a:rPr>
              <a:t># save clusters for chart</a:t>
            </a:r>
            <a:r>
              <a:rPr lang="en-US" sz="1600" dirty="0">
                <a:solidFill>
                  <a:srgbClr val="000000"/>
                </a:solidFill>
                <a:latin typeface="Courier New" panose="02070309020205020404" pitchFamily="49" charset="0"/>
              </a:rPr>
              <a:t> </a:t>
            </a:r>
          </a:p>
          <a:p>
            <a:r>
              <a:rPr lang="en-US" sz="1600" dirty="0" err="1">
                <a:solidFill>
                  <a:srgbClr val="000000"/>
                </a:solidFill>
                <a:latin typeface="Courier New" panose="02070309020205020404" pitchFamily="49" charset="0"/>
              </a:rPr>
              <a:t>y_hc</a:t>
            </a:r>
            <a:r>
              <a:rPr lang="en-US" sz="1600" dirty="0">
                <a:solidFill>
                  <a:srgbClr val="000000"/>
                </a:solidFill>
                <a:latin typeface="Courier New" panose="02070309020205020404" pitchFamily="49" charset="0"/>
              </a:rPr>
              <a:t> </a:t>
            </a:r>
            <a:r>
              <a:rPr lang="en-US" sz="1600" b="1" dirty="0">
                <a:solidFill>
                  <a:srgbClr val="000080"/>
                </a:solidFill>
                <a:latin typeface="Courier New" panose="02070309020205020404" pitchFamily="49" charset="0"/>
              </a:rPr>
              <a:t>=</a:t>
            </a:r>
            <a:r>
              <a:rPr lang="en-US" sz="1600" dirty="0">
                <a:solidFill>
                  <a:srgbClr val="000000"/>
                </a:solidFill>
                <a:latin typeface="Courier New" panose="02070309020205020404" pitchFamily="49" charset="0"/>
              </a:rPr>
              <a:t> </a:t>
            </a:r>
            <a:r>
              <a:rPr lang="en-US" sz="1600" dirty="0" err="1">
                <a:solidFill>
                  <a:srgbClr val="000000"/>
                </a:solidFill>
                <a:latin typeface="Courier New" panose="02070309020205020404" pitchFamily="49" charset="0"/>
              </a:rPr>
              <a:t>hc</a:t>
            </a:r>
            <a:r>
              <a:rPr lang="en-US" sz="1600" b="1" dirty="0" err="1">
                <a:solidFill>
                  <a:srgbClr val="000080"/>
                </a:solidFill>
                <a:latin typeface="Courier New" panose="02070309020205020404" pitchFamily="49" charset="0"/>
              </a:rPr>
              <a:t>.</a:t>
            </a:r>
            <a:r>
              <a:rPr lang="en-US" sz="1600" dirty="0" err="1">
                <a:solidFill>
                  <a:srgbClr val="000000"/>
                </a:solidFill>
                <a:latin typeface="Courier New" panose="02070309020205020404" pitchFamily="49" charset="0"/>
              </a:rPr>
              <a:t>fit_predict</a:t>
            </a:r>
            <a:r>
              <a:rPr lang="en-US" sz="1600" b="1" dirty="0">
                <a:solidFill>
                  <a:srgbClr val="000080"/>
                </a:solidFill>
                <a:latin typeface="Courier New" panose="02070309020205020404" pitchFamily="49" charset="0"/>
              </a:rPr>
              <a:t>(</a:t>
            </a:r>
            <a:r>
              <a:rPr lang="en-US" sz="1600" dirty="0">
                <a:solidFill>
                  <a:srgbClr val="000000"/>
                </a:solidFill>
                <a:latin typeface="Courier New" panose="02070309020205020404" pitchFamily="49" charset="0"/>
              </a:rPr>
              <a:t>points</a:t>
            </a:r>
            <a:r>
              <a:rPr lang="en-US" sz="1600" b="1" dirty="0">
                <a:solidFill>
                  <a:srgbClr val="000080"/>
                </a:solidFill>
                <a:latin typeface="Courier New" panose="02070309020205020404" pitchFamily="49" charset="0"/>
              </a:rPr>
              <a:t>)</a:t>
            </a:r>
            <a:endParaRPr lang="en-US" sz="1600" dirty="0">
              <a:effectLst/>
            </a:endParaRPr>
          </a:p>
        </p:txBody>
      </p:sp>
    </p:spTree>
    <p:extLst>
      <p:ext uri="{BB962C8B-B14F-4D97-AF65-F5344CB8AC3E}">
        <p14:creationId xmlns:p14="http://schemas.microsoft.com/office/powerpoint/2010/main" val="810515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6F96C40-0356-46F5-90E5-FF57DE76D9A0}" type="slidenum">
              <a:rPr lang="en-US" smtClean="0"/>
              <a:t>27</a:t>
            </a:fld>
            <a:endParaRPr lang="en-US"/>
          </a:p>
        </p:txBody>
      </p:sp>
      <p:sp>
        <p:nvSpPr>
          <p:cNvPr id="3" name="Rectangle 2"/>
          <p:cNvSpPr/>
          <p:nvPr/>
        </p:nvSpPr>
        <p:spPr>
          <a:xfrm>
            <a:off x="511228" y="1295400"/>
            <a:ext cx="7848600" cy="3108543"/>
          </a:xfrm>
          <a:prstGeom prst="rect">
            <a:avLst/>
          </a:prstGeom>
        </p:spPr>
        <p:txBody>
          <a:bodyPr wrap="square">
            <a:spAutoFit/>
          </a:bodyPr>
          <a:lstStyle/>
          <a:p>
            <a:r>
              <a:rPr lang="en-US" sz="1400" b="1" dirty="0">
                <a:solidFill>
                  <a:srgbClr val="0000FF"/>
                </a:solidFill>
                <a:latin typeface="Courier New" panose="02070309020205020404" pitchFamily="49" charset="0"/>
              </a:rPr>
              <a:t>from</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scipy</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cluster</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hierarchy</a:t>
            </a:r>
            <a:r>
              <a:rPr lang="en-US" sz="1400" dirty="0">
                <a:solidFill>
                  <a:srgbClr val="000000"/>
                </a:solidFill>
                <a:latin typeface="Courier New" panose="02070309020205020404" pitchFamily="49" charset="0"/>
              </a:rPr>
              <a:t> </a:t>
            </a:r>
            <a:r>
              <a:rPr lang="en-US" sz="1400" b="1" dirty="0">
                <a:solidFill>
                  <a:srgbClr val="0000FF"/>
                </a:solidFill>
                <a:latin typeface="Courier New" panose="02070309020205020404" pitchFamily="49" charset="0"/>
              </a:rPr>
              <a:t>import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dendrogram</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linkage </a:t>
            </a:r>
          </a:p>
          <a:p>
            <a:r>
              <a:rPr lang="en-US" sz="1400" dirty="0">
                <a:solidFill>
                  <a:srgbClr val="008000"/>
                </a:solidFill>
                <a:latin typeface="Courier New" panose="02070309020205020404" pitchFamily="49" charset="0"/>
              </a:rPr>
              <a:t># generate the linkage matrix</a:t>
            </a:r>
            <a:r>
              <a:rPr lang="en-US" sz="1400" dirty="0">
                <a:solidFill>
                  <a:srgbClr val="000000"/>
                </a:solidFill>
                <a:latin typeface="Courier New" panose="02070309020205020404" pitchFamily="49" charset="0"/>
              </a:rPr>
              <a:t> </a:t>
            </a:r>
          </a:p>
          <a:p>
            <a:r>
              <a:rPr lang="en-US" sz="1400" dirty="0">
                <a:solidFill>
                  <a:srgbClr val="000000"/>
                </a:solidFill>
                <a:latin typeface="Courier New" panose="02070309020205020404" pitchFamily="49" charset="0"/>
              </a:rPr>
              <a:t>Z </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linkage</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X</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a:solidFill>
                  <a:srgbClr val="808080"/>
                </a:solidFill>
                <a:latin typeface="Courier New" panose="02070309020205020404" pitchFamily="49" charset="0"/>
              </a:rPr>
              <a:t>'average'</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a:solidFill>
                  <a:srgbClr val="008000"/>
                </a:solidFill>
                <a:latin typeface="Courier New" panose="02070309020205020404" pitchFamily="49" charset="0"/>
              </a:rPr>
              <a:t># set cut-off to 50</a:t>
            </a:r>
            <a:r>
              <a:rPr lang="en-US" sz="1400" dirty="0">
                <a:solidFill>
                  <a:srgbClr val="000000"/>
                </a:solidFill>
                <a:latin typeface="Courier New" panose="02070309020205020404" pitchFamily="49" charset="0"/>
              </a:rPr>
              <a:t> </a:t>
            </a:r>
          </a:p>
          <a:p>
            <a:r>
              <a:rPr lang="en-US" sz="1400" dirty="0" err="1">
                <a:solidFill>
                  <a:srgbClr val="000000"/>
                </a:solidFill>
                <a:latin typeface="Courier New" panose="02070309020205020404" pitchFamily="49" charset="0"/>
              </a:rPr>
              <a:t>max_d</a:t>
            </a:r>
            <a:r>
              <a:rPr lang="en-US" sz="1400" dirty="0">
                <a:solidFill>
                  <a:srgbClr val="000000"/>
                </a:solidFill>
                <a:latin typeface="Courier New" panose="02070309020205020404" pitchFamily="49" charset="0"/>
              </a:rPr>
              <a:t> </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a:solidFill>
                  <a:srgbClr val="FF0000"/>
                </a:solidFill>
                <a:latin typeface="Courier New" panose="02070309020205020404" pitchFamily="49" charset="0"/>
              </a:rPr>
              <a:t>7.08</a:t>
            </a:r>
            <a:r>
              <a:rPr lang="en-US" sz="1400" dirty="0">
                <a:solidFill>
                  <a:srgbClr val="000000"/>
                </a:solidFill>
                <a:latin typeface="Courier New" panose="02070309020205020404" pitchFamily="49" charset="0"/>
              </a:rPr>
              <a:t> </a:t>
            </a:r>
          </a:p>
          <a:p>
            <a:r>
              <a:rPr lang="en-US" sz="1400" dirty="0">
                <a:solidFill>
                  <a:srgbClr val="008000"/>
                </a:solidFill>
                <a:latin typeface="Courier New" panose="02070309020205020404" pitchFamily="49" charset="0"/>
              </a:rPr>
              <a:t># </a:t>
            </a:r>
            <a:r>
              <a:rPr lang="en-US" sz="1400" dirty="0" err="1">
                <a:solidFill>
                  <a:srgbClr val="008000"/>
                </a:solidFill>
                <a:latin typeface="Courier New" panose="02070309020205020404" pitchFamily="49" charset="0"/>
              </a:rPr>
              <a:t>max_d</a:t>
            </a:r>
            <a:r>
              <a:rPr lang="en-US" sz="1400" dirty="0">
                <a:solidFill>
                  <a:srgbClr val="008000"/>
                </a:solidFill>
                <a:latin typeface="Courier New" panose="02070309020205020404" pitchFamily="49" charset="0"/>
              </a:rPr>
              <a:t> as in </a:t>
            </a:r>
            <a:r>
              <a:rPr lang="en-US" sz="1400" dirty="0" err="1">
                <a:solidFill>
                  <a:srgbClr val="008000"/>
                </a:solidFill>
                <a:latin typeface="Courier New" panose="02070309020205020404" pitchFamily="49" charset="0"/>
              </a:rPr>
              <a:t>max_distance</a:t>
            </a:r>
            <a:r>
              <a:rPr lang="en-US" sz="1400" dirty="0">
                <a:solidFill>
                  <a:srgbClr val="000000"/>
                </a:solidFill>
                <a:latin typeface="Courier New" panose="02070309020205020404" pitchFamily="49" charset="0"/>
              </a:rPr>
              <a:t> </a:t>
            </a:r>
          </a:p>
          <a:p>
            <a:r>
              <a:rPr lang="en-US" sz="1400" dirty="0" err="1">
                <a:solidFill>
                  <a:srgbClr val="000000"/>
                </a:solidFill>
                <a:latin typeface="Courier New" panose="02070309020205020404" pitchFamily="49" charset="0"/>
              </a:rPr>
              <a:t>plt</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figure</a:t>
            </a:r>
            <a:r>
              <a:rPr lang="en-US" sz="1400" b="1" dirty="0">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figsize</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25</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a:solidFill>
                  <a:srgbClr val="FF0000"/>
                </a:solidFill>
                <a:latin typeface="Courier New" panose="02070309020205020404" pitchFamily="49" charset="0"/>
              </a:rPr>
              <a:t>10</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err="1">
                <a:solidFill>
                  <a:srgbClr val="000000"/>
                </a:solidFill>
                <a:latin typeface="Courier New" panose="02070309020205020404" pitchFamily="49" charset="0"/>
              </a:rPr>
              <a:t>plt</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title</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'Iris Hierarchical Clustering </a:t>
            </a:r>
            <a:r>
              <a:rPr lang="en-US" sz="1400" dirty="0" err="1">
                <a:solidFill>
                  <a:srgbClr val="808080"/>
                </a:solidFill>
                <a:latin typeface="Courier New" panose="02070309020205020404" pitchFamily="49" charset="0"/>
              </a:rPr>
              <a:t>Dendrogram</a:t>
            </a:r>
            <a:r>
              <a:rPr lang="en-US" sz="1400" dirty="0">
                <a:solidFill>
                  <a:srgbClr val="808080"/>
                </a:solidFill>
                <a:latin typeface="Courier New" panose="02070309020205020404" pitchFamily="49" charset="0"/>
              </a:rPr>
              <a:t>'</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err="1">
                <a:solidFill>
                  <a:srgbClr val="000000"/>
                </a:solidFill>
                <a:latin typeface="Courier New" panose="02070309020205020404" pitchFamily="49" charset="0"/>
              </a:rPr>
              <a:t>plt</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xlabel</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'Species'</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plt</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ylabel</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'distance'</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err="1">
                <a:solidFill>
                  <a:srgbClr val="000000"/>
                </a:solidFill>
                <a:latin typeface="Courier New" panose="02070309020205020404" pitchFamily="49" charset="0"/>
              </a:rPr>
              <a:t>dendrogram</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Z</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truncate_mode</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a:t>
            </a:r>
            <a:r>
              <a:rPr lang="en-US" sz="1400" dirty="0" err="1">
                <a:solidFill>
                  <a:srgbClr val="808080"/>
                </a:solidFill>
                <a:latin typeface="Courier New" panose="02070309020205020404" pitchFamily="49" charset="0"/>
              </a:rPr>
              <a:t>lastp</a:t>
            </a:r>
            <a:r>
              <a:rPr lang="en-US" sz="1400" dirty="0">
                <a:solidFill>
                  <a:srgbClr val="808080"/>
                </a:solidFill>
                <a:latin typeface="Courier New" panose="02070309020205020404" pitchFamily="49" charset="0"/>
              </a:rPr>
              <a:t>'</a:t>
            </a:r>
            <a:r>
              <a:rPr lang="en-US" sz="1400" b="1" dirty="0">
                <a:solidFill>
                  <a:srgbClr val="000080"/>
                </a:solidFill>
                <a:latin typeface="Courier New" panose="02070309020205020404" pitchFamily="49" charset="0"/>
              </a:rPr>
              <a:t>,</a:t>
            </a:r>
            <a:r>
              <a:rPr lang="en-US" sz="1400" dirty="0">
                <a:solidFill>
                  <a:srgbClr val="008000"/>
                </a:solidFill>
                <a:latin typeface="Courier New" panose="02070309020205020404" pitchFamily="49" charset="0"/>
              </a:rPr>
              <a:t># show only the last p merged clusters</a:t>
            </a:r>
            <a:r>
              <a:rPr lang="en-US" sz="1400" dirty="0">
                <a:solidFill>
                  <a:srgbClr val="000000"/>
                </a:solidFill>
                <a:latin typeface="Courier New" panose="02070309020205020404" pitchFamily="49" charset="0"/>
              </a:rPr>
              <a:t> p</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10</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a:solidFill>
                  <a:srgbClr val="008000"/>
                </a:solidFill>
                <a:latin typeface="Courier New" panose="02070309020205020404" pitchFamily="49" charset="0"/>
              </a:rPr>
              <a:t># Try changing values of p</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leaf_rotation</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90.</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a:solidFill>
                  <a:srgbClr val="008000"/>
                </a:solidFill>
                <a:latin typeface="Courier New" panose="02070309020205020404" pitchFamily="49" charset="0"/>
              </a:rPr>
              <a:t># rotates the x axis labels</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leaf_font_size</a:t>
            </a:r>
            <a:r>
              <a:rPr lang="en-US" sz="1400" b="1" dirty="0">
                <a:solidFill>
                  <a:srgbClr val="000080"/>
                </a:solidFill>
                <a:latin typeface="Courier New" panose="02070309020205020404" pitchFamily="49" charset="0"/>
              </a:rPr>
              <a:t>=</a:t>
            </a:r>
            <a:r>
              <a:rPr lang="en-US" sz="1400" dirty="0">
                <a:solidFill>
                  <a:srgbClr val="FF0000"/>
                </a:solidFill>
                <a:latin typeface="Courier New" panose="02070309020205020404" pitchFamily="49" charset="0"/>
              </a:rPr>
              <a:t>8.</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r>
              <a:rPr lang="en-US" sz="1400" dirty="0">
                <a:solidFill>
                  <a:srgbClr val="008000"/>
                </a:solidFill>
                <a:latin typeface="Courier New" panose="02070309020205020404" pitchFamily="49" charset="0"/>
              </a:rPr>
              <a:t># font size for the x axis labels</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err="1">
                <a:solidFill>
                  <a:srgbClr val="000000"/>
                </a:solidFill>
                <a:latin typeface="Courier New" panose="02070309020205020404" pitchFamily="49" charset="0"/>
              </a:rPr>
              <a:t>plt</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axhline</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y</a:t>
            </a:r>
            <a:r>
              <a:rPr lang="en-US" sz="1400" b="1" dirty="0">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max_d</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c</a:t>
            </a:r>
            <a:r>
              <a:rPr lang="en-US" sz="1400" b="1" dirty="0">
                <a:solidFill>
                  <a:srgbClr val="000080"/>
                </a:solidFill>
                <a:latin typeface="Courier New" panose="02070309020205020404" pitchFamily="49" charset="0"/>
              </a:rPr>
              <a:t>=</a:t>
            </a:r>
            <a:r>
              <a:rPr lang="en-US" sz="1400" dirty="0">
                <a:solidFill>
                  <a:srgbClr val="808080"/>
                </a:solidFill>
                <a:latin typeface="Courier New" panose="02070309020205020404" pitchFamily="49" charset="0"/>
              </a:rPr>
              <a:t>'k'</a:t>
            </a:r>
            <a:r>
              <a:rPr lang="en-US" sz="1400" b="1" dirty="0">
                <a:solidFill>
                  <a:srgbClr val="000080"/>
                </a:solidFill>
                <a:latin typeface="Courier New" panose="02070309020205020404" pitchFamily="49" charset="0"/>
              </a:rPr>
              <a:t>)</a:t>
            </a:r>
            <a:r>
              <a:rPr lang="en-US" sz="1400" dirty="0">
                <a:solidFill>
                  <a:srgbClr val="000000"/>
                </a:solidFill>
                <a:latin typeface="Courier New" panose="02070309020205020404" pitchFamily="49" charset="0"/>
              </a:rPr>
              <a:t> </a:t>
            </a:r>
          </a:p>
          <a:p>
            <a:r>
              <a:rPr lang="en-US" sz="1400" dirty="0" err="1">
                <a:solidFill>
                  <a:srgbClr val="000000"/>
                </a:solidFill>
                <a:latin typeface="Courier New" panose="02070309020205020404" pitchFamily="49" charset="0"/>
              </a:rPr>
              <a:t>plt</a:t>
            </a:r>
            <a:r>
              <a:rPr lang="en-US" sz="1400" b="1" dirty="0" err="1">
                <a:solidFill>
                  <a:srgbClr val="000080"/>
                </a:solidFill>
                <a:latin typeface="Courier New" panose="02070309020205020404" pitchFamily="49" charset="0"/>
              </a:rPr>
              <a:t>.</a:t>
            </a:r>
            <a:r>
              <a:rPr lang="en-US" sz="1400" dirty="0" err="1">
                <a:solidFill>
                  <a:srgbClr val="000000"/>
                </a:solidFill>
                <a:latin typeface="Courier New" panose="02070309020205020404" pitchFamily="49" charset="0"/>
              </a:rPr>
              <a:t>show</a:t>
            </a:r>
            <a:r>
              <a:rPr lang="en-US" sz="1400" b="1" dirty="0">
                <a:solidFill>
                  <a:srgbClr val="000080"/>
                </a:solidFill>
                <a:latin typeface="Courier New" panose="02070309020205020404" pitchFamily="49" charset="0"/>
              </a:rPr>
              <a:t>()</a:t>
            </a:r>
            <a:endParaRPr lang="en-US" sz="1400" dirty="0">
              <a:effectLst/>
            </a:endParaRPr>
          </a:p>
        </p:txBody>
      </p:sp>
      <p:sp>
        <p:nvSpPr>
          <p:cNvPr id="6" name="Title 1"/>
          <p:cNvSpPr txBox="1">
            <a:spLocks/>
          </p:cNvSpPr>
          <p:nvPr/>
        </p:nvSpPr>
        <p:spPr>
          <a:xfrm>
            <a:off x="1770629" y="228600"/>
            <a:ext cx="6589199" cy="1280890"/>
          </a:xfrm>
          <a:prstGeom prst="rect">
            <a:avLst/>
          </a:prstGeo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err="1">
                <a:latin typeface="Times New Roman" panose="02020603050405020304" pitchFamily="18" charset="0"/>
                <a:cs typeface="Times New Roman" panose="02020603050405020304" pitchFamily="18" charset="0"/>
              </a:rPr>
              <a:t>Dendrogram</a:t>
            </a:r>
            <a:r>
              <a:rPr lang="en-US" dirty="0">
                <a:latin typeface="Times New Roman" panose="02020603050405020304" pitchFamily="18" charset="0"/>
                <a:cs typeface="Times New Roman" panose="02020603050405020304" pitchFamily="18" charset="0"/>
              </a:rPr>
              <a:t> example</a:t>
            </a:r>
          </a:p>
        </p:txBody>
      </p:sp>
      <p:pic>
        <p:nvPicPr>
          <p:cNvPr id="5" name="Picture 4"/>
          <p:cNvPicPr>
            <a:picLocks noChangeAspect="1"/>
          </p:cNvPicPr>
          <p:nvPr/>
        </p:nvPicPr>
        <p:blipFill>
          <a:blip r:embed="rId3"/>
          <a:stretch>
            <a:fillRect/>
          </a:stretch>
        </p:blipFill>
        <p:spPr>
          <a:xfrm>
            <a:off x="914400" y="3886200"/>
            <a:ext cx="7591425" cy="2752725"/>
          </a:xfrm>
          <a:prstGeom prst="rect">
            <a:avLst/>
          </a:prstGeom>
        </p:spPr>
      </p:pic>
    </p:spTree>
    <p:extLst>
      <p:ext uri="{BB962C8B-B14F-4D97-AF65-F5344CB8AC3E}">
        <p14:creationId xmlns:p14="http://schemas.microsoft.com/office/powerpoint/2010/main" val="1383956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1066800"/>
          </a:xfrm>
        </p:spPr>
        <p:txBody>
          <a:bodyPr/>
          <a:lstStyle/>
          <a:p>
            <a:r>
              <a:rPr lang="en-US" dirty="0">
                <a:latin typeface="Times New Roman" panose="02020603050405020304" pitchFamily="18" charset="0"/>
                <a:cs typeface="Times New Roman" panose="02020603050405020304" pitchFamily="18" charset="0"/>
              </a:rPr>
              <a:t>R code</a:t>
            </a:r>
          </a:p>
        </p:txBody>
      </p:sp>
      <p:sp>
        <p:nvSpPr>
          <p:cNvPr id="2" name="Slide Number Placeholder 1"/>
          <p:cNvSpPr>
            <a:spLocks noGrp="1"/>
          </p:cNvSpPr>
          <p:nvPr>
            <p:ph type="sldNum" sz="quarter" idx="12"/>
          </p:nvPr>
        </p:nvSpPr>
        <p:spPr/>
        <p:txBody>
          <a:bodyPr/>
          <a:lstStyle/>
          <a:p>
            <a:fld id="{76F96C40-0356-46F5-90E5-FF57DE76D9A0}" type="slidenum">
              <a:rPr lang="en-US" smtClean="0"/>
              <a:t>28</a:t>
            </a:fld>
            <a:endParaRPr lang="en-US"/>
          </a:p>
        </p:txBody>
      </p:sp>
      <p:sp>
        <p:nvSpPr>
          <p:cNvPr id="7" name="Rectangle 3"/>
          <p:cNvSpPr txBox="1">
            <a:spLocks noChangeArrowheads="1"/>
          </p:cNvSpPr>
          <p:nvPr/>
        </p:nvSpPr>
        <p:spPr>
          <a:xfrm>
            <a:off x="685800" y="1371600"/>
            <a:ext cx="8686800" cy="41669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altLang="en-US" sz="2000" dirty="0">
                <a:latin typeface="Times New Roman" panose="02020603050405020304" pitchFamily="18" charset="0"/>
                <a:cs typeface="Times New Roman" panose="02020603050405020304" pitchFamily="18" charset="0"/>
              </a:rPr>
              <a:t>R code for K means</a:t>
            </a:r>
          </a:p>
        </p:txBody>
      </p:sp>
      <p:pic>
        <p:nvPicPr>
          <p:cNvPr id="3" name="Picture 2"/>
          <p:cNvPicPr>
            <a:picLocks noChangeAspect="1"/>
          </p:cNvPicPr>
          <p:nvPr/>
        </p:nvPicPr>
        <p:blipFill>
          <a:blip r:embed="rId2"/>
          <a:stretch>
            <a:fillRect/>
          </a:stretch>
        </p:blipFill>
        <p:spPr>
          <a:xfrm>
            <a:off x="914400" y="1812675"/>
            <a:ext cx="5305425" cy="1543050"/>
          </a:xfrm>
          <a:prstGeom prst="rect">
            <a:avLst/>
          </a:prstGeom>
        </p:spPr>
      </p:pic>
      <p:pic>
        <p:nvPicPr>
          <p:cNvPr id="8" name="Picture 7"/>
          <p:cNvPicPr>
            <a:picLocks noChangeAspect="1"/>
          </p:cNvPicPr>
          <p:nvPr/>
        </p:nvPicPr>
        <p:blipFill>
          <a:blip r:embed="rId3"/>
          <a:stretch>
            <a:fillRect/>
          </a:stretch>
        </p:blipFill>
        <p:spPr>
          <a:xfrm>
            <a:off x="914400" y="3355725"/>
            <a:ext cx="4619625" cy="1638300"/>
          </a:xfrm>
          <a:prstGeom prst="rect">
            <a:avLst/>
          </a:prstGeom>
        </p:spPr>
      </p:pic>
      <p:pic>
        <p:nvPicPr>
          <p:cNvPr id="9" name="Picture 8"/>
          <p:cNvPicPr>
            <a:picLocks noChangeAspect="1"/>
          </p:cNvPicPr>
          <p:nvPr/>
        </p:nvPicPr>
        <p:blipFill>
          <a:blip r:embed="rId4"/>
          <a:stretch>
            <a:fillRect/>
          </a:stretch>
        </p:blipFill>
        <p:spPr>
          <a:xfrm>
            <a:off x="902208" y="4994025"/>
            <a:ext cx="4467225" cy="1647825"/>
          </a:xfrm>
          <a:prstGeom prst="rect">
            <a:avLst/>
          </a:prstGeom>
        </p:spPr>
      </p:pic>
    </p:spTree>
    <p:extLst>
      <p:ext uri="{BB962C8B-B14F-4D97-AF65-F5344CB8AC3E}">
        <p14:creationId xmlns:p14="http://schemas.microsoft.com/office/powerpoint/2010/main" val="24539542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1066800"/>
          </a:xfrm>
        </p:spPr>
        <p:txBody>
          <a:bodyPr/>
          <a:lstStyle/>
          <a:p>
            <a:r>
              <a:rPr lang="en-US" dirty="0">
                <a:latin typeface="Times New Roman" panose="02020603050405020304" pitchFamily="18" charset="0"/>
                <a:cs typeface="Times New Roman" panose="02020603050405020304" pitchFamily="18" charset="0"/>
              </a:rPr>
              <a:t>R code</a:t>
            </a:r>
          </a:p>
        </p:txBody>
      </p:sp>
      <p:sp>
        <p:nvSpPr>
          <p:cNvPr id="2" name="Slide Number Placeholder 1"/>
          <p:cNvSpPr>
            <a:spLocks noGrp="1"/>
          </p:cNvSpPr>
          <p:nvPr>
            <p:ph type="sldNum" sz="quarter" idx="12"/>
          </p:nvPr>
        </p:nvSpPr>
        <p:spPr/>
        <p:txBody>
          <a:bodyPr/>
          <a:lstStyle/>
          <a:p>
            <a:fld id="{76F96C40-0356-46F5-90E5-FF57DE76D9A0}" type="slidenum">
              <a:rPr lang="en-US" smtClean="0"/>
              <a:t>29</a:t>
            </a:fld>
            <a:endParaRPr lang="en-US"/>
          </a:p>
        </p:txBody>
      </p:sp>
      <p:pic>
        <p:nvPicPr>
          <p:cNvPr id="5" name="Picture 4"/>
          <p:cNvPicPr>
            <a:picLocks noChangeAspect="1"/>
          </p:cNvPicPr>
          <p:nvPr/>
        </p:nvPicPr>
        <p:blipFill>
          <a:blip r:embed="rId2"/>
          <a:stretch>
            <a:fillRect/>
          </a:stretch>
        </p:blipFill>
        <p:spPr>
          <a:xfrm>
            <a:off x="914400" y="1295400"/>
            <a:ext cx="1704975" cy="361950"/>
          </a:xfrm>
          <a:prstGeom prst="rect">
            <a:avLst/>
          </a:prstGeom>
        </p:spPr>
      </p:pic>
      <p:pic>
        <p:nvPicPr>
          <p:cNvPr id="6" name="Picture 5"/>
          <p:cNvPicPr>
            <a:picLocks noChangeAspect="1"/>
          </p:cNvPicPr>
          <p:nvPr/>
        </p:nvPicPr>
        <p:blipFill>
          <a:blip r:embed="rId3"/>
          <a:stretch>
            <a:fillRect/>
          </a:stretch>
        </p:blipFill>
        <p:spPr>
          <a:xfrm>
            <a:off x="886968" y="1657350"/>
            <a:ext cx="2867025" cy="485775"/>
          </a:xfrm>
          <a:prstGeom prst="rect">
            <a:avLst/>
          </a:prstGeom>
        </p:spPr>
      </p:pic>
      <p:pic>
        <p:nvPicPr>
          <p:cNvPr id="10" name="Picture 9"/>
          <p:cNvPicPr>
            <a:picLocks noChangeAspect="1"/>
          </p:cNvPicPr>
          <p:nvPr/>
        </p:nvPicPr>
        <p:blipFill>
          <a:blip r:embed="rId4"/>
          <a:stretch>
            <a:fillRect/>
          </a:stretch>
        </p:blipFill>
        <p:spPr>
          <a:xfrm>
            <a:off x="853440" y="2143125"/>
            <a:ext cx="4667250" cy="2162175"/>
          </a:xfrm>
          <a:prstGeom prst="rect">
            <a:avLst/>
          </a:prstGeom>
        </p:spPr>
      </p:pic>
      <p:pic>
        <p:nvPicPr>
          <p:cNvPr id="11" name="Picture 10"/>
          <p:cNvPicPr>
            <a:picLocks noChangeAspect="1"/>
          </p:cNvPicPr>
          <p:nvPr/>
        </p:nvPicPr>
        <p:blipFill>
          <a:blip r:embed="rId5"/>
          <a:stretch>
            <a:fillRect/>
          </a:stretch>
        </p:blipFill>
        <p:spPr>
          <a:xfrm>
            <a:off x="876681" y="4305300"/>
            <a:ext cx="3181350" cy="1314450"/>
          </a:xfrm>
          <a:prstGeom prst="rect">
            <a:avLst/>
          </a:prstGeom>
        </p:spPr>
      </p:pic>
    </p:spTree>
    <p:extLst>
      <p:ext uri="{BB962C8B-B14F-4D97-AF65-F5344CB8AC3E}">
        <p14:creationId xmlns:p14="http://schemas.microsoft.com/office/powerpoint/2010/main" val="35424263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319310"/>
            <a:ext cx="6589199" cy="1280890"/>
          </a:xfrm>
        </p:spPr>
        <p:txBody>
          <a:bodyPr/>
          <a:lstStyle/>
          <a:p>
            <a:r>
              <a:rPr lang="en-US" dirty="0">
                <a:latin typeface="Times New Roman" panose="02020603050405020304" pitchFamily="18" charset="0"/>
                <a:cs typeface="Times New Roman" panose="02020603050405020304" pitchFamily="18" charset="0"/>
              </a:rPr>
              <a:t>Pros and cons</a:t>
            </a:r>
          </a:p>
        </p:txBody>
      </p:sp>
      <p:sp>
        <p:nvSpPr>
          <p:cNvPr id="3" name="Content Placeholder 2"/>
          <p:cNvSpPr>
            <a:spLocks noGrp="1"/>
          </p:cNvSpPr>
          <p:nvPr>
            <p:ph idx="1"/>
          </p:nvPr>
        </p:nvSpPr>
        <p:spPr>
          <a:xfrm>
            <a:off x="457200" y="1295400"/>
            <a:ext cx="8229600" cy="5181600"/>
          </a:xfrm>
        </p:spPr>
        <p:txBody>
          <a:bodyPr>
            <a:normAutofit fontScale="92500" lnSpcReduction="10000"/>
          </a:bodyPr>
          <a:lstStyle/>
          <a:p>
            <a:r>
              <a:rPr lang="en-US" sz="2400" dirty="0">
                <a:latin typeface="Times New Roman" panose="02020603050405020304" pitchFamily="18" charset="0"/>
                <a:cs typeface="Times New Roman" panose="02020603050405020304" pitchFamily="18" charset="0"/>
              </a:rPr>
              <a:t>Pros:</a:t>
            </a:r>
          </a:p>
          <a:p>
            <a:pPr lvl="1"/>
            <a:r>
              <a:rPr lang="en-US" sz="2200" dirty="0">
                <a:latin typeface="Times New Roman" panose="02020603050405020304" pitchFamily="18" charset="0"/>
                <a:cs typeface="Times New Roman" panose="02020603050405020304" pitchFamily="18" charset="0"/>
              </a:rPr>
              <a:t>Simple: It is easy to implement k-means and identify unknown groups of data from complex data sets. The results are presented in an easy and simple manner.</a:t>
            </a:r>
          </a:p>
          <a:p>
            <a:pPr lvl="1"/>
            <a:r>
              <a:rPr lang="en-US" sz="2200" dirty="0">
                <a:latin typeface="Times New Roman" panose="02020603050405020304" pitchFamily="18" charset="0"/>
                <a:cs typeface="Times New Roman" panose="02020603050405020304" pitchFamily="18" charset="0"/>
              </a:rPr>
              <a:t>Flexible: K-means algorithm can easily adjust to the changes. If there are any problems, adjusting the cluster segment will allow changes to easily occur on the algorithm.</a:t>
            </a:r>
          </a:p>
          <a:p>
            <a:pPr lvl="1"/>
            <a:r>
              <a:rPr lang="en-US" sz="2200" dirty="0">
                <a:latin typeface="Times New Roman" panose="02020603050405020304" pitchFamily="18" charset="0"/>
                <a:cs typeface="Times New Roman" panose="02020603050405020304" pitchFamily="18" charset="0"/>
              </a:rPr>
              <a:t>Suitable in a large dataset: K-means is suitable for a large number of datasets and it’s computed much faster than the smaller dataset. It can also produce higher clusters.</a:t>
            </a:r>
          </a:p>
          <a:p>
            <a:pPr lvl="1"/>
            <a:r>
              <a:rPr lang="en-US" sz="2200" dirty="0">
                <a:latin typeface="Times New Roman" panose="02020603050405020304" pitchFamily="18" charset="0"/>
                <a:cs typeface="Times New Roman" panose="02020603050405020304" pitchFamily="18" charset="0"/>
              </a:rPr>
              <a:t>Efficient: The algorithm used is good at segmenting the large data set. Its efficiency depends on the shape of the clusters. </a:t>
            </a:r>
          </a:p>
          <a:p>
            <a:pPr lvl="1"/>
            <a:r>
              <a:rPr lang="en-US" sz="2200" dirty="0">
                <a:latin typeface="Times New Roman" panose="02020603050405020304" pitchFamily="18" charset="0"/>
                <a:cs typeface="Times New Roman" panose="02020603050405020304" pitchFamily="18" charset="0"/>
              </a:rPr>
              <a:t>Time complexity: K-means segmentation is linear in the number of data objects thus increasing execution time. It doesn’t take more time in classifying similar characteristics in data like hierarchical algorithms.</a:t>
            </a:r>
          </a:p>
        </p:txBody>
      </p:sp>
      <p:sp>
        <p:nvSpPr>
          <p:cNvPr id="4" name="Slide Number Placeholder 3"/>
          <p:cNvSpPr>
            <a:spLocks noGrp="1"/>
          </p:cNvSpPr>
          <p:nvPr>
            <p:ph type="sldNum" sz="quarter" idx="12"/>
          </p:nvPr>
        </p:nvSpPr>
        <p:spPr/>
        <p:txBody>
          <a:bodyPr/>
          <a:lstStyle/>
          <a:p>
            <a:fld id="{76F96C40-0356-46F5-90E5-FF57DE76D9A0}" type="slidenum">
              <a:rPr lang="en-US" smtClean="0"/>
              <a:t>30</a:t>
            </a:fld>
            <a:endParaRPr lang="en-US"/>
          </a:p>
        </p:txBody>
      </p:sp>
      <p:sp>
        <p:nvSpPr>
          <p:cNvPr id="5" name="Rectangle 4"/>
          <p:cNvSpPr/>
          <p:nvPr/>
        </p:nvSpPr>
        <p:spPr>
          <a:xfrm>
            <a:off x="2133600" y="6550223"/>
            <a:ext cx="7010400" cy="307777"/>
          </a:xfrm>
          <a:prstGeom prst="rect">
            <a:avLst/>
          </a:prstGeom>
        </p:spPr>
        <p:txBody>
          <a:bodyPr wrap="square">
            <a:spAutoFit/>
          </a:bodyPr>
          <a:lstStyle/>
          <a:p>
            <a:r>
              <a:rPr lang="en-US" sz="1400" dirty="0"/>
              <a:t>https://www.prosancons.com/education/pros-and-cons-of-k-means-clustering/</a:t>
            </a:r>
          </a:p>
        </p:txBody>
      </p:sp>
    </p:spTree>
    <p:extLst>
      <p:ext uri="{BB962C8B-B14F-4D97-AF65-F5344CB8AC3E}">
        <p14:creationId xmlns:p14="http://schemas.microsoft.com/office/powerpoint/2010/main" val="2656393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319310"/>
            <a:ext cx="6589199" cy="1280890"/>
          </a:xfrm>
        </p:spPr>
        <p:txBody>
          <a:bodyPr/>
          <a:lstStyle/>
          <a:p>
            <a:r>
              <a:rPr lang="en-US" dirty="0">
                <a:latin typeface="Times New Roman" panose="02020603050405020304" pitchFamily="18" charset="0"/>
                <a:cs typeface="Times New Roman" panose="02020603050405020304" pitchFamily="18" charset="0"/>
              </a:rPr>
              <a:t>Pros and cons</a:t>
            </a:r>
          </a:p>
        </p:txBody>
      </p:sp>
      <p:sp>
        <p:nvSpPr>
          <p:cNvPr id="3" name="Content Placeholder 2"/>
          <p:cNvSpPr>
            <a:spLocks noGrp="1"/>
          </p:cNvSpPr>
          <p:nvPr>
            <p:ph idx="1"/>
          </p:nvPr>
        </p:nvSpPr>
        <p:spPr>
          <a:xfrm>
            <a:off x="457200" y="1295400"/>
            <a:ext cx="8229600" cy="5181600"/>
          </a:xfrm>
        </p:spPr>
        <p:txBody>
          <a:bodyPr>
            <a:normAutofit/>
          </a:bodyPr>
          <a:lstStyle/>
          <a:p>
            <a:r>
              <a:rPr lang="en-US" sz="2400" dirty="0">
                <a:latin typeface="Times New Roman" panose="02020603050405020304" pitchFamily="18" charset="0"/>
                <a:cs typeface="Times New Roman" panose="02020603050405020304" pitchFamily="18" charset="0"/>
              </a:rPr>
              <a:t>Cons:</a:t>
            </a:r>
          </a:p>
          <a:p>
            <a:pPr lvl="1"/>
            <a:r>
              <a:rPr lang="en-US" sz="2200" dirty="0">
                <a:latin typeface="Times New Roman" panose="02020603050405020304" pitchFamily="18" charset="0"/>
                <a:cs typeface="Times New Roman" panose="02020603050405020304" pitchFamily="18" charset="0"/>
              </a:rPr>
              <a:t>Lacks consistency: K-means clustering gives varying results on different runs of an algorithm. A random choice of cluster patterns yields different clustering results resulting in inconsistency.</a:t>
            </a:r>
          </a:p>
          <a:p>
            <a:pPr lvl="1"/>
            <a:r>
              <a:rPr lang="en-US" sz="2200" dirty="0">
                <a:latin typeface="Times New Roman" panose="02020603050405020304" pitchFamily="18" charset="0"/>
                <a:cs typeface="Times New Roman" panose="02020603050405020304" pitchFamily="18" charset="0"/>
              </a:rPr>
              <a:t>Sensitivity to scale: Changing or rescaling the dataset either through normalization or standardization will completely change the final results.</a:t>
            </a:r>
          </a:p>
          <a:p>
            <a:pPr lvl="1"/>
            <a:r>
              <a:rPr lang="en-US" sz="2200" dirty="0">
                <a:latin typeface="Times New Roman" panose="02020603050405020304" pitchFamily="18" charset="0"/>
                <a:cs typeface="Times New Roman" panose="02020603050405020304" pitchFamily="18" charset="0"/>
              </a:rPr>
              <a:t>Handle numerical data: K-means algorithm can be performed in numerical data only.</a:t>
            </a:r>
          </a:p>
          <a:p>
            <a:pPr lvl="1"/>
            <a:r>
              <a:rPr lang="en-US" sz="2200" dirty="0">
                <a:latin typeface="Times New Roman" panose="02020603050405020304" pitchFamily="18" charset="0"/>
                <a:cs typeface="Times New Roman" panose="02020603050405020304" pitchFamily="18" charset="0"/>
              </a:rPr>
              <a:t>Prediction issues: It is difficult to predict the k-values or the number of clusters. It is also difficult to compare the quality of the produced clusters.</a:t>
            </a:r>
          </a:p>
        </p:txBody>
      </p:sp>
      <p:sp>
        <p:nvSpPr>
          <p:cNvPr id="4" name="Slide Number Placeholder 3"/>
          <p:cNvSpPr>
            <a:spLocks noGrp="1"/>
          </p:cNvSpPr>
          <p:nvPr>
            <p:ph type="sldNum" sz="quarter" idx="12"/>
          </p:nvPr>
        </p:nvSpPr>
        <p:spPr/>
        <p:txBody>
          <a:bodyPr/>
          <a:lstStyle/>
          <a:p>
            <a:fld id="{76F96C40-0356-46F5-90E5-FF57DE76D9A0}" type="slidenum">
              <a:rPr lang="en-US" smtClean="0"/>
              <a:t>31</a:t>
            </a:fld>
            <a:endParaRPr lang="en-US"/>
          </a:p>
        </p:txBody>
      </p:sp>
      <p:sp>
        <p:nvSpPr>
          <p:cNvPr id="5" name="Rectangle 4"/>
          <p:cNvSpPr/>
          <p:nvPr/>
        </p:nvSpPr>
        <p:spPr>
          <a:xfrm>
            <a:off x="2133600" y="6550223"/>
            <a:ext cx="7010400" cy="307777"/>
          </a:xfrm>
          <a:prstGeom prst="rect">
            <a:avLst/>
          </a:prstGeom>
        </p:spPr>
        <p:txBody>
          <a:bodyPr wrap="square">
            <a:spAutoFit/>
          </a:bodyPr>
          <a:lstStyle/>
          <a:p>
            <a:r>
              <a:rPr lang="en-US" sz="1400" dirty="0"/>
              <a:t>https://www.prosancons.com/education/pros-and-cons-of-k-means-clustering/</a:t>
            </a:r>
          </a:p>
        </p:txBody>
      </p:sp>
    </p:spTree>
    <p:extLst>
      <p:ext uri="{BB962C8B-B14F-4D97-AF65-F5344CB8AC3E}">
        <p14:creationId xmlns:p14="http://schemas.microsoft.com/office/powerpoint/2010/main" val="4191847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85900" y="204773"/>
            <a:ext cx="6172200" cy="765572"/>
          </a:xfrm>
        </p:spPr>
        <p:txBody>
          <a:bodyPr/>
          <a:lstStyle/>
          <a:p>
            <a:pPr>
              <a:defRPr/>
            </a:pPr>
            <a:r>
              <a:rPr lang="en-US" sz="2400" i="1" dirty="0">
                <a:latin typeface="Times New Roman" panose="02020603050405020304" pitchFamily="18" charset="0"/>
                <a:cs typeface="Times New Roman" panose="02020603050405020304" pitchFamily="18" charset="0"/>
              </a:rPr>
              <a:t>k</a:t>
            </a:r>
            <a:r>
              <a:rPr lang="en-US" sz="2400" dirty="0">
                <a:latin typeface="Times New Roman" panose="02020603050405020304" pitchFamily="18" charset="0"/>
                <a:cs typeface="Times New Roman" panose="02020603050405020304" pitchFamily="18" charset="0"/>
              </a:rPr>
              <a:t>-Nearest Neighbors (</a:t>
            </a:r>
            <a:r>
              <a:rPr lang="en-US" sz="2400" i="1" dirty="0">
                <a:latin typeface="Times New Roman" panose="02020603050405020304" pitchFamily="18" charset="0"/>
                <a:cs typeface="Times New Roman" panose="02020603050405020304" pitchFamily="18" charset="0"/>
              </a:rPr>
              <a:t>k</a:t>
            </a:r>
            <a:r>
              <a:rPr lang="en-US" sz="2400" dirty="0">
                <a:latin typeface="Times New Roman" panose="02020603050405020304" pitchFamily="18" charset="0"/>
                <a:cs typeface="Times New Roman" panose="02020603050405020304" pitchFamily="18" charset="0"/>
              </a:rPr>
              <a:t>-NN) - Supervised</a:t>
            </a:r>
          </a:p>
        </p:txBody>
      </p:sp>
      <p:sp>
        <p:nvSpPr>
          <p:cNvPr id="60417" name="Content Placeholder 1"/>
          <p:cNvSpPr>
            <a:spLocks noGrp="1"/>
          </p:cNvSpPr>
          <p:nvPr>
            <p:ph idx="1"/>
          </p:nvPr>
        </p:nvSpPr>
        <p:spPr>
          <a:xfrm>
            <a:off x="685800" y="1152908"/>
            <a:ext cx="8081557" cy="4286249"/>
          </a:xfrm>
        </p:spPr>
        <p:txBody>
          <a:bodyPr>
            <a:noAutofit/>
          </a:bodyPr>
          <a:lstStyle/>
          <a:p>
            <a:pPr algn="just">
              <a:spcBef>
                <a:spcPts val="900"/>
              </a:spcBef>
            </a:pPr>
            <a:r>
              <a:rPr lang="en-US" sz="2000" dirty="0">
                <a:latin typeface="Times New Roman" panose="02020603050405020304" pitchFamily="18" charset="0"/>
                <a:cs typeface="Times New Roman" panose="02020603050405020304" pitchFamily="18" charset="0"/>
              </a:rPr>
              <a:t>Measure the Euclidean distance between records in the training data set.</a:t>
            </a:r>
          </a:p>
          <a:p>
            <a:pPr algn="just"/>
            <a:r>
              <a:rPr lang="en-US" sz="2000" dirty="0">
                <a:latin typeface="Times New Roman" panose="02020603050405020304" pitchFamily="18" charset="0"/>
                <a:cs typeface="Times New Roman" panose="02020603050405020304" pitchFamily="18" charset="0"/>
              </a:rPr>
              <a:t>The nearest neighbor to a record in the training data set is the one that that has the smallest distance from it.</a:t>
            </a:r>
          </a:p>
          <a:p>
            <a:pPr lvl="1" algn="just" eaLnBrk="1" hangingPunct="1"/>
            <a:r>
              <a:rPr lang="en-US" sz="2000" dirty="0">
                <a:latin typeface="Times New Roman" panose="02020603050405020304" pitchFamily="18" charset="0"/>
                <a:cs typeface="Times New Roman" panose="02020603050405020304" pitchFamily="18" charset="0"/>
              </a:rPr>
              <a:t>If </a:t>
            </a:r>
            <a:r>
              <a:rPr lang="en-US" sz="2000" i="1" dirty="0">
                <a:latin typeface="Times New Roman" panose="02020603050405020304" pitchFamily="18" charset="0"/>
                <a:cs typeface="Times New Roman" panose="02020603050405020304" pitchFamily="18" charset="0"/>
              </a:rPr>
              <a:t>k </a:t>
            </a:r>
            <a:r>
              <a:rPr lang="en-US" sz="2000" dirty="0">
                <a:latin typeface="Times New Roman" panose="02020603050405020304" pitchFamily="18" charset="0"/>
                <a:cs typeface="Times New Roman" panose="02020603050405020304" pitchFamily="18" charset="0"/>
              </a:rPr>
              <a:t>= 1, then the 1-NN rule classifies a record in the same category as its nearest neighbor.</a:t>
            </a:r>
          </a:p>
          <a:p>
            <a:pPr lvl="1" algn="just"/>
            <a:r>
              <a:rPr lang="en-US" sz="2000" i="1" dirty="0">
                <a:latin typeface="Times New Roman" panose="02020603050405020304" pitchFamily="18" charset="0"/>
                <a:cs typeface="Times New Roman" panose="02020603050405020304" pitchFamily="18" charset="0"/>
              </a:rPr>
              <a:t>k</a:t>
            </a:r>
            <a:r>
              <a:rPr lang="en-US" sz="2000" dirty="0">
                <a:latin typeface="Times New Roman" panose="02020603050405020304" pitchFamily="18" charset="0"/>
                <a:cs typeface="Times New Roman" panose="02020603050405020304" pitchFamily="18" charset="0"/>
              </a:rPr>
              <a:t>-NN rule finds the </a:t>
            </a:r>
            <a:r>
              <a:rPr lang="en-US" sz="2000" i="1" dirty="0">
                <a:latin typeface="Times New Roman" panose="02020603050405020304" pitchFamily="18" charset="0"/>
                <a:cs typeface="Times New Roman" panose="02020603050405020304" pitchFamily="18" charset="0"/>
              </a:rPr>
              <a:t>k</a:t>
            </a:r>
            <a:r>
              <a:rPr lang="en-US" sz="2000" dirty="0">
                <a:latin typeface="Times New Roman" panose="02020603050405020304" pitchFamily="18" charset="0"/>
                <a:cs typeface="Times New Roman" panose="02020603050405020304" pitchFamily="18" charset="0"/>
              </a:rPr>
              <a:t>-Nearest Neighbors in the training data set to each record we want to classify and then assigns the classification as the classification of majority of the </a:t>
            </a:r>
            <a:r>
              <a:rPr lang="en-US" sz="2000" i="1" dirty="0">
                <a:latin typeface="Times New Roman" panose="02020603050405020304" pitchFamily="18" charset="0"/>
                <a:cs typeface="Times New Roman" panose="02020603050405020304" pitchFamily="18" charset="0"/>
              </a:rPr>
              <a:t>k</a:t>
            </a:r>
            <a:r>
              <a:rPr lang="en-US" sz="2000" dirty="0">
                <a:latin typeface="Times New Roman" panose="02020603050405020304" pitchFamily="18" charset="0"/>
                <a:cs typeface="Times New Roman" panose="02020603050405020304" pitchFamily="18" charset="0"/>
              </a:rPr>
              <a:t> nearest neighbors</a:t>
            </a:r>
          </a:p>
          <a:p>
            <a:pPr algn="just">
              <a:spcBef>
                <a:spcPts val="900"/>
              </a:spcBef>
            </a:pPr>
            <a:r>
              <a:rPr lang="en-US" sz="2000" dirty="0">
                <a:latin typeface="Times New Roman" panose="02020603050405020304" pitchFamily="18" charset="0"/>
                <a:cs typeface="Times New Roman" panose="02020603050405020304" pitchFamily="18" charset="0"/>
              </a:rPr>
              <a:t>Typically, various values of </a:t>
            </a:r>
            <a:r>
              <a:rPr lang="en-US" sz="2000" i="1" dirty="0">
                <a:latin typeface="Times New Roman" panose="02020603050405020304" pitchFamily="18" charset="0"/>
                <a:cs typeface="Times New Roman" panose="02020603050405020304" pitchFamily="18" charset="0"/>
              </a:rPr>
              <a:t>k </a:t>
            </a:r>
            <a:r>
              <a:rPr lang="en-US" sz="2000" dirty="0">
                <a:latin typeface="Times New Roman" panose="02020603050405020304" pitchFamily="18" charset="0"/>
                <a:cs typeface="Times New Roman" panose="02020603050405020304" pitchFamily="18" charset="0"/>
              </a:rPr>
              <a:t>are used and then results inspected to determine which is best.</a:t>
            </a:r>
          </a:p>
        </p:txBody>
      </p:sp>
      <p:sp>
        <p:nvSpPr>
          <p:cNvPr id="2" name="Slide Number Placeholder 1"/>
          <p:cNvSpPr>
            <a:spLocks noGrp="1"/>
          </p:cNvSpPr>
          <p:nvPr>
            <p:ph type="sldNum" sz="quarter" idx="12"/>
          </p:nvPr>
        </p:nvSpPr>
        <p:spPr/>
        <p:txBody>
          <a:bodyPr/>
          <a:lstStyle/>
          <a:p>
            <a:fld id="{3B60663A-D731-422C-B01D-A30E991BA9F9}" type="slidenum">
              <a:rPr lang="en-US" smtClean="0"/>
              <a:t>32</a:t>
            </a:fld>
            <a:endParaRPr lang="en-US"/>
          </a:p>
        </p:txBody>
      </p:sp>
    </p:spTree>
    <p:extLst>
      <p:ext uri="{BB962C8B-B14F-4D97-AF65-F5344CB8AC3E}">
        <p14:creationId xmlns:p14="http://schemas.microsoft.com/office/powerpoint/2010/main" val="41198405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KNN Example</a:t>
            </a:r>
          </a:p>
        </p:txBody>
      </p:sp>
      <p:sp>
        <p:nvSpPr>
          <p:cNvPr id="4" name="Slide Number Placeholder 3"/>
          <p:cNvSpPr>
            <a:spLocks noGrp="1"/>
          </p:cNvSpPr>
          <p:nvPr>
            <p:ph type="sldNum" sz="quarter" idx="12"/>
          </p:nvPr>
        </p:nvSpPr>
        <p:spPr/>
        <p:txBody>
          <a:bodyPr/>
          <a:lstStyle/>
          <a:p>
            <a:fld id="{3B60663A-D731-422C-B01D-A30E991BA9F9}" type="slidenum">
              <a:rPr lang="en-US" smtClean="0"/>
              <a:t>33</a:t>
            </a:fld>
            <a:endParaRPr lang="en-US"/>
          </a:p>
        </p:txBody>
      </p:sp>
      <p:cxnSp>
        <p:nvCxnSpPr>
          <p:cNvPr id="9" name="Straight Arrow Connector 8"/>
          <p:cNvCxnSpPr/>
          <p:nvPr/>
        </p:nvCxnSpPr>
        <p:spPr>
          <a:xfrm>
            <a:off x="2693324" y="5005730"/>
            <a:ext cx="4457700" cy="0"/>
          </a:xfrm>
          <a:prstGeom prst="straightConnector1">
            <a:avLst/>
          </a:prstGeom>
          <a:ln w="444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flipH="1" flipV="1">
            <a:off x="1083876" y="3392803"/>
            <a:ext cx="3223260" cy="0"/>
          </a:xfrm>
          <a:prstGeom prst="straightConnector1">
            <a:avLst/>
          </a:prstGeom>
          <a:ln w="444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499701" y="2858089"/>
            <a:ext cx="322524" cy="300082"/>
          </a:xfrm>
          <a:prstGeom prst="rect">
            <a:avLst/>
          </a:prstGeom>
          <a:noFill/>
        </p:spPr>
        <p:txBody>
          <a:bodyPr wrap="none" rtlCol="0">
            <a:spAutoFit/>
          </a:bodyPr>
          <a:lstStyle/>
          <a:p>
            <a:r>
              <a:rPr lang="en-US" sz="1350" dirty="0"/>
              <a:t>m</a:t>
            </a:r>
          </a:p>
        </p:txBody>
      </p:sp>
      <p:sp>
        <p:nvSpPr>
          <p:cNvPr id="12" name="TextBox 11"/>
          <p:cNvSpPr txBox="1"/>
          <p:nvPr/>
        </p:nvSpPr>
        <p:spPr>
          <a:xfrm>
            <a:off x="3670476" y="2960290"/>
            <a:ext cx="322524" cy="300082"/>
          </a:xfrm>
          <a:prstGeom prst="rect">
            <a:avLst/>
          </a:prstGeom>
          <a:noFill/>
        </p:spPr>
        <p:txBody>
          <a:bodyPr wrap="none" rtlCol="0">
            <a:spAutoFit/>
          </a:bodyPr>
          <a:lstStyle/>
          <a:p>
            <a:r>
              <a:rPr lang="en-US" sz="1350" dirty="0"/>
              <a:t>m</a:t>
            </a:r>
          </a:p>
        </p:txBody>
      </p:sp>
      <p:sp>
        <p:nvSpPr>
          <p:cNvPr id="13" name="TextBox 12"/>
          <p:cNvSpPr txBox="1"/>
          <p:nvPr/>
        </p:nvSpPr>
        <p:spPr>
          <a:xfrm>
            <a:off x="3277095" y="3062490"/>
            <a:ext cx="322524" cy="300082"/>
          </a:xfrm>
          <a:prstGeom prst="rect">
            <a:avLst/>
          </a:prstGeom>
          <a:noFill/>
        </p:spPr>
        <p:txBody>
          <a:bodyPr wrap="none" rtlCol="0">
            <a:spAutoFit/>
          </a:bodyPr>
          <a:lstStyle/>
          <a:p>
            <a:r>
              <a:rPr lang="en-US" sz="1350" dirty="0"/>
              <a:t>m</a:t>
            </a:r>
          </a:p>
        </p:txBody>
      </p:sp>
      <p:sp>
        <p:nvSpPr>
          <p:cNvPr id="14" name="TextBox 13"/>
          <p:cNvSpPr txBox="1"/>
          <p:nvPr/>
        </p:nvSpPr>
        <p:spPr>
          <a:xfrm>
            <a:off x="3878703" y="3186818"/>
            <a:ext cx="322524" cy="300082"/>
          </a:xfrm>
          <a:prstGeom prst="rect">
            <a:avLst/>
          </a:prstGeom>
          <a:noFill/>
        </p:spPr>
        <p:txBody>
          <a:bodyPr wrap="none" rtlCol="0">
            <a:spAutoFit/>
          </a:bodyPr>
          <a:lstStyle/>
          <a:p>
            <a:r>
              <a:rPr lang="en-US" sz="1350" dirty="0"/>
              <a:t>m</a:t>
            </a:r>
          </a:p>
        </p:txBody>
      </p:sp>
      <p:sp>
        <p:nvSpPr>
          <p:cNvPr id="15" name="TextBox 14"/>
          <p:cNvSpPr txBox="1"/>
          <p:nvPr/>
        </p:nvSpPr>
        <p:spPr>
          <a:xfrm>
            <a:off x="3555084" y="3218290"/>
            <a:ext cx="322524" cy="300082"/>
          </a:xfrm>
          <a:prstGeom prst="rect">
            <a:avLst/>
          </a:prstGeom>
          <a:noFill/>
        </p:spPr>
        <p:txBody>
          <a:bodyPr wrap="none" rtlCol="0">
            <a:spAutoFit/>
          </a:bodyPr>
          <a:lstStyle/>
          <a:p>
            <a:r>
              <a:rPr lang="en-US" sz="1350" dirty="0"/>
              <a:t>m</a:t>
            </a:r>
          </a:p>
        </p:txBody>
      </p:sp>
      <p:sp>
        <p:nvSpPr>
          <p:cNvPr id="16" name="TextBox 15"/>
          <p:cNvSpPr txBox="1"/>
          <p:nvPr/>
        </p:nvSpPr>
        <p:spPr>
          <a:xfrm>
            <a:off x="3349299" y="3705348"/>
            <a:ext cx="322524" cy="300082"/>
          </a:xfrm>
          <a:prstGeom prst="rect">
            <a:avLst/>
          </a:prstGeom>
          <a:noFill/>
        </p:spPr>
        <p:txBody>
          <a:bodyPr wrap="none" rtlCol="0">
            <a:spAutoFit/>
          </a:bodyPr>
          <a:lstStyle/>
          <a:p>
            <a:r>
              <a:rPr lang="en-US" sz="1350" dirty="0"/>
              <a:t>m</a:t>
            </a:r>
          </a:p>
        </p:txBody>
      </p:sp>
      <p:sp>
        <p:nvSpPr>
          <p:cNvPr id="17" name="TextBox 16"/>
          <p:cNvSpPr txBox="1"/>
          <p:nvPr/>
        </p:nvSpPr>
        <p:spPr>
          <a:xfrm>
            <a:off x="3610364" y="3464191"/>
            <a:ext cx="322524" cy="300082"/>
          </a:xfrm>
          <a:prstGeom prst="rect">
            <a:avLst/>
          </a:prstGeom>
          <a:noFill/>
        </p:spPr>
        <p:txBody>
          <a:bodyPr wrap="none" rtlCol="0">
            <a:spAutoFit/>
          </a:bodyPr>
          <a:lstStyle/>
          <a:p>
            <a:r>
              <a:rPr lang="en-US" sz="1350" dirty="0"/>
              <a:t>m</a:t>
            </a:r>
          </a:p>
        </p:txBody>
      </p:sp>
      <p:sp>
        <p:nvSpPr>
          <p:cNvPr id="18" name="TextBox 17"/>
          <p:cNvSpPr txBox="1"/>
          <p:nvPr/>
        </p:nvSpPr>
        <p:spPr>
          <a:xfrm>
            <a:off x="3267566" y="3363431"/>
            <a:ext cx="322524" cy="300082"/>
          </a:xfrm>
          <a:prstGeom prst="rect">
            <a:avLst/>
          </a:prstGeom>
          <a:noFill/>
        </p:spPr>
        <p:txBody>
          <a:bodyPr wrap="none" rtlCol="0">
            <a:spAutoFit/>
          </a:bodyPr>
          <a:lstStyle/>
          <a:p>
            <a:r>
              <a:rPr lang="en-US" sz="1350" dirty="0"/>
              <a:t>m</a:t>
            </a:r>
          </a:p>
        </p:txBody>
      </p:sp>
      <p:sp>
        <p:nvSpPr>
          <p:cNvPr id="19" name="TextBox 18"/>
          <p:cNvSpPr txBox="1"/>
          <p:nvPr/>
        </p:nvSpPr>
        <p:spPr>
          <a:xfrm>
            <a:off x="4858753" y="3048319"/>
            <a:ext cx="237566" cy="300082"/>
          </a:xfrm>
          <a:prstGeom prst="rect">
            <a:avLst/>
          </a:prstGeom>
          <a:noFill/>
        </p:spPr>
        <p:txBody>
          <a:bodyPr wrap="none" rtlCol="0">
            <a:spAutoFit/>
          </a:bodyPr>
          <a:lstStyle/>
          <a:p>
            <a:r>
              <a:rPr lang="en-US" sz="1350" dirty="0"/>
              <a:t>f</a:t>
            </a:r>
          </a:p>
        </p:txBody>
      </p:sp>
      <p:sp>
        <p:nvSpPr>
          <p:cNvPr id="20" name="TextBox 19"/>
          <p:cNvSpPr txBox="1"/>
          <p:nvPr/>
        </p:nvSpPr>
        <p:spPr>
          <a:xfrm>
            <a:off x="5459628" y="3187192"/>
            <a:ext cx="237566" cy="300082"/>
          </a:xfrm>
          <a:prstGeom prst="rect">
            <a:avLst/>
          </a:prstGeom>
          <a:noFill/>
        </p:spPr>
        <p:txBody>
          <a:bodyPr wrap="none" rtlCol="0">
            <a:spAutoFit/>
          </a:bodyPr>
          <a:lstStyle/>
          <a:p>
            <a:r>
              <a:rPr lang="en-US" sz="1350" dirty="0"/>
              <a:t>f</a:t>
            </a:r>
          </a:p>
        </p:txBody>
      </p:sp>
      <p:sp>
        <p:nvSpPr>
          <p:cNvPr id="21" name="TextBox 20"/>
          <p:cNvSpPr txBox="1"/>
          <p:nvPr/>
        </p:nvSpPr>
        <p:spPr>
          <a:xfrm>
            <a:off x="5288452" y="2878645"/>
            <a:ext cx="237566" cy="300082"/>
          </a:xfrm>
          <a:prstGeom prst="rect">
            <a:avLst/>
          </a:prstGeom>
          <a:noFill/>
        </p:spPr>
        <p:txBody>
          <a:bodyPr wrap="none" rtlCol="0">
            <a:spAutoFit/>
          </a:bodyPr>
          <a:lstStyle/>
          <a:p>
            <a:r>
              <a:rPr lang="en-US" sz="1350" dirty="0"/>
              <a:t>f</a:t>
            </a:r>
          </a:p>
        </p:txBody>
      </p:sp>
      <p:sp>
        <p:nvSpPr>
          <p:cNvPr id="22" name="TextBox 21"/>
          <p:cNvSpPr txBox="1"/>
          <p:nvPr/>
        </p:nvSpPr>
        <p:spPr>
          <a:xfrm>
            <a:off x="5222618" y="3405390"/>
            <a:ext cx="237566" cy="300082"/>
          </a:xfrm>
          <a:prstGeom prst="rect">
            <a:avLst/>
          </a:prstGeom>
          <a:noFill/>
        </p:spPr>
        <p:txBody>
          <a:bodyPr wrap="none" rtlCol="0">
            <a:spAutoFit/>
          </a:bodyPr>
          <a:lstStyle/>
          <a:p>
            <a:r>
              <a:rPr lang="en-US" sz="1350" dirty="0"/>
              <a:t>f</a:t>
            </a:r>
          </a:p>
        </p:txBody>
      </p:sp>
      <p:sp>
        <p:nvSpPr>
          <p:cNvPr id="23" name="TextBox 22"/>
          <p:cNvSpPr txBox="1"/>
          <p:nvPr/>
        </p:nvSpPr>
        <p:spPr>
          <a:xfrm>
            <a:off x="5174467" y="3659217"/>
            <a:ext cx="237566" cy="300082"/>
          </a:xfrm>
          <a:prstGeom prst="rect">
            <a:avLst/>
          </a:prstGeom>
          <a:noFill/>
        </p:spPr>
        <p:txBody>
          <a:bodyPr wrap="none" rtlCol="0">
            <a:spAutoFit/>
          </a:bodyPr>
          <a:lstStyle/>
          <a:p>
            <a:r>
              <a:rPr lang="en-US" sz="1350" dirty="0"/>
              <a:t>f</a:t>
            </a:r>
          </a:p>
        </p:txBody>
      </p:sp>
      <p:sp>
        <p:nvSpPr>
          <p:cNvPr id="24" name="TextBox 23"/>
          <p:cNvSpPr txBox="1"/>
          <p:nvPr/>
        </p:nvSpPr>
        <p:spPr>
          <a:xfrm>
            <a:off x="5133235" y="3135088"/>
            <a:ext cx="237566" cy="300082"/>
          </a:xfrm>
          <a:prstGeom prst="rect">
            <a:avLst/>
          </a:prstGeom>
          <a:noFill/>
        </p:spPr>
        <p:txBody>
          <a:bodyPr wrap="none" rtlCol="0">
            <a:spAutoFit/>
          </a:bodyPr>
          <a:lstStyle/>
          <a:p>
            <a:r>
              <a:rPr lang="en-US" sz="1350" dirty="0"/>
              <a:t>f</a:t>
            </a:r>
          </a:p>
        </p:txBody>
      </p:sp>
      <p:sp>
        <p:nvSpPr>
          <p:cNvPr id="25" name="TextBox 24"/>
          <p:cNvSpPr txBox="1"/>
          <p:nvPr/>
        </p:nvSpPr>
        <p:spPr>
          <a:xfrm>
            <a:off x="5652229" y="3521520"/>
            <a:ext cx="237566" cy="300082"/>
          </a:xfrm>
          <a:prstGeom prst="rect">
            <a:avLst/>
          </a:prstGeom>
          <a:noFill/>
        </p:spPr>
        <p:txBody>
          <a:bodyPr wrap="none" rtlCol="0">
            <a:spAutoFit/>
          </a:bodyPr>
          <a:lstStyle/>
          <a:p>
            <a:r>
              <a:rPr lang="en-US" sz="1350" dirty="0"/>
              <a:t>f</a:t>
            </a:r>
          </a:p>
        </p:txBody>
      </p:sp>
      <p:sp>
        <p:nvSpPr>
          <p:cNvPr id="26" name="TextBox 25"/>
          <p:cNvSpPr txBox="1"/>
          <p:nvPr/>
        </p:nvSpPr>
        <p:spPr>
          <a:xfrm>
            <a:off x="4819861" y="3546130"/>
            <a:ext cx="237566" cy="300082"/>
          </a:xfrm>
          <a:prstGeom prst="rect">
            <a:avLst/>
          </a:prstGeom>
          <a:noFill/>
        </p:spPr>
        <p:txBody>
          <a:bodyPr wrap="none" rtlCol="0">
            <a:spAutoFit/>
          </a:bodyPr>
          <a:lstStyle/>
          <a:p>
            <a:r>
              <a:rPr lang="en-US" sz="1350" dirty="0"/>
              <a:t>f</a:t>
            </a:r>
          </a:p>
        </p:txBody>
      </p:sp>
      <p:sp>
        <p:nvSpPr>
          <p:cNvPr id="27" name="TextBox 26"/>
          <p:cNvSpPr txBox="1"/>
          <p:nvPr/>
        </p:nvSpPr>
        <p:spPr>
          <a:xfrm flipH="1">
            <a:off x="4378414" y="3179749"/>
            <a:ext cx="265808" cy="300082"/>
          </a:xfrm>
          <a:prstGeom prst="rect">
            <a:avLst/>
          </a:prstGeom>
          <a:noFill/>
        </p:spPr>
        <p:txBody>
          <a:bodyPr wrap="square" rtlCol="0">
            <a:spAutoFit/>
          </a:bodyPr>
          <a:lstStyle/>
          <a:p>
            <a:r>
              <a:rPr lang="en-US" sz="1350" dirty="0">
                <a:solidFill>
                  <a:srgbClr val="FF0000"/>
                </a:solidFill>
              </a:rPr>
              <a:t>u</a:t>
            </a:r>
          </a:p>
        </p:txBody>
      </p:sp>
      <p:sp>
        <p:nvSpPr>
          <p:cNvPr id="28" name="Oval 27"/>
          <p:cNvSpPr/>
          <p:nvPr/>
        </p:nvSpPr>
        <p:spPr>
          <a:xfrm>
            <a:off x="3946997" y="2824990"/>
            <a:ext cx="1090898" cy="109089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TextBox 2"/>
          <p:cNvSpPr txBox="1"/>
          <p:nvPr/>
        </p:nvSpPr>
        <p:spPr>
          <a:xfrm>
            <a:off x="5526018" y="1676400"/>
            <a:ext cx="1484382" cy="381000"/>
          </a:xfrm>
          <a:prstGeom prst="rect">
            <a:avLst/>
          </a:prstGeom>
          <a:noFill/>
        </p:spPr>
        <p:txBody>
          <a:bodyPr wrap="square" rtlCol="0">
            <a:spAutoFit/>
          </a:bodyPr>
          <a:lstStyle/>
          <a:p>
            <a:r>
              <a:rPr lang="en-US" dirty="0"/>
              <a:t>K=3</a:t>
            </a:r>
          </a:p>
        </p:txBody>
      </p:sp>
    </p:spTree>
    <p:extLst>
      <p:ext uri="{BB962C8B-B14F-4D97-AF65-F5344CB8AC3E}">
        <p14:creationId xmlns:p14="http://schemas.microsoft.com/office/powerpoint/2010/main" val="3870173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barn(inVertical)">
                                      <p:cBhvr>
                                        <p:cTn id="1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F376BFFEBE008478A0EC19FFC5CAE25" ma:contentTypeVersion="2" ma:contentTypeDescription="Create a new document." ma:contentTypeScope="" ma:versionID="222da272828c52aae3aea7aac679f7eb">
  <xsd:schema xmlns:xsd="http://www.w3.org/2001/XMLSchema" xmlns:xs="http://www.w3.org/2001/XMLSchema" xmlns:p="http://schemas.microsoft.com/office/2006/metadata/properties" xmlns:ns2="54f0c67b-9c4f-47ec-b2e9-282ef016d26c" targetNamespace="http://schemas.microsoft.com/office/2006/metadata/properties" ma:root="true" ma:fieldsID="9c3027e3c2b9147528be8a0aa63380b9" ns2:_="">
    <xsd:import namespace="54f0c67b-9c4f-47ec-b2e9-282ef016d26c"/>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f0c67b-9c4f-47ec-b2e9-282ef016d2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5D723A8-8F2D-40AB-B702-7A14AB144743}">
  <ds:schemaRefs>
    <ds:schemaRef ds:uri="http://schemas.microsoft.com/sharepoint/v3/contenttype/forms"/>
  </ds:schemaRefs>
</ds:datastoreItem>
</file>

<file path=customXml/itemProps2.xml><?xml version="1.0" encoding="utf-8"?>
<ds:datastoreItem xmlns:ds="http://schemas.openxmlformats.org/officeDocument/2006/customXml" ds:itemID="{7E12C979-BA54-4A55-BD49-D57B58A8F3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f0c67b-9c4f-47ec-b2e9-282ef016d2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7CD63F7-2574-4FDC-A708-B0A08C44BE6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Wisp</Template>
  <TotalTime>13431</TotalTime>
  <Words>3999</Words>
  <Application>Microsoft Office PowerPoint</Application>
  <PresentationFormat>On-screen Show (4:3)</PresentationFormat>
  <Paragraphs>324</Paragraphs>
  <Slides>33</Slides>
  <Notes>23</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Arial</vt:lpstr>
      <vt:lpstr>Calibri</vt:lpstr>
      <vt:lpstr>Cambria Math</vt:lpstr>
      <vt:lpstr>Century Gothic</vt:lpstr>
      <vt:lpstr>Courier New</vt:lpstr>
      <vt:lpstr>Monotype Sorts</vt:lpstr>
      <vt:lpstr>Times New Roman</vt:lpstr>
      <vt:lpstr>Wingdings</vt:lpstr>
      <vt:lpstr>Wingdings 3</vt:lpstr>
      <vt:lpstr>Wisp</vt:lpstr>
      <vt:lpstr>Machine Learning</vt:lpstr>
      <vt:lpstr>Lesson Outline</vt:lpstr>
      <vt:lpstr>Conducting Unsupervised Learning</vt:lpstr>
      <vt:lpstr>General Algorithms</vt:lpstr>
      <vt:lpstr>How to Define Inter-Intra Similarity</vt:lpstr>
      <vt:lpstr>How to Define Inter-Cluster Similarity</vt:lpstr>
      <vt:lpstr>How to Define Inter-Cluster Similarity</vt:lpstr>
      <vt:lpstr>How to Define Inter-Cluster Similarity</vt:lpstr>
      <vt:lpstr>How to Define Inter-Cluster Similarity</vt:lpstr>
      <vt:lpstr>Concepts in Clustering</vt:lpstr>
      <vt:lpstr>Hierarchical Clustering</vt:lpstr>
      <vt:lpstr>How does it work?</vt:lpstr>
      <vt:lpstr>PowerPoint Presentation</vt:lpstr>
      <vt:lpstr>k-Means Clustering</vt:lpstr>
      <vt:lpstr>k-Means Clustering</vt:lpstr>
      <vt:lpstr>K-means Algorithm</vt:lpstr>
      <vt:lpstr>K-means Algorithm</vt:lpstr>
      <vt:lpstr>K-means Algorithm</vt:lpstr>
      <vt:lpstr>PowerPoint Presentation</vt:lpstr>
      <vt:lpstr>PowerPoint Presentation</vt:lpstr>
      <vt:lpstr>PowerPoint Presentation</vt:lpstr>
      <vt:lpstr>Iris dataset</vt:lpstr>
      <vt:lpstr>Iris dataset</vt:lpstr>
      <vt:lpstr>Graphical representation</vt:lpstr>
      <vt:lpstr>Elbow method</vt:lpstr>
      <vt:lpstr>PowerPoint Presentation</vt:lpstr>
      <vt:lpstr>PowerPoint Presentation</vt:lpstr>
      <vt:lpstr>R code</vt:lpstr>
      <vt:lpstr>R code</vt:lpstr>
      <vt:lpstr>Pros and cons</vt:lpstr>
      <vt:lpstr>Pros and cons</vt:lpstr>
      <vt:lpstr>k-Nearest Neighbors (k-NN) - Supervised</vt:lpstr>
      <vt:lpstr>KNN Example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I</dc:title>
  <dc:creator>Marvine</dc:creator>
  <cp:lastModifiedBy>Roozbeh Sadeghian</cp:lastModifiedBy>
  <cp:revision>609</cp:revision>
  <dcterms:created xsi:type="dcterms:W3CDTF">2016-06-23T19:27:44Z</dcterms:created>
  <dcterms:modified xsi:type="dcterms:W3CDTF">2023-06-27T21:17:17Z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0x010100FF376BFFEBE008478A0EC19FFC5CAE25</vt:lpwstr>
  </property>
</Properties>
</file>