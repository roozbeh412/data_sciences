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Lst>
  <p:notesMasterIdLst>
    <p:notesMasterId r:id="rId32"/>
  </p:notesMasterIdLst>
  <p:handoutMasterIdLst>
    <p:handoutMasterId r:id="rId33"/>
  </p:handoutMasterIdLst>
  <p:sldIdLst>
    <p:sldId id="256" r:id="rId5"/>
    <p:sldId id="283" r:id="rId6"/>
    <p:sldId id="257" r:id="rId7"/>
    <p:sldId id="258" r:id="rId8"/>
    <p:sldId id="259" r:id="rId9"/>
    <p:sldId id="260" r:id="rId10"/>
    <p:sldId id="261" r:id="rId11"/>
    <p:sldId id="262" r:id="rId12"/>
    <p:sldId id="263" r:id="rId13"/>
    <p:sldId id="264" r:id="rId14"/>
    <p:sldId id="284" r:id="rId15"/>
    <p:sldId id="267" r:id="rId16"/>
    <p:sldId id="268" r:id="rId17"/>
    <p:sldId id="269" r:id="rId18"/>
    <p:sldId id="270" r:id="rId19"/>
    <p:sldId id="271" r:id="rId20"/>
    <p:sldId id="281" r:id="rId21"/>
    <p:sldId id="282" r:id="rId22"/>
    <p:sldId id="272" r:id="rId23"/>
    <p:sldId id="273" r:id="rId24"/>
    <p:sldId id="274" r:id="rId25"/>
    <p:sldId id="276" r:id="rId26"/>
    <p:sldId id="277" r:id="rId27"/>
    <p:sldId id="275" r:id="rId28"/>
    <p:sldId id="278" r:id="rId29"/>
    <p:sldId id="279" r:id="rId30"/>
    <p:sldId id="280" r:id="rId31"/>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6" autoAdjust="0"/>
    <p:restoredTop sz="91789" autoAdjust="0"/>
  </p:normalViewPr>
  <p:slideViewPr>
    <p:cSldViewPr>
      <p:cViewPr varScale="1">
        <p:scale>
          <a:sx n="96" d="100"/>
          <a:sy n="96" d="100"/>
        </p:scale>
        <p:origin x="600" y="6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1670" y="-77"/>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1116E695-EEC6-4836-B040-895557B78F57}" type="datetimeFigureOut">
              <a:rPr lang="en-US" smtClean="0"/>
              <a:t>7/19/2023</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77B6B2A4-95D1-4DB0-81E0-F4335691F164}" type="slidenum">
              <a:rPr lang="en-US" smtClean="0"/>
              <a:t>‹#›</a:t>
            </a:fld>
            <a:endParaRPr lang="en-US"/>
          </a:p>
        </p:txBody>
      </p:sp>
    </p:spTree>
    <p:extLst>
      <p:ext uri="{BB962C8B-B14F-4D97-AF65-F5344CB8AC3E}">
        <p14:creationId xmlns:p14="http://schemas.microsoft.com/office/powerpoint/2010/main" val="1410207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83F5D42-D8C1-4DAB-B388-35B930361576}" type="datetimeFigureOut">
              <a:rPr lang="en-US" smtClean="0"/>
              <a:t>7/19/2023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72D4B71-1EF1-4D07-950D-945192FC58E8}" type="slidenum">
              <a:rPr lang="en-US" smtClean="0"/>
              <a:t>‹#›</a:t>
            </a:fld>
            <a:endParaRPr lang="en-US"/>
          </a:p>
        </p:txBody>
      </p:sp>
    </p:spTree>
    <p:extLst>
      <p:ext uri="{BB962C8B-B14F-4D97-AF65-F5344CB8AC3E}">
        <p14:creationId xmlns:p14="http://schemas.microsoft.com/office/powerpoint/2010/main" val="40933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D4B71-1EF1-4D07-950D-945192FC58E8}" type="slidenum">
              <a:rPr lang="en-US" smtClean="0"/>
              <a:t>1</a:t>
            </a:fld>
            <a:endParaRPr lang="en-US"/>
          </a:p>
        </p:txBody>
      </p:sp>
    </p:spTree>
    <p:extLst>
      <p:ext uri="{BB962C8B-B14F-4D97-AF65-F5344CB8AC3E}">
        <p14:creationId xmlns:p14="http://schemas.microsoft.com/office/powerpoint/2010/main" val="329475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see the test set the model will be biased</a:t>
            </a:r>
          </a:p>
        </p:txBody>
      </p:sp>
      <p:sp>
        <p:nvSpPr>
          <p:cNvPr id="4" name="Slide Number Placeholder 3"/>
          <p:cNvSpPr>
            <a:spLocks noGrp="1"/>
          </p:cNvSpPr>
          <p:nvPr>
            <p:ph type="sldNum" sz="quarter" idx="10"/>
          </p:nvPr>
        </p:nvSpPr>
        <p:spPr/>
        <p:txBody>
          <a:bodyPr/>
          <a:lstStyle/>
          <a:p>
            <a:fld id="{072D4B71-1EF1-4D07-950D-945192FC58E8}" type="slidenum">
              <a:rPr lang="en-US" smtClean="0"/>
              <a:t>2</a:t>
            </a:fld>
            <a:endParaRPr lang="en-US"/>
          </a:p>
        </p:txBody>
      </p:sp>
    </p:spTree>
    <p:extLst>
      <p:ext uri="{BB962C8B-B14F-4D97-AF65-F5344CB8AC3E}">
        <p14:creationId xmlns:p14="http://schemas.microsoft.com/office/powerpoint/2010/main" val="200792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see the test set the model will be biased</a:t>
            </a:r>
          </a:p>
        </p:txBody>
      </p:sp>
      <p:sp>
        <p:nvSpPr>
          <p:cNvPr id="4" name="Slide Number Placeholder 3"/>
          <p:cNvSpPr>
            <a:spLocks noGrp="1"/>
          </p:cNvSpPr>
          <p:nvPr>
            <p:ph type="sldNum" sz="quarter" idx="10"/>
          </p:nvPr>
        </p:nvSpPr>
        <p:spPr/>
        <p:txBody>
          <a:bodyPr/>
          <a:lstStyle/>
          <a:p>
            <a:fld id="{072D4B71-1EF1-4D07-950D-945192FC58E8}" type="slidenum">
              <a:rPr lang="en-US" smtClean="0"/>
              <a:t>3</a:t>
            </a:fld>
            <a:endParaRPr lang="en-US"/>
          </a:p>
        </p:txBody>
      </p:sp>
    </p:spTree>
    <p:extLst>
      <p:ext uri="{BB962C8B-B14F-4D97-AF65-F5344CB8AC3E}">
        <p14:creationId xmlns:p14="http://schemas.microsoft.com/office/powerpoint/2010/main" val="3066607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6EF6EA-3DDB-4E97-9D5F-CF9E20D7986C}"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619119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43504F-6E7F-4E92-B419-B9FA6DB898B0}"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139064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35B43D-2507-4E48-96A3-EBB83438B161}"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384527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E5B3A6-5B88-4124-A866-26DFBF1A984E}"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4210453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81346B-9613-4957-893E-1129E647A8D0}" type="datetime1">
              <a:rPr lang="en-US" smtClean="0"/>
              <a:t>7/19/2023</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43031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D497B5-0219-4D82-B950-0AB2ACF5F8BE}" type="datetime1">
              <a:rPr lang="en-US" smtClean="0"/>
              <a:t>7/19/2023</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611712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36EEF-C93E-4C69-A26D-EF59CFC30568}" type="datetime1">
              <a:rPr lang="en-US" smtClean="0"/>
              <a:t>7/19/2023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944765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57E847B-F488-4C42-B238-D1DEB4678D7F}"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237911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4CEE9F9-BF6A-46EF-AF13-9E773A3D50A0}"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186791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A934AD-9E65-490D-B543-C42AEAC6FDED}"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41303102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A934AD-9E65-490D-B543-C42AEAC6FDED}"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4593548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A934AD-9E65-490D-B543-C42AEAC6FDED}"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423643597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A934AD-9E65-490D-B543-C42AEAC6FDED}"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5908887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A934AD-9E65-490D-B543-C42AEAC6FDED}" type="datetime1">
              <a:rPr lang="en-US" smtClean="0"/>
              <a:t>7/19/2023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36326220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0F82D-1FAA-4049-B30C-EA4C0B669B4D}"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701181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12268-CB6B-46C0-A2A6-D6BBF5462B80}" type="datetime1">
              <a:rPr lang="en-US" smtClean="0"/>
              <a:t>7/19/2023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181010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6A934AD-9E65-490D-B543-C42AEAC6FDED}" type="datetime1">
              <a:rPr lang="en-US" smtClean="0"/>
              <a:t>7/19/2023</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76F96C40-0356-46F5-90E5-FF57DE76D9A0}" type="slidenum">
              <a:rPr lang="en-US" smtClean="0"/>
              <a:t>‹#›</a:t>
            </a:fld>
            <a:endParaRPr lang="en-US"/>
          </a:p>
        </p:txBody>
      </p:sp>
    </p:spTree>
    <p:extLst>
      <p:ext uri="{BB962C8B-B14F-4D97-AF65-F5344CB8AC3E}">
        <p14:creationId xmlns:p14="http://schemas.microsoft.com/office/powerpoint/2010/main" val="72854616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atin typeface="Times New Roman" panose="02020603050405020304" pitchFamily="18" charset="0"/>
                <a:cs typeface="Times New Roman" panose="02020603050405020304" pitchFamily="18" charset="0"/>
              </a:rPr>
              <a:t>Machine Learning</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dirty="0">
                <a:latin typeface="Times New Roman" panose="02020603050405020304" pitchFamily="18" charset="0"/>
                <a:cs typeface="Times New Roman" panose="02020603050405020304" pitchFamily="18" charset="0"/>
              </a:rPr>
              <a:t>Lectures 11 – Model Evaluation</a:t>
            </a:r>
          </a:p>
        </p:txBody>
      </p:sp>
      <p:sp>
        <p:nvSpPr>
          <p:cNvPr id="4" name="Slide Number Placeholder 3"/>
          <p:cNvSpPr>
            <a:spLocks noGrp="1"/>
          </p:cNvSpPr>
          <p:nvPr>
            <p:ph type="sldNum" sz="quarter" idx="12"/>
          </p:nvPr>
        </p:nvSpPr>
        <p:spPr/>
        <p:txBody>
          <a:bodyPr/>
          <a:lstStyle/>
          <a:p>
            <a:fld id="{76F96C40-0356-46F5-90E5-FF57DE76D9A0}" type="slidenum">
              <a:rPr lang="en-US" smtClean="0"/>
              <a:t>1</a:t>
            </a:fld>
            <a:endParaRPr lang="en-US"/>
          </a:p>
        </p:txBody>
      </p:sp>
    </p:spTree>
    <p:extLst>
      <p:ext uri="{BB962C8B-B14F-4D97-AF65-F5344CB8AC3E}">
        <p14:creationId xmlns:p14="http://schemas.microsoft.com/office/powerpoint/2010/main" val="13775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Model Evaluation</a:t>
            </a:r>
          </a:p>
        </p:txBody>
      </p:sp>
      <p:sp>
        <p:nvSpPr>
          <p:cNvPr id="3" name="Content Placeholder 2"/>
          <p:cNvSpPr>
            <a:spLocks noGrp="1"/>
          </p:cNvSpPr>
          <p:nvPr>
            <p:ph idx="1"/>
          </p:nvPr>
        </p:nvSpPr>
        <p:spPr>
          <a:xfrm>
            <a:off x="803717" y="1447800"/>
            <a:ext cx="7883083" cy="5181600"/>
          </a:xfrm>
        </p:spPr>
        <p:txBody>
          <a:bodyPr>
            <a:normAutofit fontScale="77500" lnSpcReduction="20000"/>
          </a:bodyPr>
          <a:lstStyle/>
          <a:p>
            <a:r>
              <a:rPr lang="en-US" sz="2800" dirty="0">
                <a:latin typeface="Times New Roman" panose="02020603050405020304" pitchFamily="18" charset="0"/>
                <a:cs typeface="Times New Roman" panose="02020603050405020304" pitchFamily="18" charset="0"/>
              </a:rPr>
              <a:t>Test options refers to the technique used to evaluate the accuracy of a model on unseen data.</a:t>
            </a:r>
          </a:p>
          <a:p>
            <a:r>
              <a:rPr lang="en-US" sz="2800" dirty="0">
                <a:latin typeface="Times New Roman" panose="02020603050405020304" pitchFamily="18" charset="0"/>
                <a:cs typeface="Times New Roman" panose="02020603050405020304" pitchFamily="18" charset="0"/>
              </a:rPr>
              <a:t>They are often referred to as resampling methods in statistics.</a:t>
            </a:r>
          </a:p>
          <a:p>
            <a:r>
              <a:rPr lang="en-US" sz="2800" dirty="0">
                <a:latin typeface="Times New Roman" panose="02020603050405020304" pitchFamily="18" charset="0"/>
                <a:cs typeface="Times New Roman" panose="02020603050405020304" pitchFamily="18" charset="0"/>
              </a:rPr>
              <a:t>Test options that are generally recommend include:</a:t>
            </a:r>
          </a:p>
          <a:p>
            <a:pPr lvl="1"/>
            <a:r>
              <a:rPr lang="en-US" sz="2600" b="1" dirty="0">
                <a:latin typeface="Times New Roman" panose="02020603050405020304" pitchFamily="18" charset="0"/>
                <a:cs typeface="Times New Roman" panose="02020603050405020304" pitchFamily="18" charset="0"/>
              </a:rPr>
              <a:t>Train/Test split</a:t>
            </a:r>
            <a:r>
              <a:rPr lang="en-US" sz="2600" dirty="0">
                <a:latin typeface="Times New Roman" panose="02020603050405020304" pitchFamily="18" charset="0"/>
                <a:cs typeface="Times New Roman" panose="02020603050405020304" pitchFamily="18" charset="0"/>
              </a:rPr>
              <a:t>: if you have a lot of data and determine you need a lot of data to build accurate models</a:t>
            </a:r>
          </a:p>
          <a:p>
            <a:pPr lvl="1"/>
            <a:r>
              <a:rPr lang="en-US" sz="2600" b="1" dirty="0">
                <a:latin typeface="Times New Roman" panose="02020603050405020304" pitchFamily="18" charset="0"/>
                <a:cs typeface="Times New Roman" panose="02020603050405020304" pitchFamily="18" charset="0"/>
              </a:rPr>
              <a:t>Cross Validation</a:t>
            </a:r>
            <a:r>
              <a:rPr lang="en-US" sz="2600" dirty="0">
                <a:latin typeface="Times New Roman" panose="02020603050405020304" pitchFamily="18" charset="0"/>
                <a:cs typeface="Times New Roman" panose="02020603050405020304" pitchFamily="18" charset="0"/>
              </a:rPr>
              <a:t>: 5 folds or 10 folds provide a commonly used tradeoff of speed of compute time and generalize error estimate.</a:t>
            </a:r>
          </a:p>
          <a:p>
            <a:pPr lvl="1"/>
            <a:r>
              <a:rPr lang="en-US" sz="2600" b="1" dirty="0">
                <a:latin typeface="Times New Roman" panose="02020603050405020304" pitchFamily="18" charset="0"/>
                <a:cs typeface="Times New Roman" panose="02020603050405020304" pitchFamily="18" charset="0"/>
              </a:rPr>
              <a:t>Repeated Cross Validation</a:t>
            </a:r>
            <a:r>
              <a:rPr lang="en-US" sz="2600" dirty="0">
                <a:latin typeface="Times New Roman" panose="02020603050405020304" pitchFamily="18" charset="0"/>
                <a:cs typeface="Times New Roman" panose="02020603050405020304" pitchFamily="18" charset="0"/>
              </a:rPr>
              <a:t>: 5- or 10-fold cross validation and 3 or more repeats to give a more robust estimate, only if you have a small dataset and can afford the time.</a:t>
            </a:r>
          </a:p>
          <a:p>
            <a:r>
              <a:rPr lang="en-US" sz="2800" dirty="0">
                <a:latin typeface="Times New Roman" panose="02020603050405020304" pitchFamily="18" charset="0"/>
                <a:cs typeface="Times New Roman" panose="02020603050405020304" pitchFamily="18" charset="0"/>
              </a:rPr>
              <a:t>Note: We are staying away from time slice methods of sampling data because we are not getting into time series modeling.</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2</a:t>
            </a:fld>
            <a:endParaRPr lang="en-US"/>
          </a:p>
        </p:txBody>
      </p:sp>
    </p:spTree>
    <p:extLst>
      <p:ext uri="{BB962C8B-B14F-4D97-AF65-F5344CB8AC3E}">
        <p14:creationId xmlns:p14="http://schemas.microsoft.com/office/powerpoint/2010/main" val="3363462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Review a General Model</a:t>
            </a:r>
          </a:p>
        </p:txBody>
      </p:sp>
      <p:sp>
        <p:nvSpPr>
          <p:cNvPr id="3" name="Content Placeholder 2"/>
          <p:cNvSpPr>
            <a:spLocks noGrp="1"/>
          </p:cNvSpPr>
          <p:nvPr>
            <p:ph idx="1"/>
          </p:nvPr>
        </p:nvSpPr>
        <p:spPr>
          <a:xfrm>
            <a:off x="1371600" y="1443037"/>
            <a:ext cx="6591985" cy="4387222"/>
          </a:xfrm>
        </p:spPr>
        <p:txBody>
          <a:bodyPr/>
          <a:lstStyle/>
          <a:p>
            <a:r>
              <a:rPr lang="en-US" sz="2800" dirty="0">
                <a:latin typeface="Times New Roman" panose="02020603050405020304" pitchFamily="18" charset="0"/>
                <a:cs typeface="Times New Roman" panose="02020603050405020304" pitchFamily="18" charset="0"/>
              </a:rPr>
              <a:t>Remember a Model diagram</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3</a:t>
            </a:fld>
            <a:endParaRPr lang="en-US"/>
          </a:p>
        </p:txBody>
      </p:sp>
      <p:pic>
        <p:nvPicPr>
          <p:cNvPr id="5" name="Picture 4"/>
          <p:cNvPicPr>
            <a:picLocks noChangeAspect="1"/>
          </p:cNvPicPr>
          <p:nvPr/>
        </p:nvPicPr>
        <p:blipFill>
          <a:blip r:embed="rId3"/>
          <a:stretch>
            <a:fillRect/>
          </a:stretch>
        </p:blipFill>
        <p:spPr>
          <a:xfrm>
            <a:off x="929372" y="1880279"/>
            <a:ext cx="5791200" cy="4795864"/>
          </a:xfrm>
          <a:prstGeom prst="rect">
            <a:avLst/>
          </a:prstGeom>
        </p:spPr>
      </p:pic>
      <p:sp>
        <p:nvSpPr>
          <p:cNvPr id="6" name="TextBox 5"/>
          <p:cNvSpPr txBox="1"/>
          <p:nvPr/>
        </p:nvSpPr>
        <p:spPr>
          <a:xfrm>
            <a:off x="6720572" y="6434077"/>
            <a:ext cx="2514600" cy="400110"/>
          </a:xfrm>
          <a:prstGeom prst="rect">
            <a:avLst/>
          </a:prstGeom>
          <a:noFill/>
        </p:spPr>
        <p:txBody>
          <a:bodyPr wrap="square" rtlCol="0">
            <a:spAutoFit/>
          </a:bodyPr>
          <a:lstStyle/>
          <a:p>
            <a:r>
              <a:rPr lang="en-US" sz="1000" dirty="0"/>
              <a:t>CS 760 (Machine learning)- University of Wisconsin, D. Page</a:t>
            </a:r>
          </a:p>
        </p:txBody>
      </p:sp>
    </p:spTree>
    <p:extLst>
      <p:ext uri="{BB962C8B-B14F-4D97-AF65-F5344CB8AC3E}">
        <p14:creationId xmlns:p14="http://schemas.microsoft.com/office/powerpoint/2010/main" val="2696497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Review a General Model</a:t>
            </a:r>
          </a:p>
        </p:txBody>
      </p:sp>
      <p:sp>
        <p:nvSpPr>
          <p:cNvPr id="3" name="Content Placeholder 2"/>
          <p:cNvSpPr>
            <a:spLocks noGrp="1"/>
          </p:cNvSpPr>
          <p:nvPr>
            <p:ph idx="1"/>
          </p:nvPr>
        </p:nvSpPr>
        <p:spPr>
          <a:xfrm>
            <a:off x="511228" y="1295623"/>
            <a:ext cx="7924800" cy="4387222"/>
          </a:xfrm>
        </p:spPr>
        <p:txBody>
          <a:bodyPr/>
          <a:lstStyle/>
          <a:p>
            <a:r>
              <a:rPr lang="en-US" sz="2800" dirty="0">
                <a:latin typeface="Times New Roman" panose="02020603050405020304" pitchFamily="18" charset="0"/>
                <a:cs typeface="Times New Roman" panose="02020603050405020304" pitchFamily="18" charset="0"/>
              </a:rPr>
              <a:t>We use the training set to train the model</a:t>
            </a:r>
          </a:p>
          <a:p>
            <a:r>
              <a:rPr lang="en-US" sz="2800" dirty="0">
                <a:latin typeface="Times New Roman" panose="02020603050405020304" pitchFamily="18" charset="0"/>
                <a:cs typeface="Times New Roman" panose="02020603050405020304" pitchFamily="18" charset="0"/>
              </a:rPr>
              <a:t>The test set will be used just ONE time to find the accuracy of the model</a:t>
            </a:r>
          </a:p>
          <a:p>
            <a:r>
              <a:rPr lang="en-US" sz="2800" dirty="0">
                <a:latin typeface="Times New Roman" panose="02020603050405020304" pitchFamily="18" charset="0"/>
                <a:cs typeface="Times New Roman" panose="02020603050405020304" pitchFamily="18" charset="0"/>
              </a:rPr>
              <a:t>If the test-set labels influence the learned model in any way, accuracy estimates will be </a:t>
            </a:r>
            <a:r>
              <a:rPr lang="en-US" sz="2800" i="1" dirty="0">
                <a:latin typeface="Times New Roman" panose="02020603050405020304" pitchFamily="18" charset="0"/>
                <a:cs typeface="Times New Roman" panose="02020603050405020304" pitchFamily="18" charset="0"/>
              </a:rPr>
              <a:t>biased</a:t>
            </a:r>
          </a:p>
          <a:p>
            <a:r>
              <a:rPr lang="en-US" sz="2800" dirty="0">
                <a:latin typeface="Times New Roman" panose="02020603050405020304" pitchFamily="18" charset="0"/>
                <a:cs typeface="Times New Roman" panose="02020603050405020304" pitchFamily="18" charset="0"/>
              </a:rPr>
              <a:t>The question is: how can we design an accurate model with less amount of data for training?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4</a:t>
            </a:fld>
            <a:endParaRPr lang="en-US"/>
          </a:p>
        </p:txBody>
      </p:sp>
    </p:spTree>
    <p:extLst>
      <p:ext uri="{BB962C8B-B14F-4D97-AF65-F5344CB8AC3E}">
        <p14:creationId xmlns:p14="http://schemas.microsoft.com/office/powerpoint/2010/main" val="2168317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Learning Curves</a:t>
            </a:r>
          </a:p>
        </p:txBody>
      </p:sp>
      <p:sp>
        <p:nvSpPr>
          <p:cNvPr id="3" name="Content Placeholder 2"/>
          <p:cNvSpPr>
            <a:spLocks noGrp="1"/>
          </p:cNvSpPr>
          <p:nvPr>
            <p:ph idx="1"/>
          </p:nvPr>
        </p:nvSpPr>
        <p:spPr>
          <a:xfrm>
            <a:off x="622616" y="1262174"/>
            <a:ext cx="8368984" cy="4387222"/>
          </a:xfrm>
        </p:spPr>
        <p:txBody>
          <a:bodyPr/>
          <a:lstStyle/>
          <a:p>
            <a:r>
              <a:rPr lang="en-US" sz="2800" dirty="0">
                <a:latin typeface="Times New Roman" panose="02020603050405020304" pitchFamily="18" charset="0"/>
                <a:cs typeface="Times New Roman" panose="02020603050405020304" pitchFamily="18" charset="0"/>
              </a:rPr>
              <a:t>We can see how the accuracy of a learning method change as a function of the training-set size through "learning curves"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5</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pic>
        <p:nvPicPr>
          <p:cNvPr id="5" name="Picture 4"/>
          <p:cNvPicPr>
            <a:picLocks noChangeAspect="1"/>
          </p:cNvPicPr>
          <p:nvPr/>
        </p:nvPicPr>
        <p:blipFill>
          <a:blip r:embed="rId2"/>
          <a:stretch>
            <a:fillRect/>
          </a:stretch>
        </p:blipFill>
        <p:spPr>
          <a:xfrm>
            <a:off x="2824162" y="2524095"/>
            <a:ext cx="5943600" cy="4143375"/>
          </a:xfrm>
          <a:prstGeom prst="rect">
            <a:avLst/>
          </a:prstGeom>
        </p:spPr>
      </p:pic>
    </p:spTree>
    <p:extLst>
      <p:ext uri="{BB962C8B-B14F-4D97-AF65-F5344CB8AC3E}">
        <p14:creationId xmlns:p14="http://schemas.microsoft.com/office/powerpoint/2010/main" val="2542202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Learning Curves</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How is it designed?</a:t>
            </a:r>
          </a:p>
          <a:p>
            <a:r>
              <a:rPr lang="en-US" sz="2800" dirty="0">
                <a:latin typeface="Times New Roman" panose="02020603050405020304" pitchFamily="18" charset="0"/>
                <a:cs typeface="Times New Roman" panose="02020603050405020304" pitchFamily="18" charset="0"/>
              </a:rPr>
              <a:t>Given training/test set partition </a:t>
            </a:r>
          </a:p>
          <a:p>
            <a:pPr marL="0" indent="0">
              <a:buNone/>
            </a:pPr>
            <a:r>
              <a:rPr lang="en-US" sz="2800" dirty="0">
                <a:latin typeface="Times New Roman" panose="02020603050405020304" pitchFamily="18" charset="0"/>
                <a:cs typeface="Times New Roman" panose="02020603050405020304" pitchFamily="18" charset="0"/>
              </a:rPr>
              <a:t>	for each sample size </a:t>
            </a:r>
            <a:r>
              <a:rPr lang="en-US" sz="2800" i="1" dirty="0">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 on learning curve </a:t>
            </a:r>
          </a:p>
          <a:p>
            <a:pPr marL="0" indent="0">
              <a:buNone/>
            </a:pPr>
            <a:r>
              <a:rPr lang="en-US" sz="2800" dirty="0">
                <a:latin typeface="Times New Roman" panose="02020603050405020304" pitchFamily="18" charset="0"/>
                <a:cs typeface="Times New Roman" panose="02020603050405020304" pitchFamily="18" charset="0"/>
              </a:rPr>
              <a:t>		(optionally) repeat </a:t>
            </a:r>
            <a:r>
              <a:rPr lang="en-US" sz="2800" i="1"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 times </a:t>
            </a:r>
          </a:p>
          <a:p>
            <a:pPr marL="0" indent="0">
              <a:buNone/>
            </a:pPr>
            <a:r>
              <a:rPr lang="en-US" sz="28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randomly select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instances from training set </a:t>
            </a:r>
          </a:p>
          <a:p>
            <a:pPr lvl="2">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learn model </a:t>
            </a:r>
          </a:p>
          <a:p>
            <a:pPr lvl="2">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evaluate model on test set to determine accuracy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plot (</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or (s, avg. accuracy and error bars)</a:t>
            </a: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6</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spTree>
    <p:extLst>
      <p:ext uri="{BB962C8B-B14F-4D97-AF65-F5344CB8AC3E}">
        <p14:creationId xmlns:p14="http://schemas.microsoft.com/office/powerpoint/2010/main" val="176530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Validation Set</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If we want unbiased estimates of accuracy during the learning process, we can use validation set</a:t>
            </a: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7</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pic>
        <p:nvPicPr>
          <p:cNvPr id="5" name="Picture 4"/>
          <p:cNvPicPr>
            <a:picLocks noChangeAspect="1"/>
          </p:cNvPicPr>
          <p:nvPr/>
        </p:nvPicPr>
        <p:blipFill>
          <a:blip r:embed="rId2"/>
          <a:stretch>
            <a:fillRect/>
          </a:stretch>
        </p:blipFill>
        <p:spPr>
          <a:xfrm>
            <a:off x="784667" y="2357377"/>
            <a:ext cx="7953375" cy="4076700"/>
          </a:xfrm>
          <a:prstGeom prst="rect">
            <a:avLst/>
          </a:prstGeom>
        </p:spPr>
      </p:pic>
    </p:spTree>
    <p:extLst>
      <p:ext uri="{BB962C8B-B14F-4D97-AF65-F5344CB8AC3E}">
        <p14:creationId xmlns:p14="http://schemas.microsoft.com/office/powerpoint/2010/main" val="211862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Cross validation</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How can we use this validation set to be more beneficial?</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8</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pic>
        <p:nvPicPr>
          <p:cNvPr id="7" name="Picture 6"/>
          <p:cNvPicPr>
            <a:picLocks noChangeAspect="1"/>
          </p:cNvPicPr>
          <p:nvPr/>
        </p:nvPicPr>
        <p:blipFill>
          <a:blip r:embed="rId2"/>
          <a:stretch>
            <a:fillRect/>
          </a:stretch>
        </p:blipFill>
        <p:spPr>
          <a:xfrm>
            <a:off x="603566" y="2229222"/>
            <a:ext cx="8170647" cy="4228668"/>
          </a:xfrm>
          <a:prstGeom prst="rect">
            <a:avLst/>
          </a:prstGeom>
        </p:spPr>
      </p:pic>
    </p:spTree>
    <p:extLst>
      <p:ext uri="{BB962C8B-B14F-4D97-AF65-F5344CB8AC3E}">
        <p14:creationId xmlns:p14="http://schemas.microsoft.com/office/powerpoint/2010/main" val="2165054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Cross validation</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Suppose we have 100 instances, and we want to estimate accuracy with cross validation </a:t>
            </a: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9</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pic>
        <p:nvPicPr>
          <p:cNvPr id="5" name="Picture 4"/>
          <p:cNvPicPr>
            <a:picLocks noChangeAspect="1"/>
          </p:cNvPicPr>
          <p:nvPr/>
        </p:nvPicPr>
        <p:blipFill>
          <a:blip r:embed="rId2"/>
          <a:stretch>
            <a:fillRect/>
          </a:stretch>
        </p:blipFill>
        <p:spPr>
          <a:xfrm>
            <a:off x="914399" y="2667000"/>
            <a:ext cx="7738419" cy="3429000"/>
          </a:xfrm>
          <a:prstGeom prst="rect">
            <a:avLst/>
          </a:prstGeom>
        </p:spPr>
      </p:pic>
    </p:spTree>
    <p:extLst>
      <p:ext uri="{BB962C8B-B14F-4D97-AF65-F5344CB8AC3E}">
        <p14:creationId xmlns:p14="http://schemas.microsoft.com/office/powerpoint/2010/main" val="3138035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lstStyle/>
          <a:p>
            <a:r>
              <a:rPr lang="en-US" dirty="0">
                <a:latin typeface="Times New Roman" panose="02020603050405020304" pitchFamily="18" charset="0"/>
                <a:cs typeface="Times New Roman" panose="02020603050405020304" pitchFamily="18" charset="0"/>
              </a:rPr>
              <a:t>Cross validation</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10-fold cross validation is common (n=10), but smaller values of n are often used when learning takes a lot of time. </a:t>
            </a:r>
          </a:p>
          <a:p>
            <a:r>
              <a:rPr lang="en-US" sz="2800" dirty="0">
                <a:latin typeface="Times New Roman" panose="02020603050405020304" pitchFamily="18" charset="0"/>
                <a:cs typeface="Times New Roman" panose="02020603050405020304" pitchFamily="18" charset="0"/>
              </a:rPr>
              <a:t>In leave-one-out cross validation, n = # instances </a:t>
            </a:r>
          </a:p>
          <a:p>
            <a:r>
              <a:rPr lang="en-US" sz="2800" dirty="0">
                <a:latin typeface="Times New Roman" panose="02020603050405020304" pitchFamily="18" charset="0"/>
                <a:cs typeface="Times New Roman" panose="02020603050405020304" pitchFamily="18" charset="0"/>
              </a:rPr>
              <a:t>CV makes efficient use of the available data for testing</a:t>
            </a:r>
          </a:p>
          <a:p>
            <a:r>
              <a:rPr lang="en-US" sz="2800" dirty="0">
                <a:latin typeface="Times New Roman" panose="02020603050405020304" pitchFamily="18" charset="0"/>
                <a:cs typeface="Times New Roman" panose="02020603050405020304" pitchFamily="18" charset="0"/>
              </a:rPr>
              <a:t> Note that in CV, we are evaluating a learning method as opposed to an individual learned model  </a:t>
            </a:r>
          </a:p>
          <a:p>
            <a:r>
              <a:rPr lang="en-US" sz="2800" dirty="0">
                <a:latin typeface="Times New Roman" panose="02020603050405020304" pitchFamily="18" charset="0"/>
                <a:cs typeface="Times New Roman" panose="02020603050405020304" pitchFamily="18" charset="0"/>
              </a:rPr>
              <a:t>We can use CV to find the best degree of regression and classification</a:t>
            </a: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10</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spTree>
    <p:extLst>
      <p:ext uri="{BB962C8B-B14F-4D97-AF65-F5344CB8AC3E}">
        <p14:creationId xmlns:p14="http://schemas.microsoft.com/office/powerpoint/2010/main" val="3651191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normAutofit/>
          </a:bodyPr>
          <a:lstStyle/>
          <a:p>
            <a:r>
              <a:rPr lang="en-US" dirty="0">
                <a:latin typeface="Times New Roman" panose="02020603050405020304" pitchFamily="18" charset="0"/>
                <a:cs typeface="Times New Roman" panose="02020603050405020304" pitchFamily="18" charset="0"/>
              </a:rPr>
              <a:t>Regression Metrics</a:t>
            </a:r>
          </a:p>
        </p:txBody>
      </p:sp>
      <p:sp>
        <p:nvSpPr>
          <p:cNvPr id="3" name="Content Placeholder 2"/>
          <p:cNvSpPr>
            <a:spLocks noGrp="1"/>
          </p:cNvSpPr>
          <p:nvPr>
            <p:ph idx="1"/>
          </p:nvPr>
        </p:nvSpPr>
        <p:spPr>
          <a:xfrm>
            <a:off x="622616" y="1262174"/>
            <a:ext cx="8368984" cy="4833826"/>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For regression problems you should use:</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Mean Absolute Error</a:t>
            </a:r>
            <a:r>
              <a:rPr lang="en-US" sz="2800" dirty="0">
                <a:latin typeface="Times New Roman" panose="02020603050405020304" pitchFamily="18" charset="0"/>
                <a:cs typeface="Times New Roman" panose="02020603050405020304" pitchFamily="18" charset="0"/>
              </a:rPr>
              <a:t>: is the average of the absolute differences between predictions and actual values. It gives an idea of how wrong the predictions were.</a:t>
            </a:r>
          </a:p>
          <a:p>
            <a:r>
              <a:rPr lang="en-US" sz="2800" b="1" dirty="0">
                <a:latin typeface="Times New Roman" panose="02020603050405020304" pitchFamily="18" charset="0"/>
                <a:cs typeface="Times New Roman" panose="02020603050405020304" pitchFamily="18" charset="0"/>
              </a:rPr>
              <a:t>Mean Squared Error</a:t>
            </a:r>
            <a:r>
              <a:rPr lang="en-US" sz="2800" dirty="0">
                <a:latin typeface="Times New Roman" panose="02020603050405020304" pitchFamily="18" charset="0"/>
                <a:cs typeface="Times New Roman" panose="02020603050405020304" pitchFamily="18" charset="0"/>
              </a:rPr>
              <a:t>: is much like the mean absolute error in that it provides a gross idea of the magnitude of error. Taking the square root of the mean squared error converts the units back to the original units of the output variable and can be meaningful for description and presentation. This is called the Root Mean Squared Error (or RMSE).</a:t>
            </a:r>
          </a:p>
          <a:p>
            <a:r>
              <a:rPr lang="en-US" sz="2800" b="1" dirty="0">
                <a:latin typeface="Times New Roman" panose="02020603050405020304" pitchFamily="18" charset="0"/>
                <a:cs typeface="Times New Roman" panose="02020603050405020304" pitchFamily="18" charset="0"/>
              </a:rPr>
              <a:t>RMSE</a:t>
            </a:r>
            <a:r>
              <a:rPr lang="en-US" sz="2800" dirty="0">
                <a:latin typeface="Times New Roman" panose="02020603050405020304" pitchFamily="18" charset="0"/>
                <a:cs typeface="Times New Roman" panose="02020603050405020304" pitchFamily="18" charset="0"/>
              </a:rPr>
              <a:t>: root mean squared error. Again, easy to understand and widely used.</a:t>
            </a:r>
          </a:p>
          <a:p>
            <a:r>
              <a:rPr lang="en-US" sz="2800" b="1" dirty="0">
                <a:latin typeface="Times New Roman" panose="02020603050405020304" pitchFamily="18" charset="0"/>
                <a:cs typeface="Times New Roman" panose="02020603050405020304" pitchFamily="18" charset="0"/>
              </a:rPr>
              <a:t>R-squared</a:t>
            </a:r>
            <a:r>
              <a:rPr lang="en-US" sz="2800" dirty="0">
                <a:latin typeface="Times New Roman" panose="02020603050405020304" pitchFamily="18" charset="0"/>
                <a:cs typeface="Times New Roman" panose="02020603050405020304" pitchFamily="18" charset="0"/>
              </a:rPr>
              <a:t>: the goodness of fit or coefficient of determination.</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11</a:t>
            </a:fld>
            <a:endParaRPr lang="en-US"/>
          </a:p>
        </p:txBody>
      </p:sp>
    </p:spTree>
    <p:extLst>
      <p:ext uri="{BB962C8B-B14F-4D97-AF65-F5344CB8AC3E}">
        <p14:creationId xmlns:p14="http://schemas.microsoft.com/office/powerpoint/2010/main" val="1854415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6589199" cy="823690"/>
          </a:xfrm>
        </p:spPr>
        <p:txBody>
          <a:bodyPr>
            <a:normAutofit fontScale="90000"/>
          </a:bodyPr>
          <a:lstStyle/>
          <a:p>
            <a:r>
              <a:rPr lang="en-US" dirty="0">
                <a:latin typeface="Times New Roman" panose="02020603050405020304" pitchFamily="18" charset="0"/>
                <a:cs typeface="Times New Roman" panose="02020603050405020304" pitchFamily="18" charset="0"/>
              </a:rPr>
              <a:t>Confusion matrix for 2-class problems</a:t>
            </a:r>
          </a:p>
        </p:txBody>
      </p:sp>
      <p:sp>
        <p:nvSpPr>
          <p:cNvPr id="3" name="Content Placeholder 2"/>
          <p:cNvSpPr>
            <a:spLocks noGrp="1"/>
          </p:cNvSpPr>
          <p:nvPr>
            <p:ph idx="1"/>
          </p:nvPr>
        </p:nvSpPr>
        <p:spPr>
          <a:xfrm>
            <a:off x="622616" y="126217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We used confusion matrix to compute the accuracy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12</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pic>
        <p:nvPicPr>
          <p:cNvPr id="5" name="Picture 4"/>
          <p:cNvPicPr>
            <a:picLocks noChangeAspect="1"/>
          </p:cNvPicPr>
          <p:nvPr/>
        </p:nvPicPr>
        <p:blipFill>
          <a:blip r:embed="rId2"/>
          <a:stretch>
            <a:fillRect/>
          </a:stretch>
        </p:blipFill>
        <p:spPr>
          <a:xfrm>
            <a:off x="1371600" y="2438400"/>
            <a:ext cx="6553200" cy="3048000"/>
          </a:xfrm>
          <a:prstGeom prst="rect">
            <a:avLst/>
          </a:prstGeom>
        </p:spPr>
      </p:pic>
      <p:pic>
        <p:nvPicPr>
          <p:cNvPr id="8" name="Picture 7"/>
          <p:cNvPicPr>
            <a:picLocks noChangeAspect="1"/>
          </p:cNvPicPr>
          <p:nvPr/>
        </p:nvPicPr>
        <p:blipFill>
          <a:blip r:embed="rId3"/>
          <a:stretch>
            <a:fillRect/>
          </a:stretch>
        </p:blipFill>
        <p:spPr>
          <a:xfrm>
            <a:off x="3276600" y="5753040"/>
            <a:ext cx="4133850" cy="704850"/>
          </a:xfrm>
          <a:prstGeom prst="rect">
            <a:avLst/>
          </a:prstGeom>
        </p:spPr>
      </p:pic>
    </p:spTree>
    <p:extLst>
      <p:ext uri="{BB962C8B-B14F-4D97-AF65-F5344CB8AC3E}">
        <p14:creationId xmlns:p14="http://schemas.microsoft.com/office/powerpoint/2010/main" val="339607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fontScale="90000"/>
          </a:bodyPr>
          <a:lstStyle/>
          <a:p>
            <a:r>
              <a:rPr lang="en-US" dirty="0">
                <a:latin typeface="Times New Roman" panose="02020603050405020304" pitchFamily="18" charset="0"/>
                <a:cs typeface="Times New Roman" panose="02020603050405020304" pitchFamily="18" charset="0"/>
              </a:rPr>
              <a:t>Is accuracy an adequate measure of predictive performance?</a:t>
            </a:r>
          </a:p>
        </p:txBody>
      </p:sp>
      <p:sp>
        <p:nvSpPr>
          <p:cNvPr id="3" name="Content Placeholder 2"/>
          <p:cNvSpPr>
            <a:spLocks noGrp="1"/>
          </p:cNvSpPr>
          <p:nvPr>
            <p:ph idx="1"/>
          </p:nvPr>
        </p:nvSpPr>
        <p:spPr>
          <a:xfrm>
            <a:off x="685800" y="1624064"/>
            <a:ext cx="8368984" cy="4833826"/>
          </a:xfrm>
        </p:spPr>
        <p:txBody>
          <a:bodyPr>
            <a:normAutofit fontScale="92500"/>
          </a:bodyPr>
          <a:lstStyle/>
          <a:p>
            <a:r>
              <a:rPr lang="en-US" sz="2800" dirty="0">
                <a:latin typeface="Times New Roman" panose="02020603050405020304" pitchFamily="18" charset="0"/>
                <a:cs typeface="Times New Roman" panose="02020603050405020304" pitchFamily="18" charset="0"/>
              </a:rPr>
              <a:t>Accuracy may not be useful measure in cases where</a:t>
            </a:r>
          </a:p>
          <a:p>
            <a:pPr lvl="1"/>
            <a:r>
              <a:rPr lang="en-US" sz="2600" dirty="0">
                <a:latin typeface="Times New Roman" panose="02020603050405020304" pitchFamily="18" charset="0"/>
                <a:cs typeface="Times New Roman" panose="02020603050405020304" pitchFamily="18" charset="0"/>
              </a:rPr>
              <a:t>There is a large class skew </a:t>
            </a:r>
          </a:p>
          <a:p>
            <a:pPr lvl="2"/>
            <a:r>
              <a:rPr lang="en-US" sz="2400" dirty="0">
                <a:latin typeface="Times New Roman" panose="02020603050405020304" pitchFamily="18" charset="0"/>
                <a:cs typeface="Times New Roman" panose="02020603050405020304" pitchFamily="18" charset="0"/>
              </a:rPr>
              <a:t> Is 98% accuracy good if 97% of the instances are negative? </a:t>
            </a:r>
          </a:p>
          <a:p>
            <a:pPr lvl="1"/>
            <a:r>
              <a:rPr lang="en-US" sz="2600" dirty="0">
                <a:latin typeface="Times New Roman" panose="02020603050405020304" pitchFamily="18" charset="0"/>
                <a:cs typeface="Times New Roman" panose="02020603050405020304" pitchFamily="18" charset="0"/>
              </a:rPr>
              <a:t> There are differential misclassification costs – say, getting a positive wrong costs more than getting a negative wrong </a:t>
            </a:r>
          </a:p>
          <a:p>
            <a:pPr lvl="2"/>
            <a:r>
              <a:rPr lang="en-US" sz="2400" dirty="0">
                <a:latin typeface="Times New Roman" panose="02020603050405020304" pitchFamily="18" charset="0"/>
                <a:cs typeface="Times New Roman" panose="02020603050405020304" pitchFamily="18" charset="0"/>
              </a:rPr>
              <a:t> Consider a medical domain in which a false positive results in an extraneous test but a false negative results in a failure to treat a disease </a:t>
            </a:r>
          </a:p>
          <a:p>
            <a:pPr lvl="1"/>
            <a:r>
              <a:rPr lang="en-US" sz="2600" dirty="0">
                <a:latin typeface="Times New Roman" panose="02020603050405020304" pitchFamily="18" charset="0"/>
                <a:cs typeface="Times New Roman" panose="02020603050405020304" pitchFamily="18" charset="0"/>
              </a:rPr>
              <a:t> We are most interested in a subset of high-confidence predictions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13</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spTree>
    <p:extLst>
      <p:ext uri="{BB962C8B-B14F-4D97-AF65-F5344CB8AC3E}">
        <p14:creationId xmlns:p14="http://schemas.microsoft.com/office/powerpoint/2010/main" val="281625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a:xfrm>
            <a:off x="685800" y="1624064"/>
            <a:ext cx="8368984" cy="4833826"/>
          </a:xfrm>
        </p:spPr>
        <p:txBody>
          <a:bodyPr>
            <a:normAutofit/>
          </a:bodyPr>
          <a:lstStyle/>
          <a:p>
            <a:r>
              <a:rPr lang="en-US" sz="2800" dirty="0">
                <a:latin typeface="Times New Roman" panose="02020603050405020304" pitchFamily="18" charset="0"/>
                <a:cs typeface="Times New Roman" panose="02020603050405020304" pitchFamily="18" charset="0"/>
              </a:rPr>
              <a:t>What do you think about this confusion matrix? This is the confusion matrix of a machine learning model which diagnose cancer based on patients images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Accuracy = 83.33%</a:t>
            </a:r>
          </a:p>
          <a:p>
            <a:r>
              <a:rPr lang="en-US" sz="2800" dirty="0">
                <a:latin typeface="Times New Roman" panose="02020603050405020304" pitchFamily="18" charset="0"/>
                <a:cs typeface="Times New Roman" panose="02020603050405020304" pitchFamily="18" charset="0"/>
              </a:rPr>
              <a:t>Accuracy looks good. Is it a good model?</a:t>
            </a:r>
          </a:p>
        </p:txBody>
      </p:sp>
      <p:sp>
        <p:nvSpPr>
          <p:cNvPr id="4" name="Slide Number Placeholder 3"/>
          <p:cNvSpPr>
            <a:spLocks noGrp="1"/>
          </p:cNvSpPr>
          <p:nvPr>
            <p:ph type="sldNum" sz="quarter" idx="12"/>
          </p:nvPr>
        </p:nvSpPr>
        <p:spPr/>
        <p:txBody>
          <a:bodyPr/>
          <a:lstStyle/>
          <a:p>
            <a:fld id="{76F96C40-0356-46F5-90E5-FF57DE76D9A0}" type="slidenum">
              <a:rPr lang="en-US" smtClean="0"/>
              <a:t>14</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graphicFrame>
        <p:nvGraphicFramePr>
          <p:cNvPr id="5" name="Table 4"/>
          <p:cNvGraphicFramePr>
            <a:graphicFrameLocks noGrp="1"/>
          </p:cNvGraphicFramePr>
          <p:nvPr>
            <p:extLst>
              <p:ext uri="{D42A27DB-BD31-4B8C-83A1-F6EECF244321}">
                <p14:modId xmlns:p14="http://schemas.microsoft.com/office/powerpoint/2010/main" val="3234217948"/>
              </p:ext>
            </p:extLst>
          </p:nvPr>
        </p:nvGraphicFramePr>
        <p:xfrm>
          <a:off x="1096206" y="3048000"/>
          <a:ext cx="6980996" cy="2021840"/>
        </p:xfrm>
        <a:graphic>
          <a:graphicData uri="http://schemas.openxmlformats.org/drawingml/2006/table">
            <a:tbl>
              <a:tblPr firstRow="1" bandRow="1">
                <a:tableStyleId>{5C22544A-7EE6-4342-B048-85BDC9FD1C3A}</a:tableStyleId>
              </a:tblPr>
              <a:tblGrid>
                <a:gridCol w="1418394">
                  <a:extLst>
                    <a:ext uri="{9D8B030D-6E8A-4147-A177-3AD203B41FA5}">
                      <a16:colId xmlns:a16="http://schemas.microsoft.com/office/drawing/2014/main" val="2502570698"/>
                    </a:ext>
                  </a:extLst>
                </a:gridCol>
                <a:gridCol w="1676400">
                  <a:extLst>
                    <a:ext uri="{9D8B030D-6E8A-4147-A177-3AD203B41FA5}">
                      <a16:colId xmlns:a16="http://schemas.microsoft.com/office/drawing/2014/main" val="2566741681"/>
                    </a:ext>
                  </a:extLst>
                </a:gridCol>
                <a:gridCol w="1676400">
                  <a:extLst>
                    <a:ext uri="{9D8B030D-6E8A-4147-A177-3AD203B41FA5}">
                      <a16:colId xmlns:a16="http://schemas.microsoft.com/office/drawing/2014/main" val="3167076158"/>
                    </a:ext>
                  </a:extLst>
                </a:gridCol>
                <a:gridCol w="2209802">
                  <a:extLst>
                    <a:ext uri="{9D8B030D-6E8A-4147-A177-3AD203B41FA5}">
                      <a16:colId xmlns:a16="http://schemas.microsoft.com/office/drawing/2014/main" val="1787636031"/>
                    </a:ext>
                  </a:extLst>
                </a:gridCol>
              </a:tblGrid>
              <a:tr h="370840">
                <a:tc rowSpan="2" gridSpan="2">
                  <a:txBody>
                    <a:bodyPr/>
                    <a:lstStyle/>
                    <a:p>
                      <a:endParaRPr lang="en-US" dirty="0"/>
                    </a:p>
                  </a:txBody>
                  <a:tcPr>
                    <a:lnB w="38100" cmpd="sng">
                      <a:noFill/>
                    </a:lnB>
                  </a:tcPr>
                </a:tc>
                <a:tc rowSpan="2" hMerge="1">
                  <a:txBody>
                    <a:bodyPr/>
                    <a:lstStyle/>
                    <a:p>
                      <a:endParaRPr lang="en-US" dirty="0"/>
                    </a:p>
                  </a:txBody>
                  <a:tcPr/>
                </a:tc>
                <a:tc gridSpan="2">
                  <a:txBody>
                    <a:bodyPr/>
                    <a:lstStyle/>
                    <a:p>
                      <a:r>
                        <a:rPr lang="en-US" dirty="0"/>
                        <a:t>Actual Target</a:t>
                      </a:r>
                    </a:p>
                  </a:txBody>
                  <a:tcPr/>
                </a:tc>
                <a:tc hMerge="1">
                  <a:txBody>
                    <a:bodyPr/>
                    <a:lstStyle/>
                    <a:p>
                      <a:endParaRPr lang="en-US" dirty="0"/>
                    </a:p>
                  </a:txBody>
                  <a:tcPr/>
                </a:tc>
                <a:extLst>
                  <a:ext uri="{0D108BD9-81ED-4DB2-BD59-A6C34878D82A}">
                    <a16:rowId xmlns:a16="http://schemas.microsoft.com/office/drawing/2014/main" val="314591670"/>
                  </a:ext>
                </a:extLst>
              </a:tr>
              <a:tr h="370840">
                <a:tc gridSpan="2" vMerge="1">
                  <a:txBody>
                    <a:bodyPr/>
                    <a:lstStyle/>
                    <a:p>
                      <a:endParaRPr lang="en-US"/>
                    </a:p>
                  </a:txBody>
                  <a:tcPr>
                    <a:lnB w="12700" cmpd="sng">
                      <a:noFill/>
                    </a:lnB>
                  </a:tcPr>
                </a:tc>
                <a:tc hMerge="1" vMerge="1">
                  <a:txBody>
                    <a:bodyPr/>
                    <a:lstStyle/>
                    <a:p>
                      <a:endParaRPr lang="en-US" dirty="0"/>
                    </a:p>
                  </a:txBody>
                  <a:tcPr/>
                </a:tc>
                <a:tc>
                  <a:txBody>
                    <a:bodyPr/>
                    <a:lstStyle/>
                    <a:p>
                      <a:r>
                        <a:rPr lang="en-US" dirty="0"/>
                        <a:t>Cancer = Yes</a:t>
                      </a:r>
                    </a:p>
                  </a:txBody>
                  <a:tcPr/>
                </a:tc>
                <a:tc>
                  <a:txBody>
                    <a:bodyPr/>
                    <a:lstStyle/>
                    <a:p>
                      <a:r>
                        <a:rPr lang="en-US" dirty="0"/>
                        <a:t>Cancer = NO</a:t>
                      </a:r>
                    </a:p>
                  </a:txBody>
                  <a:tcPr/>
                </a:tc>
                <a:extLst>
                  <a:ext uri="{0D108BD9-81ED-4DB2-BD59-A6C34878D82A}">
                    <a16:rowId xmlns:a16="http://schemas.microsoft.com/office/drawing/2014/main" val="221340753"/>
                  </a:ext>
                </a:extLst>
              </a:tr>
              <a:tr h="477520">
                <a:tc rowSpan="2">
                  <a:txBody>
                    <a:bodyPr/>
                    <a:lstStyle/>
                    <a:p>
                      <a:r>
                        <a:rPr lang="en-US" b="1" dirty="0">
                          <a:solidFill>
                            <a:schemeClr val="bg1"/>
                          </a:solidFill>
                        </a:rPr>
                        <a:t>Predicted Target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Cancer = Yes</a:t>
                      </a:r>
                    </a:p>
                    <a:p>
                      <a:endParaRPr lang="en-US" dirty="0"/>
                    </a:p>
                  </a:txBody>
                  <a:tcPr>
                    <a:lnL w="12700" cmpd="sng">
                      <a:noFill/>
                    </a:lnL>
                  </a:tcPr>
                </a:tc>
                <a:tc>
                  <a:txBody>
                    <a:bodyPr/>
                    <a:lstStyle/>
                    <a:p>
                      <a:r>
                        <a:rPr lang="en-US" dirty="0"/>
                        <a:t>5</a:t>
                      </a:r>
                    </a:p>
                  </a:txBody>
                  <a:tcPr/>
                </a:tc>
                <a:tc>
                  <a:txBody>
                    <a:bodyPr/>
                    <a:lstStyle/>
                    <a:p>
                      <a:r>
                        <a:rPr lang="en-US" dirty="0"/>
                        <a:t>5</a:t>
                      </a:r>
                    </a:p>
                  </a:txBody>
                  <a:tcPr/>
                </a:tc>
                <a:extLst>
                  <a:ext uri="{0D108BD9-81ED-4DB2-BD59-A6C34878D82A}">
                    <a16:rowId xmlns:a16="http://schemas.microsoft.com/office/drawing/2014/main" val="2423183875"/>
                  </a:ext>
                </a:extLst>
              </a:tr>
              <a:tr h="370840">
                <a:tc v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Cancer = NO</a:t>
                      </a:r>
                    </a:p>
                    <a:p>
                      <a:endParaRPr lang="en-US" dirty="0"/>
                    </a:p>
                  </a:txBody>
                  <a:tcPr>
                    <a:lnL w="12700" cmpd="sng">
                      <a:noFill/>
                    </a:lnL>
                  </a:tcPr>
                </a:tc>
                <a:tc>
                  <a:txBody>
                    <a:bodyPr/>
                    <a:lstStyle/>
                    <a:p>
                      <a:r>
                        <a:rPr lang="en-US" dirty="0"/>
                        <a:t>10</a:t>
                      </a:r>
                    </a:p>
                  </a:txBody>
                  <a:tcPr/>
                </a:tc>
                <a:tc>
                  <a:txBody>
                    <a:bodyPr/>
                    <a:lstStyle/>
                    <a:p>
                      <a:r>
                        <a:rPr lang="en-US" dirty="0"/>
                        <a:t>70</a:t>
                      </a:r>
                    </a:p>
                  </a:txBody>
                  <a:tcPr/>
                </a:tc>
                <a:extLst>
                  <a:ext uri="{0D108BD9-81ED-4DB2-BD59-A6C34878D82A}">
                    <a16:rowId xmlns:a16="http://schemas.microsoft.com/office/drawing/2014/main" val="1411703121"/>
                  </a:ext>
                </a:extLst>
              </a:tr>
            </a:tbl>
          </a:graphicData>
        </a:graphic>
      </p:graphicFrame>
    </p:spTree>
    <p:extLst>
      <p:ext uri="{BB962C8B-B14F-4D97-AF65-F5344CB8AC3E}">
        <p14:creationId xmlns:p14="http://schemas.microsoft.com/office/powerpoint/2010/main" val="3498242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Other accuracy metrics</a:t>
            </a:r>
          </a:p>
        </p:txBody>
      </p:sp>
      <p:sp>
        <p:nvSpPr>
          <p:cNvPr id="3" name="Content Placeholder 2"/>
          <p:cNvSpPr>
            <a:spLocks noGrp="1"/>
          </p:cNvSpPr>
          <p:nvPr>
            <p:ph idx="1"/>
          </p:nvPr>
        </p:nvSpPr>
        <p:spPr>
          <a:xfrm>
            <a:off x="685800" y="1624064"/>
            <a:ext cx="8368984" cy="4833826"/>
          </a:xfrm>
        </p:spPr>
        <p:txBody>
          <a:bodyPr>
            <a:normAutofit/>
          </a:bodyPr>
          <a:lstStyle/>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15</a:t>
            </a:fld>
            <a:endParaRPr lang="en-US"/>
          </a:p>
        </p:txBody>
      </p:sp>
      <p:sp>
        <p:nvSpPr>
          <p:cNvPr id="6" name="TextBox 5"/>
          <p:cNvSpPr txBox="1"/>
          <p:nvPr/>
        </p:nvSpPr>
        <p:spPr>
          <a:xfrm>
            <a:off x="347662" y="6457890"/>
            <a:ext cx="2514600" cy="246221"/>
          </a:xfrm>
          <a:prstGeom prst="rect">
            <a:avLst/>
          </a:prstGeom>
          <a:noFill/>
        </p:spPr>
        <p:txBody>
          <a:bodyPr wrap="square" rtlCol="0">
            <a:spAutoFit/>
          </a:bodyPr>
          <a:lstStyle/>
          <a:p>
            <a:r>
              <a:rPr lang="en-US" sz="1000" dirty="0"/>
              <a:t>Wikipedia</a:t>
            </a:r>
          </a:p>
        </p:txBody>
      </p:sp>
      <p:pic>
        <p:nvPicPr>
          <p:cNvPr id="7" name="Picture 6"/>
          <p:cNvPicPr>
            <a:picLocks noChangeAspect="1"/>
          </p:cNvPicPr>
          <p:nvPr/>
        </p:nvPicPr>
        <p:blipFill>
          <a:blip r:embed="rId2"/>
          <a:stretch>
            <a:fillRect/>
          </a:stretch>
        </p:blipFill>
        <p:spPr>
          <a:xfrm>
            <a:off x="841817" y="1448121"/>
            <a:ext cx="7666216" cy="2357277"/>
          </a:xfrm>
          <a:prstGeom prst="rect">
            <a:avLst/>
          </a:prstGeom>
        </p:spPr>
      </p:pic>
      <mc:AlternateContent xmlns:mc="http://schemas.openxmlformats.org/markup-compatibility/2006" xmlns:a14="http://schemas.microsoft.com/office/drawing/2010/main">
        <mc:Choice Requires="a14">
          <p:sp>
            <p:nvSpPr>
              <p:cNvPr id="8" name="Content Placeholder 2"/>
              <p:cNvSpPr txBox="1">
                <a:spLocks/>
              </p:cNvSpPr>
              <p:nvPr/>
            </p:nvSpPr>
            <p:spPr>
              <a:xfrm>
                <a:off x="838200" y="1776464"/>
                <a:ext cx="8368984" cy="483382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Sensitivity or Recall = </a:t>
                </a:r>
                <a14:m>
                  <m:oMath xmlns:m="http://schemas.openxmlformats.org/officeDocument/2006/math">
                    <m:f>
                      <m:fPr>
                        <m:ctrlPr>
                          <a:rPr lang="en-US" sz="2800" i="1" smtClean="0">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𝑇𝑃</m:t>
                        </m:r>
                      </m:num>
                      <m:den>
                        <m:r>
                          <a:rPr lang="en-US" sz="2800" i="1">
                            <a:latin typeface="Cambria Math" panose="02040503050406030204" pitchFamily="18" charset="0"/>
                            <a:cs typeface="Times New Roman" panose="02020603050405020304" pitchFamily="18" charset="0"/>
                          </a:rPr>
                          <m:t>𝐶𝑜𝑛𝑑𝑖𝑡𝑖𝑜𝑛</m:t>
                        </m:r>
                        <m:r>
                          <a:rPr lang="en-US" sz="2800" i="1">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𝑃𝑜𝑠𝑖</m:t>
                        </m:r>
                        <m:r>
                          <a:rPr lang="en-US" sz="2800" i="1">
                            <a:latin typeface="Cambria Math" panose="02040503050406030204" pitchFamily="18" charset="0"/>
                            <a:cs typeface="Times New Roman" panose="02020603050405020304" pitchFamily="18" charset="0"/>
                          </a:rPr>
                          <m:t>𝑡𝑖𝑣𝑒</m:t>
                        </m:r>
                      </m:den>
                    </m:f>
                    <m:r>
                      <a:rPr lang="en-US" sz="2800" b="0" i="1" smtClean="0">
                        <a:latin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𝑇𝑃</m:t>
                        </m:r>
                      </m:num>
                      <m:den>
                        <m:r>
                          <a:rPr lang="en-US" sz="2800" i="1">
                            <a:latin typeface="Cambria Math" panose="02040503050406030204" pitchFamily="18" charset="0"/>
                            <a:cs typeface="Times New Roman" panose="02020603050405020304" pitchFamily="18" charset="0"/>
                          </a:rPr>
                          <m:t>𝑇𝑃</m:t>
                        </m:r>
                        <m:r>
                          <a:rPr lang="en-US" sz="2800" i="1">
                            <a:latin typeface="Cambria Math" panose="02040503050406030204" pitchFamily="18" charset="0"/>
                            <a:cs typeface="Times New Roman" panose="02020603050405020304" pitchFamily="18" charset="0"/>
                          </a:rPr>
                          <m:t>+</m:t>
                        </m:r>
                        <m:r>
                          <a:rPr lang="en-US" sz="2800" i="1">
                            <a:latin typeface="Cambria Math" panose="02040503050406030204" pitchFamily="18" charset="0"/>
                            <a:cs typeface="Times New Roman" panose="02020603050405020304" pitchFamily="18" charset="0"/>
                          </a:rPr>
                          <m:t>𝐹𝑁</m:t>
                        </m:r>
                      </m:den>
                    </m:f>
                  </m:oMath>
                </a14:m>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Specificity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m:t>
                        </m:r>
                        <m:r>
                          <a:rPr lang="en-US" sz="2800" b="0" i="1" smtClean="0">
                            <a:latin typeface="Cambria Math" panose="02040503050406030204" pitchFamily="18" charset="0"/>
                            <a:cs typeface="Times New Roman" panose="02020603050405020304" pitchFamily="18" charset="0"/>
                          </a:rPr>
                          <m:t>𝑁</m:t>
                        </m:r>
                      </m:num>
                      <m:den>
                        <m:r>
                          <a:rPr lang="en-US" sz="2800" b="0" i="1" smtClean="0">
                            <a:latin typeface="Cambria Math" panose="02040503050406030204" pitchFamily="18" charset="0"/>
                            <a:cs typeface="Times New Roman" panose="02020603050405020304" pitchFamily="18" charset="0"/>
                          </a:rPr>
                          <m:t>𝐴𝑐𝑡𝑢𝑎𝑙</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𝑁𝑒𝑔𝑎𝑡𝑖𝑣𝑒</m:t>
                        </m:r>
                      </m:den>
                    </m:f>
                    <m:r>
                      <a:rPr lang="en-US" sz="2800" b="0" i="1" smtClean="0">
                        <a:latin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m:t>
                        </m:r>
                        <m:r>
                          <a:rPr lang="en-US" sz="2800" b="0" i="1" smtClean="0">
                            <a:latin typeface="Cambria Math" panose="02040503050406030204" pitchFamily="18" charset="0"/>
                            <a:cs typeface="Times New Roman" panose="02020603050405020304" pitchFamily="18" charset="0"/>
                          </a:rPr>
                          <m:t>𝑁</m:t>
                        </m:r>
                      </m:num>
                      <m:den>
                        <m:r>
                          <a:rPr lang="en-US" sz="2800" b="0" i="1" smtClean="0">
                            <a:latin typeface="Cambria Math" panose="02040503050406030204" pitchFamily="18" charset="0"/>
                            <a:cs typeface="Times New Roman" panose="02020603050405020304" pitchFamily="18" charset="0"/>
                          </a:rPr>
                          <m:t>𝐹𝑃</m:t>
                        </m:r>
                        <m:r>
                          <a:rPr lang="en-US" sz="2800" i="1">
                            <a:latin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cs typeface="Times New Roman" panose="02020603050405020304" pitchFamily="18" charset="0"/>
                          </a:rPr>
                          <m:t>𝑇</m:t>
                        </m:r>
                        <m:r>
                          <a:rPr lang="en-US" sz="2800" i="1">
                            <a:latin typeface="Cambria Math" panose="02040503050406030204" pitchFamily="18" charset="0"/>
                            <a:cs typeface="Times New Roman" panose="02020603050405020304" pitchFamily="18" charset="0"/>
                          </a:rPr>
                          <m:t>𝑁</m:t>
                        </m:r>
                      </m:den>
                    </m:f>
                  </m:oMath>
                </a14:m>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Precision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𝑇𝑃</m:t>
                        </m:r>
                      </m:num>
                      <m:den>
                        <m:r>
                          <a:rPr lang="en-US" sz="2800" b="0" i="1" smtClean="0">
                            <a:latin typeface="Cambria Math" panose="02040503050406030204" pitchFamily="18" charset="0"/>
                            <a:cs typeface="Times New Roman" panose="02020603050405020304" pitchFamily="18" charset="0"/>
                          </a:rPr>
                          <m:t>𝑃𝑟𝑒𝑑𝑖𝑐𝑡𝑒𝑑</m:t>
                        </m:r>
                        <m:r>
                          <a:rPr lang="en-US" sz="2800" i="1">
                            <a:latin typeface="Cambria Math" panose="02040503050406030204" pitchFamily="18" charset="0"/>
                            <a:cs typeface="Times New Roman" panose="02020603050405020304" pitchFamily="18" charset="0"/>
                          </a:rPr>
                          <m:t> </m:t>
                        </m:r>
                        <m:r>
                          <a:rPr lang="en-US" sz="2800" i="1">
                            <a:latin typeface="Cambria Math" panose="02040503050406030204" pitchFamily="18" charset="0"/>
                            <a:cs typeface="Times New Roman" panose="02020603050405020304" pitchFamily="18" charset="0"/>
                          </a:rPr>
                          <m:t>𝑃𝑜𝑠𝑖𝑡𝑖𝑣𝑒</m:t>
                        </m:r>
                      </m:den>
                    </m:f>
                    <m:r>
                      <a:rPr lang="en-US" sz="2800" b="0" i="1" smtClean="0">
                        <a:latin typeface="Cambria Math" panose="02040503050406030204" pitchFamily="18" charset="0"/>
                        <a:cs typeface="Times New Roman" panose="02020603050405020304" pitchFamily="18" charset="0"/>
                      </a:rPr>
                      <m:t>=</m:t>
                    </m:r>
                    <m:f>
                      <m:fPr>
                        <m:ctrlPr>
                          <a:rPr lang="en-US" sz="2800" b="0" i="1" smtClean="0">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𝑇𝑃</m:t>
                        </m:r>
                      </m:num>
                      <m:den>
                        <m:r>
                          <a:rPr lang="en-US" sz="2800" b="0" i="1" smtClean="0">
                            <a:latin typeface="Cambria Math" panose="02040503050406030204" pitchFamily="18" charset="0"/>
                            <a:cs typeface="Times New Roman" panose="02020603050405020304" pitchFamily="18" charset="0"/>
                          </a:rPr>
                          <m:t>𝑇𝑃</m:t>
                        </m:r>
                        <m:r>
                          <a:rPr lang="en-US" sz="2800" b="0" i="1" smtClean="0">
                            <a:latin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cs typeface="Times New Roman" panose="02020603050405020304" pitchFamily="18" charset="0"/>
                          </a:rPr>
                          <m:t>𝐹𝑃</m:t>
                        </m:r>
                      </m:den>
                    </m:f>
                  </m:oMath>
                </a14:m>
                <a:endParaRPr lang="en-US" sz="2800" b="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F1- score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2</m:t>
                        </m:r>
                      </m:num>
                      <m:den>
                        <m:f>
                          <m:fPr>
                            <m:ctrlPr>
                              <a:rPr lang="en-US" sz="2800" i="1" smtClean="0">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1</m:t>
                            </m:r>
                          </m:num>
                          <m:den>
                            <m:r>
                              <a:rPr lang="en-US" sz="2800" b="0" i="1" smtClean="0">
                                <a:latin typeface="Cambria Math" panose="02040503050406030204" pitchFamily="18" charset="0"/>
                                <a:cs typeface="Times New Roman" panose="02020603050405020304" pitchFamily="18" charset="0"/>
                              </a:rPr>
                              <m:t>𝑃𝑟𝑒𝑐𝑖𝑠𝑖𝑜𝑛</m:t>
                            </m:r>
                          </m:den>
                        </m:f>
                        <m:r>
                          <a:rPr lang="en-US" sz="2800" i="1">
                            <a:latin typeface="Cambria Math" panose="02040503050406030204" pitchFamily="18" charset="0"/>
                            <a:cs typeface="Times New Roman" panose="02020603050405020304" pitchFamily="18" charset="0"/>
                          </a:rPr>
                          <m:t>+</m:t>
                        </m:r>
                        <m:f>
                          <m:fPr>
                            <m:ctrlPr>
                              <a:rPr lang="en-US" sz="2800" i="1" smtClean="0">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1</m:t>
                            </m:r>
                          </m:num>
                          <m:den>
                            <m:r>
                              <a:rPr lang="en-US" sz="2800" b="0" i="1" smtClean="0">
                                <a:latin typeface="Cambria Math" panose="02040503050406030204" pitchFamily="18" charset="0"/>
                                <a:cs typeface="Times New Roman" panose="02020603050405020304" pitchFamily="18" charset="0"/>
                              </a:rPr>
                              <m:t>𝑅𝑒𝑐𝑎𝑙𝑙</m:t>
                            </m:r>
                          </m:den>
                        </m:f>
                      </m:den>
                    </m:f>
                  </m:oMath>
                </a14:m>
                <a:endParaRPr lang="en-US" sz="2800" dirty="0">
                  <a:latin typeface="Times New Roman" panose="02020603050405020304" pitchFamily="18" charset="0"/>
                  <a:cs typeface="Times New Roman" panose="02020603050405020304" pitchFamily="18" charset="0"/>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838200" y="1776464"/>
                <a:ext cx="8368984" cy="4833826"/>
              </a:xfrm>
              <a:prstGeom prst="rect">
                <a:avLst/>
              </a:prstGeom>
              <a:blipFill>
                <a:blip r:embed="rId3"/>
                <a:stretch>
                  <a:fillRect l="-1166"/>
                </a:stretch>
              </a:blipFill>
            </p:spPr>
            <p:txBody>
              <a:bodyPr/>
              <a:lstStyle/>
              <a:p>
                <a:r>
                  <a:rPr lang="en-US">
                    <a:noFill/>
                  </a:rPr>
                  <a:t> </a:t>
                </a:r>
              </a:p>
            </p:txBody>
          </p:sp>
        </mc:Fallback>
      </mc:AlternateContent>
    </p:spTree>
    <p:extLst>
      <p:ext uri="{BB962C8B-B14F-4D97-AF65-F5344CB8AC3E}">
        <p14:creationId xmlns:p14="http://schemas.microsoft.com/office/powerpoint/2010/main" val="140278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624064"/>
                <a:ext cx="8368984" cy="4833826"/>
              </a:xfrm>
            </p:spPr>
            <p:txBody>
              <a:bodyPr>
                <a:normAutofit fontScale="92500" lnSpcReduction="20000"/>
              </a:bodyPr>
              <a:lstStyle/>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Accuracy = 83.33%</a:t>
                </a:r>
              </a:p>
              <a:p>
                <a:r>
                  <a:rPr lang="en-US" sz="2800" dirty="0">
                    <a:latin typeface="Times New Roman" panose="02020603050405020304" pitchFamily="18" charset="0"/>
                    <a:cs typeface="Times New Roman" panose="02020603050405020304" pitchFamily="18" charset="0"/>
                  </a:rPr>
                  <a:t>Sensitivity or Recall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𝑇𝑃</m:t>
                        </m:r>
                      </m:num>
                      <m:den>
                        <m:r>
                          <a:rPr lang="en-US" sz="2800" i="1">
                            <a:latin typeface="Cambria Math" panose="02040503050406030204" pitchFamily="18" charset="0"/>
                            <a:cs typeface="Times New Roman" panose="02020603050405020304" pitchFamily="18" charset="0"/>
                          </a:rPr>
                          <m:t>𝑇𝑃</m:t>
                        </m:r>
                        <m:r>
                          <a:rPr lang="en-US" sz="2800" i="1">
                            <a:latin typeface="Cambria Math" panose="02040503050406030204" pitchFamily="18" charset="0"/>
                            <a:cs typeface="Times New Roman" panose="02020603050405020304" pitchFamily="18" charset="0"/>
                          </a:rPr>
                          <m:t>+</m:t>
                        </m:r>
                        <m:r>
                          <a:rPr lang="en-US" sz="2800" i="1">
                            <a:latin typeface="Cambria Math" panose="02040503050406030204" pitchFamily="18" charset="0"/>
                            <a:cs typeface="Times New Roman" panose="02020603050405020304" pitchFamily="18" charset="0"/>
                          </a:rPr>
                          <m:t>𝐹𝑁</m:t>
                        </m:r>
                      </m:den>
                    </m:f>
                  </m:oMath>
                </a14:m>
                <a:r>
                  <a:rPr lang="en-US" sz="2800" dirty="0">
                    <a:latin typeface="Times New Roman" panose="02020603050405020304" pitchFamily="18" charset="0"/>
                    <a:cs typeface="Times New Roman" panose="02020603050405020304" pitchFamily="18" charset="0"/>
                  </a:rPr>
                  <a:t>=33.33%</a:t>
                </a:r>
              </a:p>
              <a:p>
                <a:r>
                  <a:rPr lang="en-US" sz="2800" dirty="0">
                    <a:latin typeface="Times New Roman" panose="02020603050405020304" pitchFamily="18" charset="0"/>
                    <a:cs typeface="Times New Roman" panose="02020603050405020304" pitchFamily="18" charset="0"/>
                  </a:rPr>
                  <a:t>Specificity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𝑇𝑁</m:t>
                        </m:r>
                      </m:num>
                      <m:den>
                        <m:r>
                          <a:rPr lang="en-US" sz="2800" i="1">
                            <a:latin typeface="Cambria Math" panose="02040503050406030204" pitchFamily="18" charset="0"/>
                            <a:cs typeface="Times New Roman" panose="02020603050405020304" pitchFamily="18" charset="0"/>
                          </a:rPr>
                          <m:t>𝐹𝑃</m:t>
                        </m:r>
                        <m:r>
                          <a:rPr lang="en-US" sz="2800" i="1">
                            <a:latin typeface="Cambria Math" panose="02040503050406030204" pitchFamily="18" charset="0"/>
                            <a:cs typeface="Times New Roman" panose="02020603050405020304" pitchFamily="18" charset="0"/>
                          </a:rPr>
                          <m:t>+</m:t>
                        </m:r>
                        <m:r>
                          <a:rPr lang="en-US" sz="2800" i="1">
                            <a:latin typeface="Cambria Math" panose="02040503050406030204" pitchFamily="18" charset="0"/>
                            <a:cs typeface="Times New Roman" panose="02020603050405020304" pitchFamily="18" charset="0"/>
                          </a:rPr>
                          <m:t>𝑇𝑁</m:t>
                        </m:r>
                      </m:den>
                    </m:f>
                  </m:oMath>
                </a14:m>
                <a:r>
                  <a:rPr lang="en-US" sz="2800" dirty="0">
                    <a:latin typeface="Times New Roman" panose="02020603050405020304" pitchFamily="18" charset="0"/>
                    <a:cs typeface="Times New Roman" panose="02020603050405020304" pitchFamily="18" charset="0"/>
                  </a:rPr>
                  <a:t>= 93.33%</a:t>
                </a:r>
              </a:p>
              <a:p>
                <a:r>
                  <a:rPr lang="en-US" sz="2800" dirty="0">
                    <a:latin typeface="Times New Roman" panose="02020603050405020304" pitchFamily="18" charset="0"/>
                    <a:cs typeface="Times New Roman" panose="02020603050405020304" pitchFamily="18" charset="0"/>
                  </a:rPr>
                  <a:t>Precision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𝑇𝑃</m:t>
                        </m:r>
                      </m:num>
                      <m:den>
                        <m:r>
                          <a:rPr lang="en-US" sz="2800" i="1">
                            <a:latin typeface="Cambria Math" panose="02040503050406030204" pitchFamily="18" charset="0"/>
                            <a:cs typeface="Times New Roman" panose="02020603050405020304" pitchFamily="18" charset="0"/>
                          </a:rPr>
                          <m:t>𝑇𝑃</m:t>
                        </m:r>
                        <m:r>
                          <a:rPr lang="en-US" sz="2800" i="1">
                            <a:latin typeface="Cambria Math" panose="02040503050406030204" pitchFamily="18" charset="0"/>
                            <a:cs typeface="Times New Roman" panose="02020603050405020304" pitchFamily="18" charset="0"/>
                          </a:rPr>
                          <m:t>+</m:t>
                        </m:r>
                        <m:r>
                          <a:rPr lang="en-US" sz="2800" i="1">
                            <a:latin typeface="Cambria Math" panose="02040503050406030204" pitchFamily="18" charset="0"/>
                            <a:cs typeface="Times New Roman" panose="02020603050405020304" pitchFamily="18" charset="0"/>
                          </a:rPr>
                          <m:t>𝐹𝑃</m:t>
                        </m:r>
                      </m:den>
                    </m:f>
                  </m:oMath>
                </a14:m>
                <a:r>
                  <a:rPr lang="en-US" sz="2800" dirty="0">
                    <a:latin typeface="Times New Roman" panose="02020603050405020304" pitchFamily="18" charset="0"/>
                    <a:cs typeface="Times New Roman" panose="02020603050405020304" pitchFamily="18" charset="0"/>
                  </a:rPr>
                  <a:t> = 50%</a:t>
                </a:r>
              </a:p>
              <a:p>
                <a:r>
                  <a:rPr lang="en-US" sz="2800" dirty="0">
                    <a:latin typeface="Times New Roman" panose="02020603050405020304" pitchFamily="18" charset="0"/>
                    <a:cs typeface="Times New Roman" panose="02020603050405020304" pitchFamily="18" charset="0"/>
                  </a:rPr>
                  <a:t>F1- score = </a:t>
                </a:r>
                <a14:m>
                  <m:oMath xmlns:m="http://schemas.openxmlformats.org/officeDocument/2006/math">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2</m:t>
                        </m:r>
                      </m:num>
                      <m:den>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1</m:t>
                            </m:r>
                          </m:num>
                          <m:den>
                            <m:r>
                              <a:rPr lang="en-US" sz="2800" i="1">
                                <a:latin typeface="Cambria Math" panose="02040503050406030204" pitchFamily="18" charset="0"/>
                                <a:cs typeface="Times New Roman" panose="02020603050405020304" pitchFamily="18" charset="0"/>
                              </a:rPr>
                              <m:t>𝑃𝑟𝑒𝑐𝑖𝑠𝑖𝑜𝑛</m:t>
                            </m:r>
                          </m:den>
                        </m:f>
                        <m:r>
                          <a:rPr lang="en-US" sz="2800" i="1">
                            <a:latin typeface="Cambria Math" panose="02040503050406030204" pitchFamily="18" charset="0"/>
                            <a:cs typeface="Times New Roman" panose="02020603050405020304" pitchFamily="18" charset="0"/>
                          </a:rPr>
                          <m:t>+</m:t>
                        </m:r>
                        <m:f>
                          <m:fPr>
                            <m:ctrlPr>
                              <a:rPr lang="en-US" sz="2800" i="1">
                                <a:latin typeface="Cambria Math" panose="02040503050406030204" pitchFamily="18" charset="0"/>
                                <a:cs typeface="Times New Roman" panose="02020603050405020304" pitchFamily="18" charset="0"/>
                              </a:rPr>
                            </m:ctrlPr>
                          </m:fPr>
                          <m:num>
                            <m:r>
                              <a:rPr lang="en-US" sz="2800" i="1">
                                <a:latin typeface="Cambria Math" panose="02040503050406030204" pitchFamily="18" charset="0"/>
                                <a:cs typeface="Times New Roman" panose="02020603050405020304" pitchFamily="18" charset="0"/>
                              </a:rPr>
                              <m:t>1</m:t>
                            </m:r>
                          </m:num>
                          <m:den>
                            <m:r>
                              <a:rPr lang="en-US" sz="2800" i="1">
                                <a:latin typeface="Cambria Math" panose="02040503050406030204" pitchFamily="18" charset="0"/>
                                <a:cs typeface="Times New Roman" panose="02020603050405020304" pitchFamily="18" charset="0"/>
                              </a:rPr>
                              <m:t>𝑅𝑒𝑐𝑎𝑙𝑙</m:t>
                            </m:r>
                          </m:den>
                        </m:f>
                      </m:den>
                    </m:f>
                  </m:oMath>
                </a14:m>
                <a:r>
                  <a:rPr lang="en-US" sz="2800" dirty="0">
                    <a:latin typeface="Times New Roman" panose="02020603050405020304" pitchFamily="18" charset="0"/>
                    <a:cs typeface="Times New Roman" panose="02020603050405020304" pitchFamily="18" charset="0"/>
                  </a:rPr>
                  <a:t> = 0.4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624064"/>
                <a:ext cx="8368984" cy="4833826"/>
              </a:xfrm>
              <a:blipFill>
                <a:blip r:embed="rId2"/>
                <a:stretch>
                  <a:fillRect l="-116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16</a:t>
            </a:fld>
            <a:endParaRPr lang="en-US"/>
          </a:p>
        </p:txBody>
      </p:sp>
      <p:sp>
        <p:nvSpPr>
          <p:cNvPr id="6" name="TextBox 5"/>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graphicFrame>
        <p:nvGraphicFramePr>
          <p:cNvPr id="5" name="Table 4"/>
          <p:cNvGraphicFramePr>
            <a:graphicFrameLocks noGrp="1"/>
          </p:cNvGraphicFramePr>
          <p:nvPr>
            <p:extLst>
              <p:ext uri="{D42A27DB-BD31-4B8C-83A1-F6EECF244321}">
                <p14:modId xmlns:p14="http://schemas.microsoft.com/office/powerpoint/2010/main" val="2924294721"/>
              </p:ext>
            </p:extLst>
          </p:nvPr>
        </p:nvGraphicFramePr>
        <p:xfrm>
          <a:off x="914400" y="1262174"/>
          <a:ext cx="6980996" cy="2021840"/>
        </p:xfrm>
        <a:graphic>
          <a:graphicData uri="http://schemas.openxmlformats.org/drawingml/2006/table">
            <a:tbl>
              <a:tblPr firstRow="1" bandRow="1">
                <a:tableStyleId>{5C22544A-7EE6-4342-B048-85BDC9FD1C3A}</a:tableStyleId>
              </a:tblPr>
              <a:tblGrid>
                <a:gridCol w="1418394">
                  <a:extLst>
                    <a:ext uri="{9D8B030D-6E8A-4147-A177-3AD203B41FA5}">
                      <a16:colId xmlns:a16="http://schemas.microsoft.com/office/drawing/2014/main" val="2502570698"/>
                    </a:ext>
                  </a:extLst>
                </a:gridCol>
                <a:gridCol w="1676400">
                  <a:extLst>
                    <a:ext uri="{9D8B030D-6E8A-4147-A177-3AD203B41FA5}">
                      <a16:colId xmlns:a16="http://schemas.microsoft.com/office/drawing/2014/main" val="2566741681"/>
                    </a:ext>
                  </a:extLst>
                </a:gridCol>
                <a:gridCol w="1676400">
                  <a:extLst>
                    <a:ext uri="{9D8B030D-6E8A-4147-A177-3AD203B41FA5}">
                      <a16:colId xmlns:a16="http://schemas.microsoft.com/office/drawing/2014/main" val="3167076158"/>
                    </a:ext>
                  </a:extLst>
                </a:gridCol>
                <a:gridCol w="2209802">
                  <a:extLst>
                    <a:ext uri="{9D8B030D-6E8A-4147-A177-3AD203B41FA5}">
                      <a16:colId xmlns:a16="http://schemas.microsoft.com/office/drawing/2014/main" val="1787636031"/>
                    </a:ext>
                  </a:extLst>
                </a:gridCol>
              </a:tblGrid>
              <a:tr h="370840">
                <a:tc rowSpan="2" gridSpan="2">
                  <a:txBody>
                    <a:bodyPr/>
                    <a:lstStyle/>
                    <a:p>
                      <a:endParaRPr lang="en-US" dirty="0"/>
                    </a:p>
                  </a:txBody>
                  <a:tcPr>
                    <a:lnB w="38100" cmpd="sng">
                      <a:noFill/>
                    </a:lnB>
                  </a:tcPr>
                </a:tc>
                <a:tc rowSpan="2" hMerge="1">
                  <a:txBody>
                    <a:bodyPr/>
                    <a:lstStyle/>
                    <a:p>
                      <a:endParaRPr lang="en-US" dirty="0"/>
                    </a:p>
                  </a:txBody>
                  <a:tcPr/>
                </a:tc>
                <a:tc gridSpan="2">
                  <a:txBody>
                    <a:bodyPr/>
                    <a:lstStyle/>
                    <a:p>
                      <a:r>
                        <a:rPr lang="en-US" dirty="0"/>
                        <a:t>Actual Target</a:t>
                      </a:r>
                    </a:p>
                  </a:txBody>
                  <a:tcPr/>
                </a:tc>
                <a:tc hMerge="1">
                  <a:txBody>
                    <a:bodyPr/>
                    <a:lstStyle/>
                    <a:p>
                      <a:endParaRPr lang="en-US" dirty="0"/>
                    </a:p>
                  </a:txBody>
                  <a:tcPr/>
                </a:tc>
                <a:extLst>
                  <a:ext uri="{0D108BD9-81ED-4DB2-BD59-A6C34878D82A}">
                    <a16:rowId xmlns:a16="http://schemas.microsoft.com/office/drawing/2014/main" val="314591670"/>
                  </a:ext>
                </a:extLst>
              </a:tr>
              <a:tr h="370840">
                <a:tc gridSpan="2" vMerge="1">
                  <a:txBody>
                    <a:bodyPr/>
                    <a:lstStyle/>
                    <a:p>
                      <a:endParaRPr lang="en-US"/>
                    </a:p>
                  </a:txBody>
                  <a:tcPr>
                    <a:lnB w="12700" cmpd="sng">
                      <a:noFill/>
                    </a:lnB>
                  </a:tcPr>
                </a:tc>
                <a:tc hMerge="1" vMerge="1">
                  <a:txBody>
                    <a:bodyPr/>
                    <a:lstStyle/>
                    <a:p>
                      <a:endParaRPr lang="en-US" dirty="0"/>
                    </a:p>
                  </a:txBody>
                  <a:tcPr/>
                </a:tc>
                <a:tc>
                  <a:txBody>
                    <a:bodyPr/>
                    <a:lstStyle/>
                    <a:p>
                      <a:r>
                        <a:rPr lang="en-US" dirty="0"/>
                        <a:t>Cancer = Yes</a:t>
                      </a:r>
                    </a:p>
                  </a:txBody>
                  <a:tcPr/>
                </a:tc>
                <a:tc>
                  <a:txBody>
                    <a:bodyPr/>
                    <a:lstStyle/>
                    <a:p>
                      <a:r>
                        <a:rPr lang="en-US" dirty="0"/>
                        <a:t>Cancer = NO</a:t>
                      </a:r>
                    </a:p>
                  </a:txBody>
                  <a:tcPr/>
                </a:tc>
                <a:extLst>
                  <a:ext uri="{0D108BD9-81ED-4DB2-BD59-A6C34878D82A}">
                    <a16:rowId xmlns:a16="http://schemas.microsoft.com/office/drawing/2014/main" val="221340753"/>
                  </a:ext>
                </a:extLst>
              </a:tr>
              <a:tr h="477520">
                <a:tc rowSpan="2">
                  <a:txBody>
                    <a:bodyPr/>
                    <a:lstStyle/>
                    <a:p>
                      <a:r>
                        <a:rPr lang="en-US" b="1" dirty="0">
                          <a:solidFill>
                            <a:schemeClr val="bg1"/>
                          </a:solidFill>
                        </a:rPr>
                        <a:t>Predicted Target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Cancer = Yes</a:t>
                      </a:r>
                    </a:p>
                    <a:p>
                      <a:endParaRPr lang="en-US" dirty="0"/>
                    </a:p>
                  </a:txBody>
                  <a:tcPr>
                    <a:lnL w="12700" cmpd="sng">
                      <a:noFill/>
                    </a:lnL>
                  </a:tcPr>
                </a:tc>
                <a:tc>
                  <a:txBody>
                    <a:bodyPr/>
                    <a:lstStyle/>
                    <a:p>
                      <a:r>
                        <a:rPr lang="en-US" dirty="0"/>
                        <a:t>TP=5</a:t>
                      </a:r>
                    </a:p>
                  </a:txBody>
                  <a:tcPr/>
                </a:tc>
                <a:tc>
                  <a:txBody>
                    <a:bodyPr/>
                    <a:lstStyle/>
                    <a:p>
                      <a:r>
                        <a:rPr lang="en-US" dirty="0"/>
                        <a:t>FP=5</a:t>
                      </a:r>
                    </a:p>
                  </a:txBody>
                  <a:tcPr/>
                </a:tc>
                <a:extLst>
                  <a:ext uri="{0D108BD9-81ED-4DB2-BD59-A6C34878D82A}">
                    <a16:rowId xmlns:a16="http://schemas.microsoft.com/office/drawing/2014/main" val="2423183875"/>
                  </a:ext>
                </a:extLst>
              </a:tr>
              <a:tr h="370840">
                <a:tc v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Cancer = NO</a:t>
                      </a:r>
                    </a:p>
                    <a:p>
                      <a:endParaRPr lang="en-US" dirty="0"/>
                    </a:p>
                  </a:txBody>
                  <a:tcPr>
                    <a:lnL w="12700" cmpd="sng">
                      <a:noFill/>
                    </a:lnL>
                  </a:tcPr>
                </a:tc>
                <a:tc>
                  <a:txBody>
                    <a:bodyPr/>
                    <a:lstStyle/>
                    <a:p>
                      <a:r>
                        <a:rPr lang="en-US" dirty="0"/>
                        <a:t>FN=10</a:t>
                      </a:r>
                    </a:p>
                  </a:txBody>
                  <a:tcPr/>
                </a:tc>
                <a:tc>
                  <a:txBody>
                    <a:bodyPr/>
                    <a:lstStyle/>
                    <a:p>
                      <a:r>
                        <a:rPr lang="en-US" dirty="0"/>
                        <a:t>TN=70</a:t>
                      </a:r>
                    </a:p>
                  </a:txBody>
                  <a:tcPr/>
                </a:tc>
                <a:extLst>
                  <a:ext uri="{0D108BD9-81ED-4DB2-BD59-A6C34878D82A}">
                    <a16:rowId xmlns:a16="http://schemas.microsoft.com/office/drawing/2014/main" val="1411703121"/>
                  </a:ext>
                </a:extLst>
              </a:tr>
            </a:tbl>
          </a:graphicData>
        </a:graphic>
      </p:graphicFrame>
    </p:spTree>
    <p:extLst>
      <p:ext uri="{BB962C8B-B14F-4D97-AF65-F5344CB8AC3E}">
        <p14:creationId xmlns:p14="http://schemas.microsoft.com/office/powerpoint/2010/main" val="382750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29900"/>
            <a:ext cx="7391399" cy="1280890"/>
          </a:xfrm>
        </p:spPr>
        <p:txBody>
          <a:bodyPr/>
          <a:lstStyle/>
          <a:p>
            <a:r>
              <a:rPr lang="en-US" altLang="en-US" dirty="0">
                <a:latin typeface="Times New Roman" panose="02020603050405020304" pitchFamily="18" charset="0"/>
                <a:cs typeface="Times New Roman" panose="02020603050405020304" pitchFamily="18" charset="0"/>
              </a:rPr>
              <a:t>Receive operating characteristics curve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17</a:t>
            </a:fld>
            <a:endParaRPr lang="en-US"/>
          </a:p>
        </p:txBody>
      </p:sp>
      <p:sp>
        <p:nvSpPr>
          <p:cNvPr id="5" name="Content Placeholder 6"/>
          <p:cNvSpPr>
            <a:spLocks noGrp="1"/>
          </p:cNvSpPr>
          <p:nvPr>
            <p:ph idx="1"/>
          </p:nvPr>
        </p:nvSpPr>
        <p:spPr>
          <a:xfrm>
            <a:off x="1096206" y="1447800"/>
            <a:ext cx="7514394" cy="4900824"/>
          </a:xfrm>
        </p:spPr>
        <p:txBody>
          <a:bodyPr>
            <a:normAutofit/>
          </a:bodyPr>
          <a:lstStyle/>
          <a:p>
            <a:r>
              <a:rPr lang="en-US" altLang="en-US" sz="2400" dirty="0">
                <a:latin typeface="Times New Roman" panose="02020603050405020304" pitchFamily="18" charset="0"/>
                <a:cs typeface="Times New Roman" panose="02020603050405020304" pitchFamily="18" charset="0"/>
              </a:rPr>
              <a:t>It is commonly called the </a:t>
            </a:r>
            <a:r>
              <a:rPr lang="en-US" altLang="en-US" sz="2400" dirty="0">
                <a:solidFill>
                  <a:srgbClr val="FF0000"/>
                </a:solidFill>
                <a:latin typeface="Times New Roman" panose="02020603050405020304" pitchFamily="18" charset="0"/>
                <a:cs typeface="Times New Roman" panose="02020603050405020304" pitchFamily="18" charset="0"/>
              </a:rPr>
              <a:t>ROC curve.</a:t>
            </a:r>
          </a:p>
          <a:p>
            <a:r>
              <a:rPr lang="en-US" altLang="en-US" sz="2400" dirty="0">
                <a:latin typeface="Times New Roman" panose="02020603050405020304" pitchFamily="18" charset="0"/>
                <a:cs typeface="Times New Roman" panose="02020603050405020304" pitchFamily="18" charset="0"/>
              </a:rPr>
              <a:t>It is a plot of the </a:t>
            </a:r>
            <a:r>
              <a:rPr lang="en-US" altLang="en-US" sz="2400" dirty="0">
                <a:solidFill>
                  <a:srgbClr val="3333CC"/>
                </a:solidFill>
                <a:latin typeface="Times New Roman" panose="02020603050405020304" pitchFamily="18" charset="0"/>
                <a:cs typeface="Times New Roman" panose="02020603050405020304" pitchFamily="18" charset="0"/>
              </a:rPr>
              <a:t>true positive rate (TPR) </a:t>
            </a:r>
            <a:r>
              <a:rPr lang="en-US" altLang="en-US" sz="2400" dirty="0">
                <a:solidFill>
                  <a:srgbClr val="00B050"/>
                </a:solidFill>
                <a:latin typeface="Times New Roman" panose="02020603050405020304" pitchFamily="18" charset="0"/>
                <a:cs typeface="Times New Roman" panose="02020603050405020304" pitchFamily="18" charset="0"/>
              </a:rPr>
              <a:t>(sensitivity) </a:t>
            </a:r>
            <a:r>
              <a:rPr lang="en-US" altLang="en-US" sz="2400" dirty="0">
                <a:latin typeface="Times New Roman" panose="02020603050405020304" pitchFamily="18" charset="0"/>
                <a:cs typeface="Times New Roman" panose="02020603050405020304" pitchFamily="18" charset="0"/>
              </a:rPr>
              <a:t>against the </a:t>
            </a:r>
            <a:r>
              <a:rPr lang="en-US" altLang="en-US" sz="2400" dirty="0">
                <a:solidFill>
                  <a:srgbClr val="3333CC"/>
                </a:solidFill>
                <a:latin typeface="Times New Roman" panose="02020603050405020304" pitchFamily="18" charset="0"/>
                <a:cs typeface="Times New Roman" panose="02020603050405020304" pitchFamily="18" charset="0"/>
              </a:rPr>
              <a:t>false positive rate (FPR) </a:t>
            </a:r>
            <a:r>
              <a:rPr lang="en-US" altLang="en-US" sz="2400" dirty="0">
                <a:solidFill>
                  <a:srgbClr val="00B050"/>
                </a:solidFill>
                <a:latin typeface="Times New Roman" panose="02020603050405020304" pitchFamily="18" charset="0"/>
                <a:cs typeface="Times New Roman" panose="02020603050405020304" pitchFamily="18" charset="0"/>
              </a:rPr>
              <a:t>(1-specificity) .</a:t>
            </a:r>
          </a:p>
          <a:p>
            <a:endParaRPr lang="en-US" altLang="en-US" sz="2400" dirty="0">
              <a:solidFill>
                <a:srgbClr val="3333CC"/>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219200" y="3020840"/>
            <a:ext cx="4286614" cy="2973484"/>
          </a:xfrm>
          <a:prstGeom prst="rect">
            <a:avLst/>
          </a:prstGeom>
        </p:spPr>
      </p:pic>
      <p:sp>
        <p:nvSpPr>
          <p:cNvPr id="7" name="TextBox 6"/>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sp>
        <p:nvSpPr>
          <p:cNvPr id="8" name="Content Placeholder 6"/>
          <p:cNvSpPr txBox="1">
            <a:spLocks/>
          </p:cNvSpPr>
          <p:nvPr/>
        </p:nvSpPr>
        <p:spPr>
          <a:xfrm>
            <a:off x="5867399" y="3048000"/>
            <a:ext cx="2971799" cy="3048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area under the curve is called AUC</a:t>
            </a:r>
          </a:p>
          <a:p>
            <a:r>
              <a:rPr lang="en-US" altLang="en-US" sz="2400" dirty="0">
                <a:solidFill>
                  <a:schemeClr val="tx1"/>
                </a:solidFill>
                <a:latin typeface="Times New Roman" panose="02020603050405020304" pitchFamily="18" charset="0"/>
                <a:cs typeface="Times New Roman" panose="02020603050405020304" pitchFamily="18" charset="0"/>
              </a:rPr>
              <a:t>AUC=1 is the best AUC=0.5 </a:t>
            </a:r>
            <a:r>
              <a:rPr lang="en-US" altLang="en-US" sz="2400" dirty="0" err="1">
                <a:solidFill>
                  <a:schemeClr val="tx1"/>
                </a:solidFill>
                <a:latin typeface="Times New Roman" panose="02020603050405020304" pitchFamily="18" charset="0"/>
                <a:cs typeface="Times New Roman" panose="02020603050405020304" pitchFamily="18" charset="0"/>
              </a:rPr>
              <a:t>Gussing</a:t>
            </a:r>
            <a:r>
              <a:rPr lang="en-US" altLang="en-US" sz="2400" dirty="0">
                <a:solidFill>
                  <a:schemeClr val="tx1"/>
                </a:solidFill>
                <a:latin typeface="Times New Roman" panose="02020603050405020304" pitchFamily="18" charset="0"/>
                <a:cs typeface="Times New Roman" panose="02020603050405020304" pitchFamily="18" charset="0"/>
              </a:rPr>
              <a:t> AUC&gt;0.5 Good</a:t>
            </a:r>
          </a:p>
          <a:p>
            <a:endParaRPr lang="en-US" altLang="en-US" sz="2400" dirty="0">
              <a:solidFill>
                <a:srgbClr val="3333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4211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29900"/>
            <a:ext cx="7391399" cy="1280890"/>
          </a:xfrm>
        </p:spPr>
        <p:txBody>
          <a:bodyPr/>
          <a:lstStyle/>
          <a:p>
            <a:r>
              <a:rPr lang="en-US" altLang="en-US"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18</a:t>
            </a:fld>
            <a:endParaRPr lang="en-US"/>
          </a:p>
        </p:txBody>
      </p:sp>
      <p:sp>
        <p:nvSpPr>
          <p:cNvPr id="5" name="Content Placeholder 6"/>
          <p:cNvSpPr>
            <a:spLocks noGrp="1"/>
          </p:cNvSpPr>
          <p:nvPr>
            <p:ph idx="1"/>
          </p:nvPr>
        </p:nvSpPr>
        <p:spPr>
          <a:xfrm>
            <a:off x="1096206" y="1447800"/>
            <a:ext cx="7514394" cy="4900824"/>
          </a:xfrm>
        </p:spPr>
        <p:txBody>
          <a:bodyPr>
            <a:normAutofit/>
          </a:bodyPr>
          <a:lstStyle/>
          <a:p>
            <a:r>
              <a:rPr lang="en-US" altLang="en-US" sz="2400" dirty="0">
                <a:solidFill>
                  <a:srgbClr val="3333CC"/>
                </a:solidFill>
                <a:latin typeface="Times New Roman" panose="02020603050405020304" pitchFamily="18" charset="0"/>
                <a:cs typeface="Times New Roman" panose="02020603050405020304" pitchFamily="18" charset="0"/>
              </a:rPr>
              <a:t>Check the uploaded file on Canvas</a:t>
            </a:r>
          </a:p>
          <a:p>
            <a:endParaRPr lang="en-US" altLang="en-US" sz="2400" dirty="0">
              <a:solidFill>
                <a:srgbClr val="3333CC"/>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347662" y="6457890"/>
            <a:ext cx="2514600" cy="400110"/>
          </a:xfrm>
          <a:prstGeom prst="rect">
            <a:avLst/>
          </a:prstGeom>
          <a:noFill/>
        </p:spPr>
        <p:txBody>
          <a:bodyPr wrap="square" rtlCol="0">
            <a:spAutoFit/>
          </a:bodyPr>
          <a:lstStyle/>
          <a:p>
            <a:r>
              <a:rPr lang="en-US" sz="1000" dirty="0"/>
              <a:t>CS 760 (Machine learning)- University of Wisconsin, D. Page</a:t>
            </a:r>
          </a:p>
        </p:txBody>
      </p:sp>
    </p:spTree>
    <p:extLst>
      <p:ext uri="{BB962C8B-B14F-4D97-AF65-F5344CB8AC3E}">
        <p14:creationId xmlns:p14="http://schemas.microsoft.com/office/powerpoint/2010/main" val="586313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Overfitting</a:t>
            </a:r>
          </a:p>
        </p:txBody>
      </p:sp>
      <p:sp>
        <p:nvSpPr>
          <p:cNvPr id="4" name="Slide Number Placeholder 3"/>
          <p:cNvSpPr>
            <a:spLocks noGrp="1"/>
          </p:cNvSpPr>
          <p:nvPr>
            <p:ph type="sldNum" sz="quarter" idx="12"/>
          </p:nvPr>
        </p:nvSpPr>
        <p:spPr/>
        <p:txBody>
          <a:bodyPr/>
          <a:lstStyle/>
          <a:p>
            <a:fld id="{76F96C40-0356-46F5-90E5-FF57DE76D9A0}" type="slidenum">
              <a:rPr lang="en-US" smtClean="0"/>
              <a:t>19</a:t>
            </a:fld>
            <a:endParaRPr lang="en-US"/>
          </a:p>
        </p:txBody>
      </p:sp>
      <p:sp>
        <p:nvSpPr>
          <p:cNvPr id="6" name="TextBox 5"/>
          <p:cNvSpPr txBox="1"/>
          <p:nvPr/>
        </p:nvSpPr>
        <p:spPr>
          <a:xfrm>
            <a:off x="381000" y="6611779"/>
            <a:ext cx="2928938" cy="246221"/>
          </a:xfrm>
          <a:prstGeom prst="rect">
            <a:avLst/>
          </a:prstGeom>
          <a:noFill/>
        </p:spPr>
        <p:txBody>
          <a:bodyPr wrap="square" rtlCol="0">
            <a:spAutoFit/>
          </a:bodyPr>
          <a:lstStyle/>
          <a:p>
            <a:r>
              <a:rPr lang="en-US" sz="1000" dirty="0"/>
              <a:t>https://chemicalstatistician.wordpress.com</a:t>
            </a:r>
          </a:p>
        </p:txBody>
      </p:sp>
      <p:sp>
        <p:nvSpPr>
          <p:cNvPr id="7" name="Content Placeholder 6"/>
          <p:cNvSpPr>
            <a:spLocks noGrp="1"/>
          </p:cNvSpPr>
          <p:nvPr>
            <p:ph idx="1"/>
          </p:nvPr>
        </p:nvSpPr>
        <p:spPr>
          <a:xfrm>
            <a:off x="1096206" y="1447800"/>
            <a:ext cx="7514394" cy="4900824"/>
          </a:xfrm>
        </p:spPr>
        <p:txBody>
          <a:bodyPr>
            <a:normAutofit/>
          </a:bodyPr>
          <a:lstStyle/>
          <a:p>
            <a:r>
              <a:rPr lang="en-US" sz="2400" dirty="0">
                <a:latin typeface="Times New Roman" panose="02020603050405020304" pitchFamily="18" charset="0"/>
                <a:cs typeface="Times New Roman" panose="02020603050405020304" pitchFamily="18" charset="0"/>
              </a:rPr>
              <a:t>Overfitting occurs when a statistical model or machine learning algorithm captures the noise of the data.  </a:t>
            </a:r>
          </a:p>
          <a:p>
            <a:r>
              <a:rPr lang="en-US" sz="2400" dirty="0">
                <a:latin typeface="Times New Roman" panose="02020603050405020304" pitchFamily="18" charset="0"/>
                <a:cs typeface="Times New Roman" panose="02020603050405020304" pitchFamily="18" charset="0"/>
              </a:rPr>
              <a:t>Intuitively, overfitting occurs when the model or the algorithm fits the data too well.  </a:t>
            </a:r>
          </a:p>
          <a:p>
            <a:r>
              <a:rPr lang="en-US" sz="2400" dirty="0">
                <a:latin typeface="Times New Roman" panose="02020603050405020304" pitchFamily="18" charset="0"/>
                <a:cs typeface="Times New Roman" panose="02020603050405020304" pitchFamily="18" charset="0"/>
              </a:rPr>
              <a:t>Overfitting is usually called “high variance” in model.  </a:t>
            </a:r>
          </a:p>
          <a:p>
            <a:r>
              <a:rPr lang="en-US" sz="2400" dirty="0">
                <a:latin typeface="Times New Roman" panose="02020603050405020304" pitchFamily="18" charset="0"/>
                <a:cs typeface="Times New Roman" panose="02020603050405020304" pitchFamily="18" charset="0"/>
              </a:rPr>
              <a:t>Overfitting is often a result of an excessively complicated model, and it can be prevented by fitting multiple models and using validation or cross-validation to compare their predictive accuracies on test data.</a:t>
            </a:r>
          </a:p>
        </p:txBody>
      </p:sp>
    </p:spTree>
    <p:extLst>
      <p:ext uri="{BB962C8B-B14F-4D97-AF65-F5344CB8AC3E}">
        <p14:creationId xmlns:p14="http://schemas.microsoft.com/office/powerpoint/2010/main" val="3387097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err="1">
                <a:latin typeface="Times New Roman" panose="02020603050405020304" pitchFamily="18" charset="0"/>
                <a:cs typeface="Times New Roman" panose="02020603050405020304" pitchFamily="18" charset="0"/>
              </a:rPr>
              <a:t>Underfitting</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20</a:t>
            </a:fld>
            <a:endParaRPr lang="en-US"/>
          </a:p>
        </p:txBody>
      </p:sp>
      <p:sp>
        <p:nvSpPr>
          <p:cNvPr id="7" name="Content Placeholder 6"/>
          <p:cNvSpPr>
            <a:spLocks noGrp="1"/>
          </p:cNvSpPr>
          <p:nvPr>
            <p:ph idx="1"/>
          </p:nvPr>
        </p:nvSpPr>
        <p:spPr>
          <a:xfrm>
            <a:off x="1096206" y="1447800"/>
            <a:ext cx="7514394" cy="4900824"/>
          </a:xfrm>
        </p:spPr>
        <p:txBody>
          <a:bodyPr>
            <a:normAutofit/>
          </a:bodyPr>
          <a:lstStyle/>
          <a:p>
            <a:r>
              <a:rPr lang="en-US" sz="2400" dirty="0" err="1">
                <a:latin typeface="Times New Roman" panose="02020603050405020304" pitchFamily="18" charset="0"/>
                <a:cs typeface="Times New Roman" panose="02020603050405020304" pitchFamily="18" charset="0"/>
              </a:rPr>
              <a:t>Underfitting</a:t>
            </a:r>
            <a:r>
              <a:rPr lang="en-US" sz="2400" dirty="0">
                <a:latin typeface="Times New Roman" panose="02020603050405020304" pitchFamily="18" charset="0"/>
                <a:cs typeface="Times New Roman" panose="02020603050405020304" pitchFamily="18" charset="0"/>
              </a:rPr>
              <a:t> occurs when a statistical model or machine learning algorithm cannot capture the underlying trend of the data.  </a:t>
            </a:r>
          </a:p>
          <a:p>
            <a:r>
              <a:rPr lang="en-US" sz="2400" dirty="0">
                <a:latin typeface="Times New Roman" panose="02020603050405020304" pitchFamily="18" charset="0"/>
                <a:cs typeface="Times New Roman" panose="02020603050405020304" pitchFamily="18" charset="0"/>
              </a:rPr>
              <a:t>Intuitively, </a:t>
            </a:r>
            <a:r>
              <a:rPr lang="en-US" sz="2400" dirty="0" err="1">
                <a:latin typeface="Times New Roman" panose="02020603050405020304" pitchFamily="18" charset="0"/>
                <a:cs typeface="Times New Roman" panose="02020603050405020304" pitchFamily="18" charset="0"/>
              </a:rPr>
              <a:t>underfitting</a:t>
            </a:r>
            <a:r>
              <a:rPr lang="en-US" sz="2400" dirty="0">
                <a:latin typeface="Times New Roman" panose="02020603050405020304" pitchFamily="18" charset="0"/>
                <a:cs typeface="Times New Roman" panose="02020603050405020304" pitchFamily="18" charset="0"/>
              </a:rPr>
              <a:t> occurs when the model or the algorithm does not fit the data well enough.  </a:t>
            </a:r>
          </a:p>
          <a:p>
            <a:r>
              <a:rPr lang="en-US" sz="2400" dirty="0" err="1">
                <a:latin typeface="Times New Roman" panose="02020603050405020304" pitchFamily="18" charset="0"/>
                <a:cs typeface="Times New Roman" panose="02020603050405020304" pitchFamily="18" charset="0"/>
              </a:rPr>
              <a:t>Underfitting</a:t>
            </a:r>
            <a:r>
              <a:rPr lang="en-US" sz="2400" dirty="0">
                <a:latin typeface="Times New Roman" panose="02020603050405020304" pitchFamily="18" charset="0"/>
                <a:cs typeface="Times New Roman" panose="02020603050405020304" pitchFamily="18" charset="0"/>
              </a:rPr>
              <a:t> is usually called “ high bias” in model.  </a:t>
            </a:r>
          </a:p>
          <a:p>
            <a:r>
              <a:rPr lang="en-US" sz="2400" dirty="0" err="1">
                <a:latin typeface="Times New Roman" panose="02020603050405020304" pitchFamily="18" charset="0"/>
                <a:cs typeface="Times New Roman" panose="02020603050405020304" pitchFamily="18" charset="0"/>
              </a:rPr>
              <a:t>Underfitting</a:t>
            </a:r>
            <a:r>
              <a:rPr lang="en-US" sz="2400" dirty="0">
                <a:latin typeface="Times New Roman" panose="02020603050405020304" pitchFamily="18" charset="0"/>
                <a:cs typeface="Times New Roman" panose="02020603050405020304" pitchFamily="18" charset="0"/>
              </a:rPr>
              <a:t> is often a result of an excessively simple model.</a:t>
            </a:r>
          </a:p>
        </p:txBody>
      </p:sp>
      <p:sp>
        <p:nvSpPr>
          <p:cNvPr id="8" name="TextBox 7"/>
          <p:cNvSpPr txBox="1"/>
          <p:nvPr/>
        </p:nvSpPr>
        <p:spPr>
          <a:xfrm>
            <a:off x="381000" y="6611779"/>
            <a:ext cx="2928938" cy="246221"/>
          </a:xfrm>
          <a:prstGeom prst="rect">
            <a:avLst/>
          </a:prstGeom>
          <a:noFill/>
        </p:spPr>
        <p:txBody>
          <a:bodyPr wrap="square" rtlCol="0">
            <a:spAutoFit/>
          </a:bodyPr>
          <a:lstStyle/>
          <a:p>
            <a:r>
              <a:rPr lang="en-US" sz="1000" dirty="0"/>
              <a:t>https://chemicalstatistician.wordpress.com</a:t>
            </a:r>
          </a:p>
        </p:txBody>
      </p:sp>
    </p:spTree>
    <p:extLst>
      <p:ext uri="{BB962C8B-B14F-4D97-AF65-F5344CB8AC3E}">
        <p14:creationId xmlns:p14="http://schemas.microsoft.com/office/powerpoint/2010/main" val="2202926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Regression Example</a:t>
            </a:r>
          </a:p>
        </p:txBody>
      </p:sp>
      <p:sp>
        <p:nvSpPr>
          <p:cNvPr id="4" name="Slide Number Placeholder 3"/>
          <p:cNvSpPr>
            <a:spLocks noGrp="1"/>
          </p:cNvSpPr>
          <p:nvPr>
            <p:ph type="sldNum" sz="quarter" idx="12"/>
          </p:nvPr>
        </p:nvSpPr>
        <p:spPr/>
        <p:txBody>
          <a:bodyPr/>
          <a:lstStyle/>
          <a:p>
            <a:fld id="{76F96C40-0356-46F5-90E5-FF57DE76D9A0}" type="slidenum">
              <a:rPr lang="en-US" smtClean="0"/>
              <a:t>21</a:t>
            </a:fld>
            <a:endParaRPr lang="en-US"/>
          </a:p>
        </p:txBody>
      </p:sp>
      <p:sp>
        <p:nvSpPr>
          <p:cNvPr id="7" name="Content Placeholder 6"/>
          <p:cNvSpPr>
            <a:spLocks noGrp="1"/>
          </p:cNvSpPr>
          <p:nvPr>
            <p:ph idx="1"/>
          </p:nvPr>
        </p:nvSpPr>
        <p:spPr>
          <a:xfrm>
            <a:off x="1096206" y="1447800"/>
            <a:ext cx="7514394" cy="4900824"/>
          </a:xfrm>
        </p:spPr>
        <p:txBody>
          <a:bodyPr>
            <a:normAutofit/>
          </a:bodyPr>
          <a:lstStyle/>
          <a:p>
            <a:r>
              <a:rPr lang="en-US" sz="2400" dirty="0">
                <a:latin typeface="Times New Roman" panose="02020603050405020304" pitchFamily="18" charset="0"/>
                <a:cs typeface="Times New Roman" panose="02020603050405020304" pitchFamily="18" charset="0"/>
              </a:rPr>
              <a:t>What is the best model for House price based on the size of the house? Assume x=size of houses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2743200"/>
            <a:ext cx="4038600" cy="3043374"/>
          </a:xfrm>
          <a:prstGeom prst="rect">
            <a:avLst/>
          </a:prstGeom>
        </p:spPr>
      </p:pic>
      <p:sp>
        <p:nvSpPr>
          <p:cNvPr id="9" name="TextBox 8"/>
          <p:cNvSpPr txBox="1"/>
          <p:nvPr/>
        </p:nvSpPr>
        <p:spPr>
          <a:xfrm>
            <a:off x="228600" y="6626114"/>
            <a:ext cx="2928938" cy="246221"/>
          </a:xfrm>
          <a:prstGeom prst="rect">
            <a:avLst/>
          </a:prstGeom>
          <a:noFill/>
        </p:spPr>
        <p:txBody>
          <a:bodyPr wrap="square" rtlCol="0">
            <a:spAutoFit/>
          </a:bodyPr>
          <a:lstStyle/>
          <a:p>
            <a:r>
              <a:rPr lang="en-US" sz="1000" dirty="0"/>
              <a:t>ECE485- University of Manitoba, CA</a:t>
            </a:r>
          </a:p>
        </p:txBody>
      </p:sp>
    </p:spTree>
    <p:extLst>
      <p:ext uri="{BB962C8B-B14F-4D97-AF65-F5344CB8AC3E}">
        <p14:creationId xmlns:p14="http://schemas.microsoft.com/office/powerpoint/2010/main" val="2446204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Regression Example</a:t>
            </a:r>
          </a:p>
        </p:txBody>
      </p:sp>
      <p:sp>
        <p:nvSpPr>
          <p:cNvPr id="4" name="Slide Number Placeholder 3"/>
          <p:cNvSpPr>
            <a:spLocks noGrp="1"/>
          </p:cNvSpPr>
          <p:nvPr>
            <p:ph type="sldNum" sz="quarter" idx="12"/>
          </p:nvPr>
        </p:nvSpPr>
        <p:spPr/>
        <p:txBody>
          <a:bodyPr/>
          <a:lstStyle/>
          <a:p>
            <a:fld id="{76F96C40-0356-46F5-90E5-FF57DE76D9A0}" type="slidenum">
              <a:rPr lang="en-US" smtClean="0"/>
              <a:t>22</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838200" y="1447800"/>
                <a:ext cx="2590800" cy="4900824"/>
              </a:xfrm>
            </p:spPr>
            <p:txBody>
              <a:bodyPr>
                <a:normAutofit fontScale="62500" lnSpcReduction="20000"/>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p>
              <a:p>
                <a:r>
                  <a:rPr lang="en-US" sz="2400" dirty="0"/>
                  <a:t>Linear fit: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𝑥</m:t>
                    </m:r>
                  </m:oMath>
                </a14:m>
                <a:endParaRPr lang="en-US" sz="2400" dirty="0"/>
              </a:p>
              <a:p>
                <a:r>
                  <a:rPr lang="en-US" sz="2400" dirty="0"/>
                  <a:t>A line has a poor fit of the training data and the training error is relatively large. </a:t>
                </a:r>
              </a:p>
              <a:p>
                <a:r>
                  <a:rPr lang="en-US" sz="2400" dirty="0"/>
                  <a:t>Similarly, the machine would perform poorly on new inputs. </a:t>
                </a:r>
              </a:p>
              <a:p>
                <a:r>
                  <a:rPr lang="en-US" sz="2400" dirty="0" err="1"/>
                  <a:t>Underfitting</a:t>
                </a:r>
                <a:endParaRPr lang="en-US" sz="2400" dirty="0">
                  <a:latin typeface="Times New Roman" panose="02020603050405020304" pitchFamily="18" charset="0"/>
                  <a:cs typeface="Times New Roman" panose="02020603050405020304" pitchFamily="18" charset="0"/>
                </a:endParaRP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838200" y="1447800"/>
                <a:ext cx="2590800" cy="4900824"/>
              </a:xfrm>
              <a:blipFill>
                <a:blip r:embed="rId2"/>
                <a:stretch>
                  <a:fillRect l="-941" r="-471"/>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957263" y="1600200"/>
            <a:ext cx="2352675" cy="1838325"/>
          </a:xfrm>
          <a:prstGeom prst="rect">
            <a:avLst/>
          </a:prstGeom>
        </p:spPr>
      </p:pic>
      <mc:AlternateContent xmlns:mc="http://schemas.openxmlformats.org/markup-compatibility/2006" xmlns:a14="http://schemas.microsoft.com/office/drawing/2010/main">
        <mc:Choice Requires="a14">
          <p:sp>
            <p:nvSpPr>
              <p:cNvPr id="9" name="Content Placeholder 6"/>
              <p:cNvSpPr txBox="1">
                <a:spLocks/>
              </p:cNvSpPr>
              <p:nvPr/>
            </p:nvSpPr>
            <p:spPr>
              <a:xfrm>
                <a:off x="3409998" y="1470434"/>
                <a:ext cx="2590800" cy="4900824"/>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a:p>
                <a:r>
                  <a:rPr lang="en-US" dirty="0"/>
                  <a:t>Quadratic fit: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1</m:t>
                          </m:r>
                        </m:sub>
                      </m:sSub>
                      <m:r>
                        <a:rPr lang="en-US" i="1">
                          <a:latin typeface="Cambria Math" panose="02040503050406030204" pitchFamily="18" charset="0"/>
                        </a:rPr>
                        <m:t>𝑥</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p>
                <a:r>
                  <a:rPr lang="en-US" dirty="0"/>
                  <a:t>Parameters may not fit the data exactly, but the machine would perform relatively well on new data (assumes the training set is representative of the new inputs). </a:t>
                </a:r>
              </a:p>
              <a:p>
                <a:r>
                  <a:rPr lang="en-US" dirty="0"/>
                  <a:t>Optimal fit</a:t>
                </a:r>
                <a:endParaRPr lang="en-US" dirty="0">
                  <a:latin typeface="Times New Roman" panose="02020603050405020304" pitchFamily="18" charset="0"/>
                  <a:cs typeface="Times New Roman" panose="02020603050405020304" pitchFamily="18" charset="0"/>
                </a:endParaRPr>
              </a:p>
            </p:txBody>
          </p:sp>
        </mc:Choice>
        <mc:Fallback xmlns="">
          <p:sp>
            <p:nvSpPr>
              <p:cNvPr id="9" name="Content Placeholder 6"/>
              <p:cNvSpPr txBox="1">
                <a:spLocks noRot="1" noChangeAspect="1" noMove="1" noResize="1" noEditPoints="1" noAdjustHandles="1" noChangeArrowheads="1" noChangeShapeType="1" noTextEdit="1"/>
              </p:cNvSpPr>
              <p:nvPr/>
            </p:nvSpPr>
            <p:spPr>
              <a:xfrm>
                <a:off x="3409998" y="1470434"/>
                <a:ext cx="2590800" cy="4900824"/>
              </a:xfrm>
              <a:prstGeom prst="rect">
                <a:avLst/>
              </a:prstGeom>
              <a:blipFill>
                <a:blip r:embed="rId4"/>
                <a:stretch>
                  <a:fillRect l="-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6"/>
              <p:cNvSpPr txBox="1">
                <a:spLocks/>
              </p:cNvSpPr>
              <p:nvPr/>
            </p:nvSpPr>
            <p:spPr>
              <a:xfrm>
                <a:off x="5981796" y="1493068"/>
                <a:ext cx="2857404" cy="4900824"/>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p>
              <a:p>
                <a:endParaRPr lang="en-US" sz="2400" dirty="0"/>
              </a:p>
              <a:p>
                <a:r>
                  <a:rPr lang="en-US" sz="2400" dirty="0"/>
                  <a:t>Polynomial fit: </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1</m:t>
                          </m:r>
                        </m:sub>
                      </m:sSub>
                      <m:r>
                        <a:rPr lang="en-US" sz="2400" i="1">
                          <a:latin typeface="Cambria Math" panose="02040503050406030204" pitchFamily="18" charset="0"/>
                        </a:rPr>
                        <m:t>𝑥</m:t>
                      </m:r>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2</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𝑛</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b="0" i="1" smtClean="0">
                              <a:latin typeface="Cambria Math" panose="02040503050406030204" pitchFamily="18" charset="0"/>
                            </a:rPr>
                            <m:t>𝑛</m:t>
                          </m:r>
                        </m:sup>
                      </m:sSup>
                    </m:oMath>
                  </m:oMathPara>
                </a14:m>
                <a:endParaRPr lang="en-US" sz="2400" dirty="0"/>
              </a:p>
              <a:p>
                <a:r>
                  <a:rPr lang="en-US" sz="2400" dirty="0"/>
                  <a:t>Parameters fit the data exactly: </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𝐽</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
                            <a:rPr lang="en-US" sz="2400" i="1">
                              <a:latin typeface="Cambria Math" panose="02040503050406030204" pitchFamily="18" charset="0"/>
                            </a:rPr>
                            <m:t>𝑚</m:t>
                          </m:r>
                        </m:den>
                      </m:f>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𝑚</m:t>
                          </m:r>
                        </m:sup>
                        <m:e>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ea typeface="Cambria Math" panose="02040503050406030204" pitchFamily="18" charset="0"/>
                                </a:rPr>
                                <m:t>𝜃</m:t>
                              </m:r>
                            </m:sub>
                          </m:sSub>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e>
                                  </m:d>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b="0" i="1" smtClean="0">
                                  <a:latin typeface="Cambria Math" panose="02040503050406030204" pitchFamily="18" charset="0"/>
                                </a:rPr>
                                <m:t>𝑖</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e>
                      </m:nary>
                      <m:r>
                        <a:rPr lang="en-US" sz="2400" b="0" i="1" smtClean="0">
                          <a:latin typeface="Cambria Math" panose="02040503050406030204" pitchFamily="18" charset="0"/>
                        </a:rPr>
                        <m:t>=0</m:t>
                      </m:r>
                    </m:oMath>
                  </m:oMathPara>
                </a14:m>
                <a:endParaRPr lang="en-US" sz="2400" dirty="0"/>
              </a:p>
              <a:p>
                <a:r>
                  <a:rPr lang="en-US" sz="2400" dirty="0"/>
                  <a:t> But the machine would perform poorly on new data. </a:t>
                </a:r>
              </a:p>
              <a:p>
                <a:r>
                  <a:rPr lang="en-US" sz="2400" dirty="0"/>
                  <a:t>Overfitting</a:t>
                </a:r>
                <a:endParaRPr lang="en-US" sz="2400" dirty="0">
                  <a:latin typeface="Times New Roman" panose="02020603050405020304" pitchFamily="18" charset="0"/>
                  <a:cs typeface="Times New Roman" panose="02020603050405020304" pitchFamily="18" charset="0"/>
                </a:endParaRPr>
              </a:p>
            </p:txBody>
          </p:sp>
        </mc:Choice>
        <mc:Fallback xmlns="">
          <p:sp>
            <p:nvSpPr>
              <p:cNvPr id="10" name="Content Placeholder 6"/>
              <p:cNvSpPr txBox="1">
                <a:spLocks noRot="1" noChangeAspect="1" noMove="1" noResize="1" noEditPoints="1" noAdjustHandles="1" noChangeArrowheads="1" noChangeShapeType="1" noTextEdit="1"/>
              </p:cNvSpPr>
              <p:nvPr/>
            </p:nvSpPr>
            <p:spPr>
              <a:xfrm>
                <a:off x="5981796" y="1493068"/>
                <a:ext cx="2857404" cy="4900824"/>
              </a:xfrm>
              <a:prstGeom prst="rect">
                <a:avLst/>
              </a:prstGeom>
              <a:blipFill>
                <a:blip r:embed="rId5"/>
                <a:stretch>
                  <a:fillRect l="-213" r="-1279"/>
                </a:stretch>
              </a:blipFill>
            </p:spPr>
            <p:txBody>
              <a:bodyPr/>
              <a:lstStyle/>
              <a:p>
                <a:r>
                  <a:rPr lang="en-US">
                    <a:noFill/>
                  </a:rPr>
                  <a:t> </a:t>
                </a:r>
              </a:p>
            </p:txBody>
          </p:sp>
        </mc:Fallback>
      </mc:AlternateContent>
      <p:pic>
        <p:nvPicPr>
          <p:cNvPr id="6" name="Picture 5"/>
          <p:cNvPicPr>
            <a:picLocks noChangeAspect="1"/>
          </p:cNvPicPr>
          <p:nvPr/>
        </p:nvPicPr>
        <p:blipFill>
          <a:blip r:embed="rId6"/>
          <a:stretch>
            <a:fillRect/>
          </a:stretch>
        </p:blipFill>
        <p:spPr>
          <a:xfrm>
            <a:off x="3594651" y="1576387"/>
            <a:ext cx="2381250" cy="1885950"/>
          </a:xfrm>
          <a:prstGeom prst="rect">
            <a:avLst/>
          </a:prstGeom>
        </p:spPr>
      </p:pic>
      <p:pic>
        <p:nvPicPr>
          <p:cNvPr id="11" name="Picture 10"/>
          <p:cNvPicPr>
            <a:picLocks noChangeAspect="1"/>
          </p:cNvPicPr>
          <p:nvPr/>
        </p:nvPicPr>
        <p:blipFill>
          <a:blip r:embed="rId7"/>
          <a:stretch>
            <a:fillRect/>
          </a:stretch>
        </p:blipFill>
        <p:spPr>
          <a:xfrm>
            <a:off x="6324600" y="1567374"/>
            <a:ext cx="2381250" cy="2000250"/>
          </a:xfrm>
          <a:prstGeom prst="rect">
            <a:avLst/>
          </a:prstGeom>
        </p:spPr>
      </p:pic>
      <p:sp>
        <p:nvSpPr>
          <p:cNvPr id="12" name="TextBox 11"/>
          <p:cNvSpPr txBox="1"/>
          <p:nvPr/>
        </p:nvSpPr>
        <p:spPr>
          <a:xfrm>
            <a:off x="381000" y="6611779"/>
            <a:ext cx="2928938" cy="246221"/>
          </a:xfrm>
          <a:prstGeom prst="rect">
            <a:avLst/>
          </a:prstGeom>
          <a:noFill/>
        </p:spPr>
        <p:txBody>
          <a:bodyPr wrap="square" rtlCol="0">
            <a:spAutoFit/>
          </a:bodyPr>
          <a:lstStyle/>
          <a:p>
            <a:r>
              <a:rPr lang="en-US" sz="1000" dirty="0"/>
              <a:t>ECE485- University of Manitoba, CA</a:t>
            </a:r>
          </a:p>
        </p:txBody>
      </p:sp>
    </p:spTree>
    <p:extLst>
      <p:ext uri="{BB962C8B-B14F-4D97-AF65-F5344CB8AC3E}">
        <p14:creationId xmlns:p14="http://schemas.microsoft.com/office/powerpoint/2010/main" val="98120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Classification Example</a:t>
            </a:r>
          </a:p>
        </p:txBody>
      </p:sp>
      <p:sp>
        <p:nvSpPr>
          <p:cNvPr id="4" name="Slide Number Placeholder 3"/>
          <p:cNvSpPr>
            <a:spLocks noGrp="1"/>
          </p:cNvSpPr>
          <p:nvPr>
            <p:ph type="sldNum" sz="quarter" idx="12"/>
          </p:nvPr>
        </p:nvSpPr>
        <p:spPr/>
        <p:txBody>
          <a:bodyPr/>
          <a:lstStyle/>
          <a:p>
            <a:fld id="{76F96C40-0356-46F5-90E5-FF57DE76D9A0}" type="slidenum">
              <a:rPr lang="en-US" smtClean="0"/>
              <a:t>23</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096206" y="1447800"/>
                <a:ext cx="7514394" cy="4900824"/>
              </a:xfrm>
            </p:spPr>
            <p:txBody>
              <a:bodyPr>
                <a:normAutofit/>
              </a:bodyPr>
              <a:lstStyle/>
              <a:p>
                <a:r>
                  <a:rPr lang="en-US" sz="2400" dirty="0">
                    <a:latin typeface="Times New Roman" panose="02020603050405020304" pitchFamily="18" charset="0"/>
                    <a:cs typeface="Times New Roman" panose="02020603050405020304" pitchFamily="18" charset="0"/>
                  </a:rPr>
                  <a:t>Can you predict the price of the house knowing size of the house and number of the rooms? </a:t>
                </a:r>
              </a:p>
              <a:p>
                <a:pPr marL="0" indent="0">
                  <a:buNone/>
                </a:pPr>
                <a:r>
                  <a:rPr lang="en-US" sz="2400" dirty="0">
                    <a:latin typeface="Times New Roman" panose="02020603050405020304" pitchFamily="18" charset="0"/>
                    <a:cs typeface="Times New Roman" panose="02020603050405020304" pitchFamily="18" charset="0"/>
                  </a:rPr>
                  <a:t>     Assume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rPr>
                          <m:t>1</m:t>
                        </m:r>
                      </m:sub>
                    </m:sSub>
                  </m:oMath>
                </a14:m>
                <a:r>
                  <a:rPr lang="en-US" sz="2400" dirty="0"/>
                  <a:t>=</a:t>
                </a:r>
                <a:r>
                  <a:rPr lang="en-US" sz="2400" dirty="0">
                    <a:latin typeface="Times New Roman" panose="02020603050405020304" pitchFamily="18" charset="0"/>
                    <a:cs typeface="Times New Roman" panose="02020603050405020304" pitchFamily="18" charset="0"/>
                  </a:rPr>
                  <a:t>size of the house</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rPr>
                          <m:t>2</m:t>
                        </m:r>
                      </m:sub>
                    </m:sSub>
                  </m:oMath>
                </a14:m>
                <a:r>
                  <a:rPr lang="en-US" sz="2400" dirty="0"/>
                  <a:t>= </a:t>
                </a:r>
                <a:r>
                  <a:rPr lang="en-US" sz="2400" dirty="0">
                    <a:latin typeface="Times New Roman" panose="02020603050405020304" pitchFamily="18" charset="0"/>
                    <a:cs typeface="Times New Roman" panose="02020603050405020304" pitchFamily="18" charset="0"/>
                  </a:rPr>
                  <a:t>Number of rooms</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096206" y="1447800"/>
                <a:ext cx="7514394" cy="4900824"/>
              </a:xfrm>
              <a:blipFill>
                <a:blip r:embed="rId2"/>
                <a:stretch>
                  <a:fillRect l="-1135" t="-996"/>
                </a:stretch>
              </a:blipFill>
            </p:spPr>
            <p:txBody>
              <a:bodyPr/>
              <a:lstStyle/>
              <a:p>
                <a:r>
                  <a:rPr lang="en-US">
                    <a:noFill/>
                  </a:rPr>
                  <a:t> </a:t>
                </a:r>
              </a:p>
            </p:txBody>
          </p:sp>
        </mc:Fallback>
      </mc:AlternateContent>
      <p:sp>
        <p:nvSpPr>
          <p:cNvPr id="9" name="TextBox 8"/>
          <p:cNvSpPr txBox="1"/>
          <p:nvPr/>
        </p:nvSpPr>
        <p:spPr>
          <a:xfrm>
            <a:off x="228600" y="6626114"/>
            <a:ext cx="2928938" cy="246221"/>
          </a:xfrm>
          <a:prstGeom prst="rect">
            <a:avLst/>
          </a:prstGeom>
          <a:noFill/>
        </p:spPr>
        <p:txBody>
          <a:bodyPr wrap="square" rtlCol="0">
            <a:spAutoFit/>
          </a:bodyPr>
          <a:lstStyle/>
          <a:p>
            <a:r>
              <a:rPr lang="en-US" sz="1000" dirty="0"/>
              <a:t>ECE485- University of Manitoba, CA</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872" y="3041523"/>
            <a:ext cx="3929062" cy="3564221"/>
          </a:xfrm>
          <a:prstGeom prst="rect">
            <a:avLst/>
          </a:prstGeom>
        </p:spPr>
      </p:pic>
    </p:spTree>
    <p:extLst>
      <p:ext uri="{BB962C8B-B14F-4D97-AF65-F5344CB8AC3E}">
        <p14:creationId xmlns:p14="http://schemas.microsoft.com/office/powerpoint/2010/main" val="1058583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Classification Example</a:t>
            </a:r>
          </a:p>
        </p:txBody>
      </p:sp>
      <p:sp>
        <p:nvSpPr>
          <p:cNvPr id="4" name="Slide Number Placeholder 3"/>
          <p:cNvSpPr>
            <a:spLocks noGrp="1"/>
          </p:cNvSpPr>
          <p:nvPr>
            <p:ph type="sldNum" sz="quarter" idx="12"/>
          </p:nvPr>
        </p:nvSpPr>
        <p:spPr/>
        <p:txBody>
          <a:bodyPr/>
          <a:lstStyle/>
          <a:p>
            <a:fld id="{76F96C40-0356-46F5-90E5-FF57DE76D9A0}" type="slidenum">
              <a:rPr lang="en-US" smtClean="0"/>
              <a:t>24</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838200" y="1447800"/>
                <a:ext cx="2590800" cy="4900824"/>
              </a:xfrm>
            </p:spPr>
            <p:txBody>
              <a:bodyPr>
                <a:normAutofit fontScale="55000" lnSpcReduction="20000"/>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p>
              <a:p>
                <a:endParaRPr lang="en-US" sz="2400" dirty="0"/>
              </a:p>
              <a:p>
                <a:r>
                  <a:rPr lang="en-US" sz="2400" dirty="0"/>
                  <a:t>Linear fit: </a:t>
                </a:r>
              </a:p>
              <a:p>
                <a:pPr marL="0" indent="0">
                  <a:buNone/>
                </a:pP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i="1">
                            <a:latin typeface="Cambria Math" panose="02040503050406030204" pitchFamily="18" charset="0"/>
                          </a:rPr>
                          <m:t>1</m:t>
                        </m:r>
                      </m:sub>
                    </m:sSub>
                  </m:oMath>
                </a14:m>
                <a:r>
                  <a:rPr lang="en-US" sz="2400" dirty="0"/>
                  <a:t>+</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2</m:t>
                        </m:r>
                      </m:sub>
                    </m:sSub>
                  </m:oMath>
                </a14:m>
                <a:endParaRPr lang="en-US" sz="2400" dirty="0"/>
              </a:p>
              <a:p>
                <a:r>
                  <a:rPr lang="en-US" sz="2400" dirty="0"/>
                  <a:t>A line has a poor fit of the training data and the training error is relatively large. </a:t>
                </a:r>
              </a:p>
              <a:p>
                <a:r>
                  <a:rPr lang="en-US" sz="2400" dirty="0"/>
                  <a:t>Similarly, the machine would perform poorly on new inputs. </a:t>
                </a:r>
              </a:p>
              <a:p>
                <a:r>
                  <a:rPr lang="en-US" sz="2400" dirty="0" err="1"/>
                  <a:t>Underfitting</a:t>
                </a:r>
                <a:endParaRPr lang="en-US" sz="2400" dirty="0">
                  <a:latin typeface="Times New Roman" panose="02020603050405020304" pitchFamily="18" charset="0"/>
                  <a:cs typeface="Times New Roman" panose="02020603050405020304" pitchFamily="18" charset="0"/>
                </a:endParaRP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838200" y="1447800"/>
                <a:ext cx="2590800" cy="4900824"/>
              </a:xfrm>
              <a:blipFill>
                <a:blip r:embed="rId2"/>
                <a:stretch>
                  <a:fillRect l="-235" r="-1412"/>
                </a:stretch>
              </a:blipFill>
            </p:spPr>
            <p:txBody>
              <a:bodyPr/>
              <a:lstStyle/>
              <a:p>
                <a:r>
                  <a:rPr lang="en-US">
                    <a:noFill/>
                  </a:rPr>
                  <a:t> </a:t>
                </a:r>
              </a:p>
            </p:txBody>
          </p:sp>
        </mc:Fallback>
      </mc:AlternateContent>
      <p:sp>
        <p:nvSpPr>
          <p:cNvPr id="8" name="TextBox 7"/>
          <p:cNvSpPr txBox="1"/>
          <p:nvPr/>
        </p:nvSpPr>
        <p:spPr>
          <a:xfrm>
            <a:off x="381000" y="6611779"/>
            <a:ext cx="2928938" cy="246221"/>
          </a:xfrm>
          <a:prstGeom prst="rect">
            <a:avLst/>
          </a:prstGeom>
          <a:noFill/>
        </p:spPr>
        <p:txBody>
          <a:bodyPr wrap="square" rtlCol="0">
            <a:spAutoFit/>
          </a:bodyPr>
          <a:lstStyle/>
          <a:p>
            <a:r>
              <a:rPr lang="en-US" sz="1000" dirty="0"/>
              <a:t>ECE485- University of Manitoba, CA</a:t>
            </a:r>
          </a:p>
        </p:txBody>
      </p:sp>
      <mc:AlternateContent xmlns:mc="http://schemas.openxmlformats.org/markup-compatibility/2006" xmlns:a14="http://schemas.microsoft.com/office/drawing/2010/main">
        <mc:Choice Requires="a14">
          <p:sp>
            <p:nvSpPr>
              <p:cNvPr id="9" name="Content Placeholder 6"/>
              <p:cNvSpPr txBox="1">
                <a:spLocks/>
              </p:cNvSpPr>
              <p:nvPr/>
            </p:nvSpPr>
            <p:spPr>
              <a:xfrm>
                <a:off x="3409998" y="1470434"/>
                <a:ext cx="2590800" cy="4900824"/>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a:p>
                <a:r>
                  <a:rPr lang="en-US" dirty="0"/>
                  <a:t>Quadratic fit: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1</m:t>
                          </m:r>
                        </m:sub>
                      </m:sSub>
                      <m:r>
                        <a:rPr lang="en-US" i="1">
                          <a:latin typeface="Cambria Math" panose="02040503050406030204" pitchFamily="18" charset="0"/>
                        </a:rPr>
                        <m:t>𝑥</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2</m:t>
                          </m:r>
                        </m:sub>
                      </m:sSub>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p>
                <a:r>
                  <a:rPr lang="en-US" dirty="0"/>
                  <a:t>Parameters may not fit the data exactly, but the machine would perform relatively well on new data (assumes the training set is representative of the new inputs). </a:t>
                </a:r>
              </a:p>
              <a:p>
                <a:r>
                  <a:rPr lang="en-US" dirty="0"/>
                  <a:t>Optimal fit.</a:t>
                </a:r>
                <a:endParaRPr lang="en-US" dirty="0">
                  <a:latin typeface="Times New Roman" panose="02020603050405020304" pitchFamily="18" charset="0"/>
                  <a:cs typeface="Times New Roman" panose="02020603050405020304" pitchFamily="18" charset="0"/>
                </a:endParaRPr>
              </a:p>
            </p:txBody>
          </p:sp>
        </mc:Choice>
        <mc:Fallback xmlns="">
          <p:sp>
            <p:nvSpPr>
              <p:cNvPr id="9" name="Content Placeholder 6"/>
              <p:cNvSpPr txBox="1">
                <a:spLocks noRot="1" noChangeAspect="1" noMove="1" noResize="1" noEditPoints="1" noAdjustHandles="1" noChangeArrowheads="1" noChangeShapeType="1" noTextEdit="1"/>
              </p:cNvSpPr>
              <p:nvPr/>
            </p:nvSpPr>
            <p:spPr>
              <a:xfrm>
                <a:off x="3409998" y="1470434"/>
                <a:ext cx="2590800" cy="4900824"/>
              </a:xfrm>
              <a:prstGeom prst="rect">
                <a:avLst/>
              </a:prstGeom>
              <a:blipFill>
                <a:blip r:embed="rId3"/>
                <a:stretch>
                  <a:fillRect l="-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6"/>
              <p:cNvSpPr txBox="1">
                <a:spLocks/>
              </p:cNvSpPr>
              <p:nvPr/>
            </p:nvSpPr>
            <p:spPr>
              <a:xfrm>
                <a:off x="5981796" y="1493068"/>
                <a:ext cx="2857404" cy="4900824"/>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p>
              <a:p>
                <a:endParaRPr lang="en-US" sz="2400" dirty="0"/>
              </a:p>
              <a:p>
                <a:r>
                  <a:rPr lang="en-US" sz="2400" dirty="0"/>
                  <a:t>Polynomial fit: </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1</m:t>
                          </m:r>
                        </m:sub>
                      </m:sSub>
                      <m:r>
                        <a:rPr lang="en-US" sz="2400" i="1">
                          <a:latin typeface="Cambria Math" panose="02040503050406030204" pitchFamily="18" charset="0"/>
                        </a:rPr>
                        <m:t>𝑥</m:t>
                      </m:r>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2</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2</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b="0" i="1" smtClean="0">
                              <a:latin typeface="Cambria Math" panose="02040503050406030204" pitchFamily="18" charset="0"/>
                            </a:rPr>
                            <m:t>3</m:t>
                          </m:r>
                        </m:sup>
                      </m:sSup>
                      <m:r>
                        <a:rPr lang="en-US" sz="2400" b="0" i="1" smtClean="0">
                          <a:latin typeface="Cambria Math" panose="02040503050406030204" pitchFamily="18" charset="0"/>
                        </a:rPr>
                        <m:t>+…</m:t>
                      </m:r>
                    </m:oMath>
                  </m:oMathPara>
                </a14:m>
                <a:endParaRPr lang="en-US" sz="2400" dirty="0"/>
              </a:p>
              <a:p>
                <a:r>
                  <a:rPr lang="en-US" sz="2400" dirty="0"/>
                  <a:t>Parameters fit the data exactly: </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𝐽</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
                            <a:rPr lang="en-US" sz="2400" i="1">
                              <a:latin typeface="Cambria Math" panose="02040503050406030204" pitchFamily="18" charset="0"/>
                            </a:rPr>
                            <m:t>𝑚</m:t>
                          </m:r>
                        </m:den>
                      </m:f>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𝑚</m:t>
                          </m:r>
                        </m:sup>
                        <m:e>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ea typeface="Cambria Math" panose="02040503050406030204" pitchFamily="18" charset="0"/>
                                </a:rPr>
                                <m:t>𝜃</m:t>
                              </m:r>
                            </m:sub>
                          </m:sSub>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e>
                                  </m:d>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b="0" i="1" smtClean="0">
                                  <a:latin typeface="Cambria Math" panose="02040503050406030204" pitchFamily="18" charset="0"/>
                                </a:rPr>
                                <m:t>𝑖</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e>
                      </m:nary>
                      <m:r>
                        <a:rPr lang="en-US" sz="2400" b="0" i="1" smtClean="0">
                          <a:latin typeface="Cambria Math" panose="02040503050406030204" pitchFamily="18" charset="0"/>
                        </a:rPr>
                        <m:t>=0</m:t>
                      </m:r>
                    </m:oMath>
                  </m:oMathPara>
                </a14:m>
                <a:endParaRPr lang="en-US" sz="2400" dirty="0"/>
              </a:p>
              <a:p>
                <a:r>
                  <a:rPr lang="en-US" sz="2400" dirty="0"/>
                  <a:t> But the machine would perform poorly on new data. </a:t>
                </a:r>
              </a:p>
              <a:p>
                <a:r>
                  <a:rPr lang="en-US" sz="2400" dirty="0"/>
                  <a:t>Overfitting</a:t>
                </a:r>
                <a:endParaRPr lang="en-US" sz="2400" dirty="0">
                  <a:latin typeface="Times New Roman" panose="02020603050405020304" pitchFamily="18" charset="0"/>
                  <a:cs typeface="Times New Roman" panose="02020603050405020304" pitchFamily="18" charset="0"/>
                </a:endParaRPr>
              </a:p>
            </p:txBody>
          </p:sp>
        </mc:Choice>
        <mc:Fallback xmlns="">
          <p:sp>
            <p:nvSpPr>
              <p:cNvPr id="10" name="Content Placeholder 6"/>
              <p:cNvSpPr txBox="1">
                <a:spLocks noRot="1" noChangeAspect="1" noMove="1" noResize="1" noEditPoints="1" noAdjustHandles="1" noChangeArrowheads="1" noChangeShapeType="1" noTextEdit="1"/>
              </p:cNvSpPr>
              <p:nvPr/>
            </p:nvSpPr>
            <p:spPr>
              <a:xfrm>
                <a:off x="5981796" y="1493068"/>
                <a:ext cx="2857404" cy="4900824"/>
              </a:xfrm>
              <a:prstGeom prst="rect">
                <a:avLst/>
              </a:prstGeom>
              <a:blipFill>
                <a:blip r:embed="rId4"/>
                <a:stretch>
                  <a:fillRect l="-213" r="-1279"/>
                </a:stretch>
              </a:blipFill>
            </p:spPr>
            <p:txBody>
              <a:bodyPr/>
              <a:lstStyle/>
              <a:p>
                <a:r>
                  <a:rPr lang="en-US">
                    <a:noFill/>
                  </a:rPr>
                  <a:t> </a:t>
                </a:r>
              </a:p>
            </p:txBody>
          </p:sp>
        </mc:Fallback>
      </mc:AlternateContent>
      <p:pic>
        <p:nvPicPr>
          <p:cNvPr id="12" name="Picture 11"/>
          <p:cNvPicPr>
            <a:picLocks noChangeAspect="1"/>
          </p:cNvPicPr>
          <p:nvPr/>
        </p:nvPicPr>
        <p:blipFill>
          <a:blip r:embed="rId5"/>
          <a:stretch>
            <a:fillRect/>
          </a:stretch>
        </p:blipFill>
        <p:spPr>
          <a:xfrm>
            <a:off x="715412" y="1398711"/>
            <a:ext cx="2180188" cy="2073637"/>
          </a:xfrm>
          <a:prstGeom prst="rect">
            <a:avLst/>
          </a:prstGeom>
        </p:spPr>
      </p:pic>
      <p:pic>
        <p:nvPicPr>
          <p:cNvPr id="13" name="Picture 12"/>
          <p:cNvPicPr>
            <a:picLocks noChangeAspect="1"/>
          </p:cNvPicPr>
          <p:nvPr/>
        </p:nvPicPr>
        <p:blipFill>
          <a:blip r:embed="rId6"/>
          <a:stretch>
            <a:fillRect/>
          </a:stretch>
        </p:blipFill>
        <p:spPr>
          <a:xfrm>
            <a:off x="3429000" y="1371691"/>
            <a:ext cx="2228994" cy="2127676"/>
          </a:xfrm>
          <a:prstGeom prst="rect">
            <a:avLst/>
          </a:prstGeom>
        </p:spPr>
      </p:pic>
      <p:pic>
        <p:nvPicPr>
          <p:cNvPr id="14" name="Picture 13"/>
          <p:cNvPicPr>
            <a:picLocks noChangeAspect="1"/>
          </p:cNvPicPr>
          <p:nvPr/>
        </p:nvPicPr>
        <p:blipFill>
          <a:blip r:embed="rId7"/>
          <a:stretch>
            <a:fillRect/>
          </a:stretch>
        </p:blipFill>
        <p:spPr>
          <a:xfrm>
            <a:off x="6324601" y="1336987"/>
            <a:ext cx="2286000" cy="2164312"/>
          </a:xfrm>
          <a:prstGeom prst="rect">
            <a:avLst/>
          </a:prstGeom>
        </p:spPr>
      </p:pic>
    </p:spTree>
    <p:extLst>
      <p:ext uri="{BB962C8B-B14F-4D97-AF65-F5344CB8AC3E}">
        <p14:creationId xmlns:p14="http://schemas.microsoft.com/office/powerpoint/2010/main" val="332863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How to resolve the fitting issues?</a:t>
            </a:r>
          </a:p>
        </p:txBody>
      </p:sp>
      <p:sp>
        <p:nvSpPr>
          <p:cNvPr id="4" name="Slide Number Placeholder 3"/>
          <p:cNvSpPr>
            <a:spLocks noGrp="1"/>
          </p:cNvSpPr>
          <p:nvPr>
            <p:ph type="sldNum" sz="quarter" idx="12"/>
          </p:nvPr>
        </p:nvSpPr>
        <p:spPr/>
        <p:txBody>
          <a:bodyPr/>
          <a:lstStyle/>
          <a:p>
            <a:fld id="{76F96C40-0356-46F5-90E5-FF57DE76D9A0}" type="slidenum">
              <a:rPr lang="en-US" smtClean="0"/>
              <a:t>25</a:t>
            </a:fld>
            <a:endParaRPr lang="en-US"/>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096206" y="1447800"/>
                <a:ext cx="7514394" cy="4900824"/>
              </a:xfrm>
            </p:spPr>
            <p:txBody>
              <a:bodyPr>
                <a:normAutofit/>
              </a:bodyPr>
              <a:lstStyle/>
              <a:p>
                <a:r>
                  <a:rPr lang="en-US" sz="2400" dirty="0">
                    <a:latin typeface="Times New Roman" panose="02020603050405020304" pitchFamily="18" charset="0"/>
                    <a:cs typeface="Times New Roman" panose="02020603050405020304" pitchFamily="18" charset="0"/>
                  </a:rPr>
                  <a:t>We can add a term to our loss function with the goal of addressing fitting issue. We call this method: “Regularization”</a:t>
                </a:r>
              </a:p>
              <a:p>
                <a:r>
                  <a:rPr lang="en-US" sz="2400" dirty="0">
                    <a:latin typeface="Times New Roman" panose="02020603050405020304" pitchFamily="18" charset="0"/>
                    <a:cs typeface="Times New Roman" panose="02020603050405020304" pitchFamily="18" charset="0"/>
                  </a:rPr>
                  <a:t>This will help us to:</a:t>
                </a:r>
              </a:p>
              <a:p>
                <a:pPr lvl="1"/>
                <a:r>
                  <a:rPr lang="en-US" sz="2200" dirty="0">
                    <a:latin typeface="Times New Roman" panose="02020603050405020304" pitchFamily="18" charset="0"/>
                    <a:cs typeface="Times New Roman" panose="02020603050405020304" pitchFamily="18" charset="0"/>
                  </a:rPr>
                  <a:t>Simpler Hypothesis</a:t>
                </a:r>
              </a:p>
              <a:p>
                <a:pPr lvl="1"/>
                <a:r>
                  <a:rPr lang="en-US" sz="2200" dirty="0">
                    <a:latin typeface="Times New Roman" panose="02020603050405020304" pitchFamily="18" charset="0"/>
                    <a:cs typeface="Times New Roman" panose="02020603050405020304" pitchFamily="18" charset="0"/>
                  </a:rPr>
                  <a:t>Less prone to overfitting</a:t>
                </a:r>
              </a:p>
              <a:p>
                <a:pPr lvl="1"/>
                <a:endParaRPr lang="en-US" sz="2200" dirty="0">
                  <a:latin typeface="Times New Roman" panose="02020603050405020304" pitchFamily="18" charset="0"/>
                  <a:cs typeface="Times New Roman" panose="02020603050405020304" pitchFamily="18" charset="0"/>
                </a:endParaRPr>
              </a:p>
              <a:p>
                <a:pPr marL="5715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𝐽</m:t>
                      </m:r>
                      <m:d>
                        <m:dPr>
                          <m:ctrlPr>
                            <a:rPr lang="en-US" sz="2200" i="1">
                              <a:latin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𝜃</m:t>
                          </m:r>
                        </m:e>
                      </m:d>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r>
                            <a:rPr lang="en-US" sz="2200" i="1">
                              <a:latin typeface="Cambria Math" panose="02040503050406030204" pitchFamily="18" charset="0"/>
                            </a:rPr>
                            <m:t>𝑚</m:t>
                          </m:r>
                        </m:den>
                      </m:f>
                      <m:r>
                        <a:rPr lang="en-US" sz="2200" b="0" i="1" smtClean="0">
                          <a:latin typeface="Cambria Math" panose="02040503050406030204" pitchFamily="18" charset="0"/>
                        </a:rPr>
                        <m:t>[</m:t>
                      </m:r>
                      <m:nary>
                        <m:naryPr>
                          <m:chr m:val="∑"/>
                          <m:ctrlPr>
                            <a:rPr lang="en-US" sz="2200" i="1">
                              <a:latin typeface="Cambria Math" panose="02040503050406030204" pitchFamily="18" charset="0"/>
                            </a:rPr>
                          </m:ctrlPr>
                        </m:naryPr>
                        <m:sub>
                          <m:r>
                            <m:rPr>
                              <m:brk m:alnAt="23"/>
                            </m:rP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𝑚</m:t>
                          </m:r>
                        </m:sup>
                        <m:e>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h</m:t>
                              </m:r>
                            </m:e>
                            <m:sub>
                              <m:r>
                                <a:rPr lang="en-US" sz="2200" i="1">
                                  <a:latin typeface="Cambria Math" panose="02040503050406030204" pitchFamily="18" charset="0"/>
                                  <a:ea typeface="Cambria Math" panose="02040503050406030204" pitchFamily="18" charset="0"/>
                                </a:rPr>
                                <m:t>𝜃</m:t>
                              </m:r>
                            </m:sub>
                          </m:sSub>
                          <m:d>
                            <m:dPr>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𝑥</m:t>
                                  </m:r>
                                </m:e>
                                <m:sup>
                                  <m:d>
                                    <m:dPr>
                                      <m:ctrlPr>
                                        <a:rPr lang="en-US" sz="2200" i="1">
                                          <a:latin typeface="Cambria Math" panose="02040503050406030204" pitchFamily="18" charset="0"/>
                                        </a:rPr>
                                      </m:ctrlPr>
                                    </m:dPr>
                                    <m:e>
                                      <m:r>
                                        <a:rPr lang="en-US" sz="2200" i="1">
                                          <a:latin typeface="Cambria Math" panose="02040503050406030204" pitchFamily="18" charset="0"/>
                                        </a:rPr>
                                        <m:t>𝑖</m:t>
                                      </m:r>
                                    </m:e>
                                  </m:d>
                                </m:sup>
                              </m:sSup>
                            </m:e>
                          </m:d>
                          <m:r>
                            <a:rPr lang="en-US" sz="2200" i="1">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𝑦</m:t>
                              </m:r>
                            </m:e>
                            <m:sup>
                              <m:r>
                                <a:rPr lang="en-US" sz="2200" i="1">
                                  <a:latin typeface="Cambria Math" panose="02040503050406030204" pitchFamily="18" charset="0"/>
                                </a:rPr>
                                <m:t>𝑖</m:t>
                              </m:r>
                            </m:sup>
                          </m:sSup>
                          <m:sSup>
                            <m:sSupPr>
                              <m:ctrlPr>
                                <a:rPr lang="en-US" sz="2200" i="1">
                                  <a:latin typeface="Cambria Math" panose="02040503050406030204" pitchFamily="18" charset="0"/>
                                </a:rPr>
                              </m:ctrlPr>
                            </m:sSupPr>
                            <m:e>
                              <m:r>
                                <a:rPr lang="en-US" sz="2200" i="1">
                                  <a:latin typeface="Cambria Math" panose="02040503050406030204" pitchFamily="18" charset="0"/>
                                </a:rPr>
                                <m:t>)</m:t>
                              </m:r>
                            </m:e>
                            <m:sup>
                              <m:r>
                                <a:rPr lang="en-US" sz="2200" i="1">
                                  <a:latin typeface="Cambria Math" panose="02040503050406030204" pitchFamily="18" charset="0"/>
                                </a:rPr>
                                <m:t>2</m:t>
                              </m:r>
                            </m:sup>
                          </m:sSup>
                        </m:e>
                      </m:nary>
                      <m:r>
                        <a:rPr lang="en-US"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𝜆</m:t>
                      </m:r>
                      <m:nary>
                        <m:naryPr>
                          <m:chr m:val="∑"/>
                          <m:ctrlPr>
                            <a:rPr lang="en-US" sz="2200" i="1">
                              <a:latin typeface="Cambria Math" panose="02040503050406030204" pitchFamily="18" charset="0"/>
                              <a:ea typeface="Cambria Math" panose="02040503050406030204" pitchFamily="18" charset="0"/>
                            </a:rPr>
                          </m:ctrlPr>
                        </m:naryPr>
                        <m:sub>
                          <m:r>
                            <m:rPr>
                              <m:brk m:alnAt="23"/>
                            </m:rPr>
                            <a:rPr lang="en-US" sz="2200" i="1">
                              <a:latin typeface="Cambria Math" panose="02040503050406030204" pitchFamily="18" charset="0"/>
                              <a:ea typeface="Cambria Math" panose="02040503050406030204" pitchFamily="18" charset="0"/>
                            </a:rPr>
                            <m:t>𝑗</m:t>
                          </m:r>
                          <m:r>
                            <a:rPr lang="en-US" sz="2200" i="1">
                              <a:latin typeface="Cambria Math" panose="02040503050406030204" pitchFamily="18" charset="0"/>
                              <a:ea typeface="Cambria Math" panose="02040503050406030204" pitchFamily="18" charset="0"/>
                            </a:rPr>
                            <m:t>=1</m:t>
                          </m:r>
                        </m:sub>
                        <m:sup>
                          <m:r>
                            <a:rPr lang="en-US" sz="2200" i="1">
                              <a:latin typeface="Cambria Math" panose="02040503050406030204" pitchFamily="18" charset="0"/>
                              <a:ea typeface="Cambria Math" panose="02040503050406030204" pitchFamily="18" charset="0"/>
                            </a:rPr>
                            <m:t>𝑛</m:t>
                          </m:r>
                        </m:sup>
                        <m:e>
                          <m:sSubSup>
                            <m:sSubSupPr>
                              <m:ctrlPr>
                                <a:rPr lang="en-US" sz="2200" i="1">
                                  <a:latin typeface="Cambria Math" panose="02040503050406030204" pitchFamily="18" charset="0"/>
                                  <a:ea typeface="Cambria Math" panose="02040503050406030204" pitchFamily="18" charset="0"/>
                                </a:rPr>
                              </m:ctrlPr>
                            </m:sSubSupPr>
                            <m:e>
                              <m:r>
                                <a:rPr lang="en-US" sz="2200" i="1">
                                  <a:latin typeface="Cambria Math" panose="02040503050406030204" pitchFamily="18" charset="0"/>
                                  <a:ea typeface="Cambria Math" panose="02040503050406030204" pitchFamily="18" charset="0"/>
                                </a:rPr>
                                <m:t>𝜃</m:t>
                              </m:r>
                            </m:e>
                            <m:sub>
                              <m:r>
                                <a:rPr lang="en-US" sz="2200" b="0" i="1" smtClean="0">
                                  <a:latin typeface="Cambria Math" panose="02040503050406030204" pitchFamily="18" charset="0"/>
                                  <a:ea typeface="Cambria Math" panose="02040503050406030204" pitchFamily="18" charset="0"/>
                                </a:rPr>
                                <m:t>𝑗</m:t>
                              </m:r>
                            </m:sub>
                            <m:sup>
                              <m:r>
                                <a:rPr lang="en-US" sz="2200" b="0" i="1" smtClean="0">
                                  <a:latin typeface="Cambria Math" panose="02040503050406030204" pitchFamily="18" charset="0"/>
                                  <a:ea typeface="Cambria Math" panose="02040503050406030204" pitchFamily="18" charset="0"/>
                                </a:rPr>
                                <m:t>2</m:t>
                              </m:r>
                            </m:sup>
                          </m:sSubSup>
                        </m:e>
                      </m:nary>
                      <m:r>
                        <a:rPr lang="en-US" sz="2200" b="0" i="1" smtClean="0">
                          <a:latin typeface="Cambria Math" panose="02040503050406030204" pitchFamily="18" charset="0"/>
                          <a:ea typeface="Cambria Math" panose="02040503050406030204" pitchFamily="18" charset="0"/>
                        </a:rPr>
                        <m:t>]</m:t>
                      </m:r>
                    </m:oMath>
                  </m:oMathPara>
                </a14:m>
                <a:endParaRPr lang="en-US" sz="2400" dirty="0">
                  <a:latin typeface="Times New Roman" panose="02020603050405020304" pitchFamily="18" charset="0"/>
                  <a:cs typeface="Times New Roman" panose="02020603050405020304" pitchFamily="18" charset="0"/>
                </a:endParaRPr>
              </a:p>
              <a:p>
                <a:pPr lvl="1"/>
                <a:endParaRPr lang="en-US" sz="2200" dirty="0">
                  <a:latin typeface="Times New Roman" panose="02020603050405020304" pitchFamily="18" charset="0"/>
                  <a:cs typeface="Times New Roman" panose="02020603050405020304" pitchFamily="18" charset="0"/>
                </a:endParaRP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096206" y="1447800"/>
                <a:ext cx="7514394" cy="4900824"/>
              </a:xfrm>
              <a:blipFill>
                <a:blip r:embed="rId2"/>
                <a:stretch>
                  <a:fillRect l="-1135" t="-996"/>
                </a:stretch>
              </a:blipFill>
            </p:spPr>
            <p:txBody>
              <a:bodyPr/>
              <a:lstStyle/>
              <a:p>
                <a:r>
                  <a:rPr lang="en-US">
                    <a:noFill/>
                  </a:rPr>
                  <a:t> </a:t>
                </a:r>
              </a:p>
            </p:txBody>
          </p:sp>
        </mc:Fallback>
      </mc:AlternateContent>
    </p:spTree>
    <p:extLst>
      <p:ext uri="{BB962C8B-B14F-4D97-AF65-F5344CB8AC3E}">
        <p14:creationId xmlns:p14="http://schemas.microsoft.com/office/powerpoint/2010/main" val="4180306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How </a:t>
            </a:r>
            <a:r>
              <a:rPr lang="en-US">
                <a:latin typeface="Times New Roman" panose="02020603050405020304" pitchFamily="18" charset="0"/>
                <a:cs typeface="Times New Roman" panose="02020603050405020304" pitchFamily="18" charset="0"/>
              </a:rPr>
              <a:t>do they look like?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26</a:t>
            </a:fld>
            <a:endParaRPr lang="en-US"/>
          </a:p>
        </p:txBody>
      </p:sp>
      <p:pic>
        <p:nvPicPr>
          <p:cNvPr id="3" name="Content Placeholder 2"/>
          <p:cNvPicPr>
            <a:picLocks noGrp="1" noChangeAspect="1"/>
          </p:cNvPicPr>
          <p:nvPr>
            <p:ph idx="1"/>
          </p:nvPr>
        </p:nvPicPr>
        <p:blipFill>
          <a:blip r:embed="rId2"/>
          <a:stretch>
            <a:fillRect/>
          </a:stretch>
        </p:blipFill>
        <p:spPr>
          <a:xfrm>
            <a:off x="1219200" y="1447800"/>
            <a:ext cx="3352800" cy="2247757"/>
          </a:xfrm>
          <a:prstGeom prst="rect">
            <a:avLst/>
          </a:prstGeom>
        </p:spPr>
      </p:pic>
      <p:pic>
        <p:nvPicPr>
          <p:cNvPr id="5" name="Picture 4"/>
          <p:cNvPicPr>
            <a:picLocks noChangeAspect="1"/>
          </p:cNvPicPr>
          <p:nvPr/>
        </p:nvPicPr>
        <p:blipFill>
          <a:blip r:embed="rId3"/>
          <a:stretch>
            <a:fillRect/>
          </a:stretch>
        </p:blipFill>
        <p:spPr>
          <a:xfrm>
            <a:off x="3886200" y="4114800"/>
            <a:ext cx="4551778" cy="2362200"/>
          </a:xfrm>
          <a:prstGeom prst="rect">
            <a:avLst/>
          </a:prstGeom>
        </p:spPr>
      </p:pic>
      <p:sp>
        <p:nvSpPr>
          <p:cNvPr id="6" name="TextBox 5"/>
          <p:cNvSpPr txBox="1"/>
          <p:nvPr/>
        </p:nvSpPr>
        <p:spPr>
          <a:xfrm>
            <a:off x="5257800" y="1905000"/>
            <a:ext cx="2667000"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Underfitting</a:t>
            </a:r>
            <a:r>
              <a:rPr lang="en-US" dirty="0">
                <a:latin typeface="Times New Roman" panose="02020603050405020304" pitchFamily="18" charset="0"/>
                <a:cs typeface="Times New Roman" panose="02020603050405020304" pitchFamily="18" charset="0"/>
              </a:rPr>
              <a:t> (Bias)</a:t>
            </a:r>
          </a:p>
        </p:txBody>
      </p:sp>
      <p:sp>
        <p:nvSpPr>
          <p:cNvPr id="10" name="TextBox 9"/>
          <p:cNvSpPr txBox="1"/>
          <p:nvPr/>
        </p:nvSpPr>
        <p:spPr>
          <a:xfrm>
            <a:off x="1198075" y="4926568"/>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Overfitting (Variance)</a:t>
            </a:r>
          </a:p>
        </p:txBody>
      </p:sp>
      <p:sp>
        <p:nvSpPr>
          <p:cNvPr id="8" name="Bent Arrow 7"/>
          <p:cNvSpPr/>
          <p:nvPr/>
        </p:nvSpPr>
        <p:spPr>
          <a:xfrm rot="10800000" flipH="1">
            <a:off x="2171700" y="5295900"/>
            <a:ext cx="1447800" cy="46886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Bent Arrow 10"/>
          <p:cNvSpPr/>
          <p:nvPr/>
        </p:nvSpPr>
        <p:spPr>
          <a:xfrm rot="10800000">
            <a:off x="5105400" y="2397952"/>
            <a:ext cx="1447800" cy="46886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381000" y="6611779"/>
            <a:ext cx="8056978" cy="246221"/>
          </a:xfrm>
          <a:prstGeom prst="rect">
            <a:avLst/>
          </a:prstGeom>
          <a:noFill/>
        </p:spPr>
        <p:txBody>
          <a:bodyPr wrap="square" rtlCol="0">
            <a:spAutoFit/>
          </a:bodyPr>
          <a:lstStyle/>
          <a:p>
            <a:r>
              <a:rPr lang="en-US" sz="1000" dirty="0"/>
              <a:t>https://medium.com/greyatom/what-is-underfitting-and-overfitting-in-machine-learning-and-how-to-deal-with-it-6803a989c76</a:t>
            </a:r>
          </a:p>
        </p:txBody>
      </p:sp>
    </p:spTree>
    <p:extLst>
      <p:ext uri="{BB962C8B-B14F-4D97-AF65-F5344CB8AC3E}">
        <p14:creationId xmlns:p14="http://schemas.microsoft.com/office/powerpoint/2010/main" val="656635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962" y="438484"/>
            <a:ext cx="7005638" cy="823690"/>
          </a:xfrm>
        </p:spPr>
        <p:txBody>
          <a:bodyPr>
            <a:normAutofit/>
          </a:bodyPr>
          <a:lstStyle/>
          <a:p>
            <a:r>
              <a:rPr lang="en-US" dirty="0">
                <a:latin typeface="Times New Roman" panose="02020603050405020304" pitchFamily="18" charset="0"/>
                <a:cs typeface="Times New Roman" panose="02020603050405020304" pitchFamily="18" charset="0"/>
              </a:rPr>
              <a:t>How to resolve the fitting issues?</a:t>
            </a:r>
          </a:p>
        </p:txBody>
      </p:sp>
      <p:sp>
        <p:nvSpPr>
          <p:cNvPr id="4" name="Slide Number Placeholder 3"/>
          <p:cNvSpPr>
            <a:spLocks noGrp="1"/>
          </p:cNvSpPr>
          <p:nvPr>
            <p:ph type="sldNum" sz="quarter" idx="12"/>
          </p:nvPr>
        </p:nvSpPr>
        <p:spPr/>
        <p:txBody>
          <a:bodyPr/>
          <a:lstStyle/>
          <a:p>
            <a:fld id="{76F96C40-0356-46F5-90E5-FF57DE76D9A0}" type="slidenum">
              <a:rPr lang="en-US" smtClean="0"/>
              <a:t>27</a:t>
            </a:fld>
            <a:endParaRPr lang="en-US"/>
          </a:p>
        </p:txBody>
      </p:sp>
      <mc:AlternateContent xmlns:mc="http://schemas.openxmlformats.org/markup-compatibility/2006" xmlns:a14="http://schemas.microsoft.com/office/drawing/2010/main">
        <mc:Choice Requires="a14">
          <p:sp>
            <p:nvSpPr>
              <p:cNvPr id="12" name="Content Placeholder 6"/>
              <p:cNvSpPr>
                <a:spLocks noGrp="1"/>
              </p:cNvSpPr>
              <p:nvPr>
                <p:ph idx="1"/>
              </p:nvPr>
            </p:nvSpPr>
            <p:spPr>
              <a:xfrm>
                <a:off x="1096206" y="1447800"/>
                <a:ext cx="7514394" cy="4900824"/>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Getting more data for training (Increasing number of observations- instances)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Try smaller set of features (reducing number of variables)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Try getting additional features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Adding Polynomial features (using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𝑥</m:t>
                        </m:r>
                      </m:e>
                      <m:sub>
                        <m:r>
                          <a:rPr lang="en-US" sz="2400" i="1">
                            <a:latin typeface="Cambria Math" panose="02040503050406030204" pitchFamily="18" charset="0"/>
                          </a:rPr>
                          <m:t>1</m:t>
                        </m:r>
                      </m:sub>
                      <m:sup>
                        <m:r>
                          <a:rPr lang="en-US" sz="2400" b="0" i="1" smtClean="0">
                            <a:latin typeface="Cambria Math" panose="02040503050406030204" pitchFamily="18" charset="0"/>
                          </a:rPr>
                          <m:t>2</m:t>
                        </m:r>
                      </m:sup>
                    </m:sSubSup>
                  </m:oMath>
                </a14:m>
                <a:r>
                  <a:rPr lang="en-US" sz="2400" dirty="0">
                    <a:latin typeface="Times New Roman" panose="02020603050405020304" pitchFamily="18" charset="0"/>
                    <a:cs typeface="Times New Roman" panose="02020603050405020304" pitchFamily="18" charset="0"/>
                  </a:rPr>
                  <a:t>,</a:t>
                </a:r>
                <a:r>
                  <a:rPr lang="en-US" sz="2400" dirty="0"/>
                  <a:t> </a:t>
                </a:r>
                <a14:m>
                  <m:oMath xmlns:m="http://schemas.openxmlformats.org/officeDocument/2006/math">
                    <m:sSubSup>
                      <m:sSubSupPr>
                        <m:ctrlPr>
                          <a:rPr lang="en-US" sz="2400" i="1">
                            <a:latin typeface="Cambria Math" panose="02040503050406030204" pitchFamily="18" charset="0"/>
                          </a:rPr>
                        </m:ctrlPr>
                      </m:sSubSupPr>
                      <m:e>
                        <m:r>
                          <a:rPr lang="en-US" sz="2400" i="1">
                            <a:latin typeface="Cambria Math" panose="02040503050406030204" pitchFamily="18" charset="0"/>
                          </a:rPr>
                          <m:t>𝑥</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2</m:t>
                        </m:r>
                      </m:sup>
                    </m:sSubSup>
                  </m:oMath>
                </a14:m>
                <a:r>
                  <a:rPr lang="en-US" sz="2400" dirty="0">
                    <a:latin typeface="Times New Roman" panose="02020603050405020304" pitchFamily="18" charset="0"/>
                    <a:cs typeface="Times New Roman" panose="02020603050405020304" pitchFamily="18" charset="0"/>
                  </a:rPr>
                  <a:t>,</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oMath>
                </a14:m>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Decrease </a:t>
                </a:r>
                <a14:m>
                  <m:oMath xmlns:m="http://schemas.openxmlformats.org/officeDocument/2006/math">
                    <m:r>
                      <a:rPr lang="en-US" sz="2400" i="1">
                        <a:latin typeface="Cambria Math" panose="02040503050406030204" pitchFamily="18" charset="0"/>
                        <a:ea typeface="Cambria Math" panose="02040503050406030204" pitchFamily="18" charset="0"/>
                      </a:rPr>
                      <m:t>𝜆</m:t>
                    </m:r>
                  </m:oMath>
                </a14:m>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Increase </a:t>
                </a:r>
                <a14:m>
                  <m:oMath xmlns:m="http://schemas.openxmlformats.org/officeDocument/2006/math">
                    <m:r>
                      <a:rPr lang="en-US" sz="2200" i="1">
                        <a:latin typeface="Cambria Math" panose="02040503050406030204" pitchFamily="18" charset="0"/>
                        <a:ea typeface="Cambria Math" panose="02040503050406030204" pitchFamily="18" charset="0"/>
                      </a:rPr>
                      <m:t>𝜆</m:t>
                    </m:r>
                  </m:oMath>
                </a14:m>
                <a:endParaRPr lang="en-US" sz="2200" dirty="0">
                  <a:latin typeface="Times New Roman" panose="02020603050405020304" pitchFamily="18" charset="0"/>
                  <a:cs typeface="Times New Roman" panose="02020603050405020304" pitchFamily="18" charset="0"/>
                </a:endParaRPr>
              </a:p>
            </p:txBody>
          </p:sp>
        </mc:Choice>
        <mc:Fallback xmlns="">
          <p:sp>
            <p:nvSpPr>
              <p:cNvPr id="12" name="Content Placeholder 6"/>
              <p:cNvSpPr>
                <a:spLocks noGrp="1" noRot="1" noChangeAspect="1" noMove="1" noResize="1" noEditPoints="1" noAdjustHandles="1" noChangeArrowheads="1" noChangeShapeType="1" noTextEdit="1"/>
              </p:cNvSpPr>
              <p:nvPr>
                <p:ph idx="1"/>
              </p:nvPr>
            </p:nvSpPr>
            <p:spPr>
              <a:xfrm>
                <a:off x="1096206" y="1447800"/>
                <a:ext cx="7514394" cy="4900824"/>
              </a:xfrm>
              <a:blipFill>
                <a:blip r:embed="rId2"/>
                <a:stretch>
                  <a:fillRect l="-973" t="-2242"/>
                </a:stretch>
              </a:blipFill>
            </p:spPr>
            <p:txBody>
              <a:bodyPr/>
              <a:lstStyle/>
              <a:p>
                <a:r>
                  <a:rPr lang="en-US">
                    <a:noFill/>
                  </a:rPr>
                  <a:t> </a:t>
                </a:r>
              </a:p>
            </p:txBody>
          </p:sp>
        </mc:Fallback>
      </mc:AlternateContent>
      <p:sp>
        <p:nvSpPr>
          <p:cNvPr id="13" name="Bent Arrow 12"/>
          <p:cNvSpPr/>
          <p:nvPr/>
        </p:nvSpPr>
        <p:spPr>
          <a:xfrm rot="10800000" flipH="1">
            <a:off x="1981199" y="2057400"/>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p:cNvSpPr txBox="1"/>
          <p:nvPr/>
        </p:nvSpPr>
        <p:spPr>
          <a:xfrm>
            <a:off x="3314341" y="2081895"/>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variance</a:t>
            </a:r>
          </a:p>
        </p:txBody>
      </p:sp>
      <p:sp>
        <p:nvSpPr>
          <p:cNvPr id="15" name="TextBox 14"/>
          <p:cNvSpPr txBox="1"/>
          <p:nvPr/>
        </p:nvSpPr>
        <p:spPr>
          <a:xfrm>
            <a:off x="3314341" y="2841540"/>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variance</a:t>
            </a:r>
          </a:p>
        </p:txBody>
      </p:sp>
      <p:sp>
        <p:nvSpPr>
          <p:cNvPr id="16" name="TextBox 15"/>
          <p:cNvSpPr txBox="1"/>
          <p:nvPr/>
        </p:nvSpPr>
        <p:spPr>
          <a:xfrm>
            <a:off x="3314341" y="3700350"/>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Bias</a:t>
            </a:r>
          </a:p>
        </p:txBody>
      </p:sp>
      <p:sp>
        <p:nvSpPr>
          <p:cNvPr id="17" name="TextBox 16"/>
          <p:cNvSpPr txBox="1"/>
          <p:nvPr/>
        </p:nvSpPr>
        <p:spPr>
          <a:xfrm>
            <a:off x="3314341" y="4559160"/>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Bias</a:t>
            </a:r>
          </a:p>
        </p:txBody>
      </p:sp>
      <p:sp>
        <p:nvSpPr>
          <p:cNvPr id="18" name="TextBox 17"/>
          <p:cNvSpPr txBox="1"/>
          <p:nvPr/>
        </p:nvSpPr>
        <p:spPr>
          <a:xfrm>
            <a:off x="3314341" y="5238707"/>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Bias</a:t>
            </a:r>
          </a:p>
        </p:txBody>
      </p:sp>
      <p:sp>
        <p:nvSpPr>
          <p:cNvPr id="19" name="TextBox 18"/>
          <p:cNvSpPr txBox="1"/>
          <p:nvPr/>
        </p:nvSpPr>
        <p:spPr>
          <a:xfrm>
            <a:off x="3314341" y="6057468"/>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Fixes high Variance</a:t>
            </a:r>
          </a:p>
        </p:txBody>
      </p:sp>
      <p:sp>
        <p:nvSpPr>
          <p:cNvPr id="20" name="Bent Arrow 19"/>
          <p:cNvSpPr/>
          <p:nvPr/>
        </p:nvSpPr>
        <p:spPr>
          <a:xfrm rot="10800000" flipH="1">
            <a:off x="1981199" y="2825610"/>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Bent Arrow 20"/>
          <p:cNvSpPr/>
          <p:nvPr/>
        </p:nvSpPr>
        <p:spPr>
          <a:xfrm rot="10800000" flipH="1">
            <a:off x="1981199" y="3670413"/>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Bent Arrow 21"/>
          <p:cNvSpPr/>
          <p:nvPr/>
        </p:nvSpPr>
        <p:spPr>
          <a:xfrm rot="10800000" flipH="1">
            <a:off x="1981199" y="4470514"/>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Bent Arrow 22"/>
          <p:cNvSpPr/>
          <p:nvPr/>
        </p:nvSpPr>
        <p:spPr>
          <a:xfrm rot="10800000" flipH="1">
            <a:off x="1981199" y="5206832"/>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Bent Arrow 23"/>
          <p:cNvSpPr/>
          <p:nvPr/>
        </p:nvSpPr>
        <p:spPr>
          <a:xfrm rot="10800000" flipH="1">
            <a:off x="1981198" y="6006712"/>
            <a:ext cx="12192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p:cNvSpPr txBox="1"/>
          <p:nvPr/>
        </p:nvSpPr>
        <p:spPr>
          <a:xfrm>
            <a:off x="381000" y="6611779"/>
            <a:ext cx="2928938" cy="246221"/>
          </a:xfrm>
          <a:prstGeom prst="rect">
            <a:avLst/>
          </a:prstGeom>
          <a:noFill/>
        </p:spPr>
        <p:txBody>
          <a:bodyPr wrap="square" rtlCol="0">
            <a:spAutoFit/>
          </a:bodyPr>
          <a:lstStyle/>
          <a:p>
            <a:r>
              <a:rPr lang="en-US" sz="1000" dirty="0"/>
              <a:t>Andrew Ng- Machine learning lectures</a:t>
            </a:r>
          </a:p>
        </p:txBody>
      </p:sp>
    </p:spTree>
    <p:extLst>
      <p:ext uri="{BB962C8B-B14F-4D97-AF65-F5344CB8AC3E}">
        <p14:creationId xmlns:p14="http://schemas.microsoft.com/office/powerpoint/2010/main" val="251254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6" grpId="0"/>
      <p:bldP spid="17" grpId="0"/>
      <p:bldP spid="18" grpId="0"/>
      <p:bldP spid="19" grpId="0"/>
      <p:bldP spid="20" grpId="0" animBg="1"/>
      <p:bldP spid="21" grpId="0" animBg="1"/>
      <p:bldP spid="22" grpId="0" animBg="1"/>
      <p:bldP spid="23" grpId="0" animBg="1"/>
      <p:bldP spid="24" grpId="0" animBg="1"/>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F376BFFEBE008478A0EC19FFC5CAE25" ma:contentTypeVersion="2" ma:contentTypeDescription="Create a new document." ma:contentTypeScope="" ma:versionID="222da272828c52aae3aea7aac679f7eb">
  <xsd:schema xmlns:xsd="http://www.w3.org/2001/XMLSchema" xmlns:xs="http://www.w3.org/2001/XMLSchema" xmlns:p="http://schemas.microsoft.com/office/2006/metadata/properties" xmlns:ns2="54f0c67b-9c4f-47ec-b2e9-282ef016d26c" targetNamespace="http://schemas.microsoft.com/office/2006/metadata/properties" ma:root="true" ma:fieldsID="9c3027e3c2b9147528be8a0aa63380b9" ns2:_="">
    <xsd:import namespace="54f0c67b-9c4f-47ec-b2e9-282ef016d26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f0c67b-9c4f-47ec-b2e9-282ef016d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3D0EAF-01DE-4EE0-9038-EF770833C83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5B9234F-826D-470B-BB03-8048391AF5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f0c67b-9c4f-47ec-b2e9-282ef016d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014A04-9D24-45DF-8A84-B1496D5758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Wisp</Template>
  <TotalTime>16631</TotalTime>
  <Words>1746</Words>
  <Application>Microsoft Office PowerPoint</Application>
  <PresentationFormat>On-screen Show (4:3)</PresentationFormat>
  <Paragraphs>284</Paragraphs>
  <Slides>27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 Math</vt:lpstr>
      <vt:lpstr>Century Gothic</vt:lpstr>
      <vt:lpstr>Times New Roman</vt:lpstr>
      <vt:lpstr>Wingdings</vt:lpstr>
      <vt:lpstr>Wingdings 3</vt:lpstr>
      <vt:lpstr>Wisp</vt:lpstr>
      <vt:lpstr>Machine Learning</vt:lpstr>
      <vt:lpstr>Model Evaluation</vt:lpstr>
      <vt:lpstr>Review a General Model</vt:lpstr>
      <vt:lpstr>Review a General Model</vt:lpstr>
      <vt:lpstr>Learning Curves</vt:lpstr>
      <vt:lpstr>Learning Curves</vt:lpstr>
      <vt:lpstr>Validation Set</vt:lpstr>
      <vt:lpstr>Cross validation</vt:lpstr>
      <vt:lpstr>Cross validation</vt:lpstr>
      <vt:lpstr>Cross validation</vt:lpstr>
      <vt:lpstr>Regression Metrics</vt:lpstr>
      <vt:lpstr>Confusion matrix for 2-class problems</vt:lpstr>
      <vt:lpstr>Is accuracy an adequate measure of predictive performance?</vt:lpstr>
      <vt:lpstr>Example</vt:lpstr>
      <vt:lpstr>Other accuracy metrics</vt:lpstr>
      <vt:lpstr>Example</vt:lpstr>
      <vt:lpstr>Receive operating characteristics curve</vt:lpstr>
      <vt:lpstr>Example</vt:lpstr>
      <vt:lpstr>Overfitting</vt:lpstr>
      <vt:lpstr>Underfitting</vt:lpstr>
      <vt:lpstr>Regression Example</vt:lpstr>
      <vt:lpstr>Regression Example</vt:lpstr>
      <vt:lpstr>Classification Example</vt:lpstr>
      <vt:lpstr>Classification Example</vt:lpstr>
      <vt:lpstr>How to resolve the fitting issues?</vt:lpstr>
      <vt:lpstr>How do they look like?</vt:lpstr>
      <vt:lpstr>How to resolve the fitting issues?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dc:title>
  <dc:creator>Marvine</dc:creator>
  <cp:lastModifiedBy>Roozbeh Sadeghian</cp:lastModifiedBy>
  <cp:revision>709</cp:revision>
  <cp:lastPrinted>2018-06-11T17:11:55Z</cp:lastPrinted>
  <dcterms:created xsi:type="dcterms:W3CDTF">2016-06-23T19:27:44Z</dcterms:created>
  <dcterms:modified xsi:type="dcterms:W3CDTF">2023-07-19T17:25:35Z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0x010100FF376BFFEBE008478A0EC19FFC5CAE25</vt:lpwstr>
  </property>
</Properties>
</file>