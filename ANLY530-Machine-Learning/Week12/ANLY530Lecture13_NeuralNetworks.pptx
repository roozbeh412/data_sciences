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0" r:id="rId6"/>
    <p:sldId id="419" r:id="rId7"/>
    <p:sldId id="421" r:id="rId8"/>
    <p:sldId id="258" r:id="rId9"/>
    <p:sldId id="259" r:id="rId10"/>
    <p:sldId id="260" r:id="rId11"/>
    <p:sldId id="418" r:id="rId12"/>
    <p:sldId id="422" r:id="rId13"/>
    <p:sldId id="423" r:id="rId14"/>
    <p:sldId id="279" r:id="rId15"/>
    <p:sldId id="431" r:id="rId16"/>
    <p:sldId id="432" r:id="rId17"/>
    <p:sldId id="424" r:id="rId18"/>
    <p:sldId id="425" r:id="rId19"/>
    <p:sldId id="426" r:id="rId20"/>
    <p:sldId id="427" r:id="rId21"/>
    <p:sldId id="428" r:id="rId22"/>
    <p:sldId id="429" r:id="rId23"/>
    <p:sldId id="430" r:id="rId24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6" autoAdjust="0"/>
    <p:restoredTop sz="90233" autoAdjust="0"/>
  </p:normalViewPr>
  <p:slideViewPr>
    <p:cSldViewPr>
      <p:cViewPr varScale="1">
        <p:scale>
          <a:sx n="95" d="100"/>
          <a:sy n="95" d="100"/>
        </p:scale>
        <p:origin x="63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70" y="-77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116E695-EEC6-4836-B040-895557B78F5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7B6B2A4-95D1-4DB0-81E0-F4335691F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07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83F5D42-D8C1-4DAB-B388-35B93036157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72D4B71-1EF1-4D07-950D-945192FC5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5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6B0158F-6D16-4964-A3D2-90B0D0CAA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769148-DFF4-4312-91F2-79D4BBC8894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585E9AAC-1513-434A-97C3-B8F8BFF498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4BD423C4-1488-4F20-9C01-D7DC3F09B2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8907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76DED99A-793B-4EA5-A158-2A7764F5E8C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8088" y="687388"/>
            <a:ext cx="4522787" cy="33924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29F59B10-7647-4259-9685-C80731781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4313238"/>
            <a:ext cx="5091113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1580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76DED99A-793B-4EA5-A158-2A7764F5E8C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8088" y="687388"/>
            <a:ext cx="4522787" cy="33924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29F59B10-7647-4259-9685-C80731781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4313238"/>
            <a:ext cx="5091113" cy="40846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905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44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95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1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61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3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7859-DB17-4429-8F7A-829326E85BB1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B889C-3934-4CE0-BFCE-67AE274D8C08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B99F-CD01-4ADC-93D5-08EC17C58E5B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42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D661-B915-4098-8E82-6CCD19CE895A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3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A355-047F-4CE2-9B16-E019B1D3FDF0}" type="datetime1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02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96D4-20E1-46C9-9B29-CB1B77BAA0B5}" type="datetime1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3E303-926A-4DF4-9AB4-F4876BA90FDE}" type="datetime1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4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B1D71-7DF6-4B1A-B9B3-8B340648500E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4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2E41F-5EDC-48A1-800D-C01F09938108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3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64F1-0C57-4D34-86B8-D09B01EF6894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86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950D-BF04-4634-B6AB-37AA0D07D41C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954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68D3-729E-4275-910F-5564270E0BD2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45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68D3-D7CA-4D12-85CF-C74F33532CB7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2890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47F-1D03-4642-97ED-AE47261B87C3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1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E07E5-BB55-4FF5-94D4-BBE47E3E1370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19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7D93-4EC5-4FD5-B7AA-15400724051C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7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B1ECC-06F5-4A70-9B9C-82B540054A16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0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12" Type="http://schemas.openxmlformats.org/officeDocument/2006/relationships/image" Target="../media/image1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3.png"/><Relationship Id="rId5" Type="http://schemas.openxmlformats.org/officeDocument/2006/relationships/image" Target="../media/image70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 13 –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CB4B66D-BE80-4BF4-A2D8-8FBC0F1F7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551DB27-1E8A-4B8B-86B3-6DFDE3C986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239" y="2208754"/>
            <a:ext cx="7511482" cy="2833217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artificial network consists of a pool of simple processing units which communicate by sending signals to each other over a large number of weighted connections.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NN, a beautiful biologically-inspired programming paradigm which enables a computer systems to learn from observational data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 learning, a powerful set of techniques for learning in neural networks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DCC9F7-4DE0-471B-939E-64C5F1D6A39B}"/>
              </a:ext>
            </a:extLst>
          </p:cNvPr>
          <p:cNvSpPr/>
          <p:nvPr/>
        </p:nvSpPr>
        <p:spPr>
          <a:xfrm>
            <a:off x="889616" y="5683771"/>
            <a:ext cx="399340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/>
              <a:t>http://neuralnetworksanddeeplearning.com/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DEE-65FE-EB40-A6D9-C8DBBB9840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1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Rectangle 3"/>
          <p:cNvSpPr/>
          <p:nvPr/>
        </p:nvSpPr>
        <p:spPr>
          <a:xfrm rot="10800000" flipH="1">
            <a:off x="-8946" y="749371"/>
            <a:ext cx="2897870" cy="5251379"/>
          </a:xfrm>
          <a:prstGeom prst="round1Rect">
            <a:avLst/>
          </a:prstGeom>
          <a:solidFill>
            <a:schemeClr val="bg1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72" name="Group 71"/>
          <p:cNvGrpSpPr/>
          <p:nvPr/>
        </p:nvGrpSpPr>
        <p:grpSpPr>
          <a:xfrm>
            <a:off x="3061712" y="1928331"/>
            <a:ext cx="6377001" cy="2879717"/>
            <a:chOff x="2757754" y="1210123"/>
            <a:chExt cx="9827197" cy="4437751"/>
          </a:xfrm>
        </p:grpSpPr>
        <p:sp>
          <p:nvSpPr>
            <p:cNvPr id="71" name="Freeform 70"/>
            <p:cNvSpPr>
              <a:spLocks/>
            </p:cNvSpPr>
            <p:nvPr/>
          </p:nvSpPr>
          <p:spPr bwMode="auto">
            <a:xfrm rot="2700000">
              <a:off x="10629290" y="1133238"/>
              <a:ext cx="1371553" cy="2539768"/>
            </a:xfrm>
            <a:custGeom>
              <a:avLst/>
              <a:gdLst>
                <a:gd name="connsiteX0" fmla="*/ 403176 w 1371553"/>
                <a:gd name="connsiteY0" fmla="*/ 196621 h 2539768"/>
                <a:gd name="connsiteX1" fmla="*/ 612772 w 1371553"/>
                <a:gd name="connsiteY1" fmla="*/ 25884 h 2539768"/>
                <a:gd name="connsiteX2" fmla="*/ 656066 w 1371553"/>
                <a:gd name="connsiteY2" fmla="*/ 0 h 2539768"/>
                <a:gd name="connsiteX3" fmla="*/ 1139101 w 1371553"/>
                <a:gd name="connsiteY3" fmla="*/ 483035 h 2539768"/>
                <a:gd name="connsiteX4" fmla="*/ 1094134 w 1371553"/>
                <a:gd name="connsiteY4" fmla="*/ 496588 h 2539768"/>
                <a:gd name="connsiteX5" fmla="*/ 859104 w 1371553"/>
                <a:gd name="connsiteY5" fmla="*/ 653176 h 2539768"/>
                <a:gd name="connsiteX6" fmla="*/ 648097 w 1371553"/>
                <a:gd name="connsiteY6" fmla="*/ 1166329 h 2539768"/>
                <a:gd name="connsiteX7" fmla="*/ 859104 w 1371553"/>
                <a:gd name="connsiteY7" fmla="*/ 1679482 h 2539768"/>
                <a:gd name="connsiteX8" fmla="*/ 1371553 w 1371553"/>
                <a:gd name="connsiteY8" fmla="*/ 1894553 h 2539768"/>
                <a:gd name="connsiteX9" fmla="*/ 1371552 w 1371553"/>
                <a:gd name="connsiteY9" fmla="*/ 2539768 h 2539768"/>
                <a:gd name="connsiteX10" fmla="*/ 403176 w 1371553"/>
                <a:gd name="connsiteY10" fmla="*/ 2139810 h 2539768"/>
                <a:gd name="connsiteX11" fmla="*/ 0 w 1371553"/>
                <a:gd name="connsiteY11" fmla="*/ 1166329 h 2539768"/>
                <a:gd name="connsiteX12" fmla="*/ 403176 w 1371553"/>
                <a:gd name="connsiteY12" fmla="*/ 196621 h 253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1553" h="2539768">
                  <a:moveTo>
                    <a:pt x="403176" y="196621"/>
                  </a:moveTo>
                  <a:cubicBezTo>
                    <a:pt x="468174" y="132476"/>
                    <a:pt x="538353" y="75407"/>
                    <a:pt x="612772" y="25884"/>
                  </a:cubicBezTo>
                  <a:lnTo>
                    <a:pt x="656066" y="0"/>
                  </a:lnTo>
                  <a:lnTo>
                    <a:pt x="1139101" y="483035"/>
                  </a:lnTo>
                  <a:lnTo>
                    <a:pt x="1094134" y="496588"/>
                  </a:lnTo>
                  <a:cubicBezTo>
                    <a:pt x="1006998" y="532434"/>
                    <a:pt x="926929" y="585258"/>
                    <a:pt x="859104" y="653176"/>
                  </a:cubicBezTo>
                  <a:cubicBezTo>
                    <a:pt x="723457" y="792783"/>
                    <a:pt x="648096" y="973897"/>
                    <a:pt x="648097" y="1166329"/>
                  </a:cubicBezTo>
                  <a:cubicBezTo>
                    <a:pt x="648096" y="1362535"/>
                    <a:pt x="723456" y="1543647"/>
                    <a:pt x="859104" y="1679482"/>
                  </a:cubicBezTo>
                  <a:cubicBezTo>
                    <a:pt x="994752" y="1819090"/>
                    <a:pt x="1179385" y="1894553"/>
                    <a:pt x="1371553" y="1894553"/>
                  </a:cubicBezTo>
                  <a:cubicBezTo>
                    <a:pt x="1371553" y="1894553"/>
                    <a:pt x="1371553" y="1894553"/>
                    <a:pt x="1371552" y="2539768"/>
                  </a:cubicBezTo>
                  <a:cubicBezTo>
                    <a:pt x="1006057" y="2539768"/>
                    <a:pt x="663168" y="2396387"/>
                    <a:pt x="403176" y="2139810"/>
                  </a:cubicBezTo>
                  <a:cubicBezTo>
                    <a:pt x="143184" y="1879461"/>
                    <a:pt x="0" y="1536101"/>
                    <a:pt x="0" y="1166329"/>
                  </a:cubicBezTo>
                  <a:cubicBezTo>
                    <a:pt x="0" y="800330"/>
                    <a:pt x="143184" y="456970"/>
                    <a:pt x="403176" y="196621"/>
                  </a:cubicBez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id-ID" sz="1200"/>
            </a:p>
          </p:txBody>
        </p:sp>
        <p:sp>
          <p:nvSpPr>
            <p:cNvPr id="61" name="Freeform 9"/>
            <p:cNvSpPr>
              <a:spLocks/>
            </p:cNvSpPr>
            <p:nvPr/>
          </p:nvSpPr>
          <p:spPr bwMode="auto">
            <a:xfrm rot="13500000">
              <a:off x="8880781" y="2904770"/>
              <a:ext cx="2743105" cy="274310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/>
            </a:p>
          </p:txBody>
        </p:sp>
        <p:sp>
          <p:nvSpPr>
            <p:cNvPr id="62" name="Freeform 9"/>
            <p:cNvSpPr>
              <a:spLocks/>
            </p:cNvSpPr>
            <p:nvPr/>
          </p:nvSpPr>
          <p:spPr bwMode="auto">
            <a:xfrm rot="2700000">
              <a:off x="7379030" y="1444597"/>
              <a:ext cx="2743105" cy="2743105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rgbClr val="4A206A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/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8366168" y="1210123"/>
              <a:ext cx="768101" cy="631173"/>
              <a:chOff x="9549722" y="1955599"/>
              <a:chExt cx="599208" cy="492388"/>
            </a:xfrm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64" name="Oval 63"/>
              <p:cNvSpPr/>
              <p:nvPr/>
            </p:nvSpPr>
            <p:spPr>
              <a:xfrm rot="2700000">
                <a:off x="9603416" y="1955599"/>
                <a:ext cx="492388" cy="492388"/>
              </a:xfrm>
              <a:prstGeom prst="ellipse">
                <a:avLst/>
              </a:prstGeom>
              <a:solidFill>
                <a:schemeClr val="bg1"/>
              </a:solidFill>
              <a:ln w="133350">
                <a:solidFill>
                  <a:srgbClr val="4A20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9549722" y="2057732"/>
                <a:ext cx="599208" cy="33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sz="1200" dirty="0">
                    <a:solidFill>
                      <a:srgbClr val="4A206A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0</a:t>
                </a:r>
                <a:r>
                  <a:rPr lang="en-US" sz="1200" dirty="0">
                    <a:solidFill>
                      <a:srgbClr val="4A206A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4</a:t>
                </a:r>
                <a:endParaRPr lang="id-ID" sz="1200" dirty="0">
                  <a:solidFill>
                    <a:srgbClr val="4A206A"/>
                  </a:solidFill>
                  <a:latin typeface="KG HAPPY Solid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10607741" y="3158138"/>
              <a:ext cx="768101" cy="631173"/>
              <a:chOff x="10716797" y="5108091"/>
              <a:chExt cx="599208" cy="492388"/>
            </a:xfrm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67" name="Oval 66"/>
              <p:cNvSpPr/>
              <p:nvPr/>
            </p:nvSpPr>
            <p:spPr>
              <a:xfrm rot="2700000">
                <a:off x="10774955" y="5108091"/>
                <a:ext cx="492388" cy="492388"/>
              </a:xfrm>
              <a:prstGeom prst="ellipse">
                <a:avLst/>
              </a:prstGeom>
              <a:solidFill>
                <a:srgbClr val="F9F9F9"/>
              </a:solidFill>
              <a:ln w="1333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0716797" y="5226681"/>
                <a:ext cx="599208" cy="33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3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05</a:t>
                </a:r>
                <a:endParaRPr lang="id-ID" sz="1200" dirty="0">
                  <a:solidFill>
                    <a:schemeClr val="accent3"/>
                  </a:solidFill>
                  <a:latin typeface="KG HAPPY Solid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49" name="Freeform 9"/>
            <p:cNvSpPr>
              <a:spLocks/>
            </p:cNvSpPr>
            <p:nvPr/>
          </p:nvSpPr>
          <p:spPr bwMode="auto">
            <a:xfrm rot="13500000">
              <a:off x="2757753" y="2904769"/>
              <a:ext cx="2743105" cy="274310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rgbClr val="4A206A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 rot="13500000">
              <a:off x="5752864" y="2904770"/>
              <a:ext cx="2743105" cy="274310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/>
            </a:p>
          </p:txBody>
        </p:sp>
        <p:sp>
          <p:nvSpPr>
            <p:cNvPr id="51" name="Freeform 9"/>
            <p:cNvSpPr>
              <a:spLocks/>
            </p:cNvSpPr>
            <p:nvPr/>
          </p:nvSpPr>
          <p:spPr bwMode="auto">
            <a:xfrm rot="2700000">
              <a:off x="4251113" y="1444597"/>
              <a:ext cx="2743105" cy="2743105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solidFill>
              <a:srgbClr val="CC3399"/>
            </a:solidFill>
            <a:ln>
              <a:noFill/>
            </a:ln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997406" y="3144590"/>
              <a:ext cx="768101" cy="631173"/>
              <a:chOff x="7801602" y="3464708"/>
              <a:chExt cx="599208" cy="492388"/>
            </a:xfrm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53" name="Oval 52"/>
              <p:cNvSpPr/>
              <p:nvPr/>
            </p:nvSpPr>
            <p:spPr>
              <a:xfrm rot="2700000">
                <a:off x="7882236" y="3464708"/>
                <a:ext cx="492388" cy="492388"/>
              </a:xfrm>
              <a:prstGeom prst="ellipse">
                <a:avLst/>
              </a:prstGeom>
              <a:solidFill>
                <a:srgbClr val="F9F9F9"/>
              </a:solidFill>
              <a:ln w="133350">
                <a:solidFill>
                  <a:srgbClr val="4A20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>
                  <a:solidFill>
                    <a:srgbClr val="4E9F8E"/>
                  </a:solidFill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801602" y="3577411"/>
                <a:ext cx="599208" cy="33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sz="1200" dirty="0">
                    <a:solidFill>
                      <a:srgbClr val="4A206A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01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5238251" y="1210123"/>
              <a:ext cx="768101" cy="631173"/>
              <a:chOff x="9549722" y="1955599"/>
              <a:chExt cx="599208" cy="492388"/>
            </a:xfrm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56" name="Oval 55"/>
              <p:cNvSpPr/>
              <p:nvPr/>
            </p:nvSpPr>
            <p:spPr>
              <a:xfrm rot="2700000">
                <a:off x="9603416" y="1955599"/>
                <a:ext cx="492388" cy="492388"/>
              </a:xfrm>
              <a:prstGeom prst="ellipse">
                <a:avLst/>
              </a:prstGeom>
              <a:solidFill>
                <a:schemeClr val="bg1"/>
              </a:solidFill>
              <a:ln w="133350">
                <a:solidFill>
                  <a:srgbClr val="CC33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9549722" y="2057732"/>
                <a:ext cx="599208" cy="33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sz="1200" dirty="0">
                    <a:solidFill>
                      <a:srgbClr val="CC3399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02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7479824" y="3158138"/>
              <a:ext cx="768101" cy="631173"/>
              <a:chOff x="10716797" y="5108091"/>
              <a:chExt cx="599208" cy="492388"/>
            </a:xfrm>
            <a:effectLst>
              <a:outerShdw blurRad="63500" dist="254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Oval 58"/>
              <p:cNvSpPr/>
              <p:nvPr/>
            </p:nvSpPr>
            <p:spPr>
              <a:xfrm rot="2700000">
                <a:off x="10774955" y="5108091"/>
                <a:ext cx="492388" cy="492388"/>
              </a:xfrm>
              <a:prstGeom prst="ellipse">
                <a:avLst/>
              </a:prstGeom>
              <a:solidFill>
                <a:srgbClr val="F9F9F9"/>
              </a:solidFill>
              <a:ln w="1333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20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10716797" y="5218666"/>
                <a:ext cx="599208" cy="33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sz="1200" dirty="0">
                    <a:solidFill>
                      <a:schemeClr val="accent3"/>
                    </a:solidFill>
                    <a:latin typeface="KG HAPPY Solid" panose="02000000000000000000" pitchFamily="2" charset="0"/>
                    <a:ea typeface="Roboto" panose="02000000000000000000" pitchFamily="2" charset="0"/>
                  </a:rPr>
                  <a:t>03</a:t>
                </a:r>
              </a:p>
            </p:txBody>
          </p:sp>
        </p:grpSp>
      </p:grpSp>
      <p:sp>
        <p:nvSpPr>
          <p:cNvPr id="73" name="Freeform 107"/>
          <p:cNvSpPr>
            <a:spLocks noEditPoints="1"/>
          </p:cNvSpPr>
          <p:nvPr/>
        </p:nvSpPr>
        <p:spPr bwMode="auto">
          <a:xfrm>
            <a:off x="3778701" y="3758269"/>
            <a:ext cx="363770" cy="363185"/>
          </a:xfrm>
          <a:custGeom>
            <a:avLst/>
            <a:gdLst>
              <a:gd name="T0" fmla="*/ 1617 w 2048"/>
              <a:gd name="T1" fmla="*/ 32 h 2048"/>
              <a:gd name="T2" fmla="*/ 1380 w 2048"/>
              <a:gd name="T3" fmla="*/ 32 h 2048"/>
              <a:gd name="T4" fmla="*/ 1230 w 2048"/>
              <a:gd name="T5" fmla="*/ 236 h 2048"/>
              <a:gd name="T6" fmla="*/ 1313 w 2048"/>
              <a:gd name="T7" fmla="*/ 281 h 2048"/>
              <a:gd name="T8" fmla="*/ 1268 w 2048"/>
              <a:gd name="T9" fmla="*/ 147 h 2048"/>
              <a:gd name="T10" fmla="*/ 1263 w 2048"/>
              <a:gd name="T11" fmla="*/ 140 h 2048"/>
              <a:gd name="T12" fmla="*/ 1260 w 2048"/>
              <a:gd name="T13" fmla="*/ 136 h 2048"/>
              <a:gd name="T14" fmla="*/ 1253 w 2048"/>
              <a:gd name="T15" fmla="*/ 132 h 2048"/>
              <a:gd name="T16" fmla="*/ 1247 w 2048"/>
              <a:gd name="T17" fmla="*/ 130 h 2048"/>
              <a:gd name="T18" fmla="*/ 1243 w 2048"/>
              <a:gd name="T19" fmla="*/ 130 h 2048"/>
              <a:gd name="T20" fmla="*/ 1234 w 2048"/>
              <a:gd name="T21" fmla="*/ 130 h 2048"/>
              <a:gd name="T22" fmla="*/ 1229 w 2048"/>
              <a:gd name="T23" fmla="*/ 131 h 2048"/>
              <a:gd name="T24" fmla="*/ 1080 w 2048"/>
              <a:gd name="T25" fmla="*/ 215 h 2048"/>
              <a:gd name="T26" fmla="*/ 1160 w 2048"/>
              <a:gd name="T27" fmla="*/ 222 h 2048"/>
              <a:gd name="T28" fmla="*/ 0 w 2048"/>
              <a:gd name="T29" fmla="*/ 467 h 2048"/>
              <a:gd name="T30" fmla="*/ 129 w 2048"/>
              <a:gd name="T31" fmla="*/ 625 h 2048"/>
              <a:gd name="T32" fmla="*/ 862 w 2048"/>
              <a:gd name="T33" fmla="*/ 1660 h 2048"/>
              <a:gd name="T34" fmla="*/ 733 w 2048"/>
              <a:gd name="T35" fmla="*/ 2016 h 2048"/>
              <a:gd name="T36" fmla="*/ 1315 w 2048"/>
              <a:gd name="T37" fmla="*/ 2016 h 2048"/>
              <a:gd name="T38" fmla="*/ 1186 w 2048"/>
              <a:gd name="T39" fmla="*/ 1660 h 2048"/>
              <a:gd name="T40" fmla="*/ 1919 w 2048"/>
              <a:gd name="T41" fmla="*/ 625 h 2048"/>
              <a:gd name="T42" fmla="*/ 2048 w 2048"/>
              <a:gd name="T43" fmla="*/ 467 h 2048"/>
              <a:gd name="T44" fmla="*/ 1552 w 2048"/>
              <a:gd name="T45" fmla="*/ 65 h 2048"/>
              <a:gd name="T46" fmla="*/ 1444 w 2048"/>
              <a:gd name="T47" fmla="*/ 65 h 2048"/>
              <a:gd name="T48" fmla="*/ 1380 w 2048"/>
              <a:gd name="T49" fmla="*/ 561 h 2048"/>
              <a:gd name="T50" fmla="*/ 1283 w 2048"/>
              <a:gd name="T51" fmla="*/ 474 h 2048"/>
              <a:gd name="T52" fmla="*/ 1078 w 2048"/>
              <a:gd name="T53" fmla="*/ 561 h 2048"/>
              <a:gd name="T54" fmla="*/ 1250 w 2048"/>
              <a:gd name="T55" fmla="*/ 1101 h 2048"/>
              <a:gd name="T56" fmla="*/ 1143 w 2048"/>
              <a:gd name="T57" fmla="*/ 539 h 2048"/>
              <a:gd name="T58" fmla="*/ 1250 w 2048"/>
              <a:gd name="T59" fmla="*/ 593 h 2048"/>
              <a:gd name="T60" fmla="*/ 1283 w 2048"/>
              <a:gd name="T61" fmla="*/ 975 h 2048"/>
              <a:gd name="T62" fmla="*/ 1315 w 2048"/>
              <a:gd name="T63" fmla="*/ 625 h 2048"/>
              <a:gd name="T64" fmla="*/ 1315 w 2048"/>
              <a:gd name="T65" fmla="*/ 1337 h 2048"/>
              <a:gd name="T66" fmla="*/ 1283 w 2048"/>
              <a:gd name="T67" fmla="*/ 1068 h 2048"/>
              <a:gd name="T68" fmla="*/ 65 w 2048"/>
              <a:gd name="T69" fmla="*/ 547 h 2048"/>
              <a:gd name="T70" fmla="*/ 937 w 2048"/>
              <a:gd name="T71" fmla="*/ 453 h 2048"/>
              <a:gd name="T72" fmla="*/ 1121 w 2048"/>
              <a:gd name="T73" fmla="*/ 1983 h 2048"/>
              <a:gd name="T74" fmla="*/ 1121 w 2048"/>
              <a:gd name="T75" fmla="*/ 1660 h 2048"/>
              <a:gd name="T76" fmla="*/ 1823 w 2048"/>
              <a:gd name="T77" fmla="*/ 1595 h 2048"/>
              <a:gd name="T78" fmla="*/ 194 w 2048"/>
              <a:gd name="T79" fmla="*/ 625 h 2048"/>
              <a:gd name="T80" fmla="*/ 322 w 2048"/>
              <a:gd name="T81" fmla="*/ 822 h 2048"/>
              <a:gd name="T82" fmla="*/ 346 w 2048"/>
              <a:gd name="T83" fmla="*/ 882 h 2048"/>
              <a:gd name="T84" fmla="*/ 1078 w 2048"/>
              <a:gd name="T85" fmla="*/ 625 h 2048"/>
              <a:gd name="T86" fmla="*/ 1013 w 2048"/>
              <a:gd name="T87" fmla="*/ 765 h 2048"/>
              <a:gd name="T88" fmla="*/ 776 w 2048"/>
              <a:gd name="T89" fmla="*/ 765 h 2048"/>
              <a:gd name="T90" fmla="*/ 711 w 2048"/>
              <a:gd name="T91" fmla="*/ 981 h 2048"/>
              <a:gd name="T92" fmla="*/ 474 w 2048"/>
              <a:gd name="T93" fmla="*/ 981 h 2048"/>
              <a:gd name="T94" fmla="*/ 345 w 2048"/>
              <a:gd name="T95" fmla="*/ 1369 h 2048"/>
              <a:gd name="T96" fmla="*/ 1746 w 2048"/>
              <a:gd name="T97" fmla="*/ 1369 h 2048"/>
              <a:gd name="T98" fmla="*/ 1617 w 2048"/>
              <a:gd name="T99" fmla="*/ 625 h 2048"/>
              <a:gd name="T100" fmla="*/ 949 w 2048"/>
              <a:gd name="T101" fmla="*/ 798 h 2048"/>
              <a:gd name="T102" fmla="*/ 841 w 2048"/>
              <a:gd name="T103" fmla="*/ 798 h 2048"/>
              <a:gd name="T104" fmla="*/ 647 w 2048"/>
              <a:gd name="T105" fmla="*/ 1337 h 2048"/>
              <a:gd name="T106" fmla="*/ 647 w 2048"/>
              <a:gd name="T107" fmla="*/ 1013 h 2048"/>
              <a:gd name="T108" fmla="*/ 1617 w 2048"/>
              <a:gd name="T109" fmla="*/ 561 h 2048"/>
              <a:gd name="T110" fmla="*/ 1983 w 2048"/>
              <a:gd name="T111" fmla="*/ 467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48" h="2048">
                <a:moveTo>
                  <a:pt x="1970" y="388"/>
                </a:moveTo>
                <a:cubicBezTo>
                  <a:pt x="1617" y="388"/>
                  <a:pt x="1617" y="388"/>
                  <a:pt x="1617" y="388"/>
                </a:cubicBezTo>
                <a:cubicBezTo>
                  <a:pt x="1617" y="32"/>
                  <a:pt x="1617" y="32"/>
                  <a:pt x="1617" y="32"/>
                </a:cubicBezTo>
                <a:cubicBezTo>
                  <a:pt x="1617" y="14"/>
                  <a:pt x="1602" y="0"/>
                  <a:pt x="1585" y="0"/>
                </a:cubicBezTo>
                <a:cubicBezTo>
                  <a:pt x="1412" y="0"/>
                  <a:pt x="1412" y="0"/>
                  <a:pt x="1412" y="0"/>
                </a:cubicBezTo>
                <a:cubicBezTo>
                  <a:pt x="1394" y="0"/>
                  <a:pt x="1380" y="14"/>
                  <a:pt x="1380" y="32"/>
                </a:cubicBezTo>
                <a:cubicBezTo>
                  <a:pt x="1380" y="388"/>
                  <a:pt x="1380" y="388"/>
                  <a:pt x="1380" y="388"/>
                </a:cubicBezTo>
                <a:cubicBezTo>
                  <a:pt x="1103" y="388"/>
                  <a:pt x="1103" y="388"/>
                  <a:pt x="1103" y="388"/>
                </a:cubicBezTo>
                <a:cubicBezTo>
                  <a:pt x="1152" y="338"/>
                  <a:pt x="1194" y="287"/>
                  <a:pt x="1230" y="236"/>
                </a:cubicBezTo>
                <a:cubicBezTo>
                  <a:pt x="1252" y="301"/>
                  <a:pt x="1252" y="301"/>
                  <a:pt x="1252" y="301"/>
                </a:cubicBezTo>
                <a:cubicBezTo>
                  <a:pt x="1258" y="318"/>
                  <a:pt x="1276" y="327"/>
                  <a:pt x="1293" y="322"/>
                </a:cubicBezTo>
                <a:cubicBezTo>
                  <a:pt x="1310" y="316"/>
                  <a:pt x="1319" y="298"/>
                  <a:pt x="1313" y="281"/>
                </a:cubicBezTo>
                <a:cubicBezTo>
                  <a:pt x="1270" y="151"/>
                  <a:pt x="1270" y="151"/>
                  <a:pt x="1270" y="151"/>
                </a:cubicBezTo>
                <a:cubicBezTo>
                  <a:pt x="1270" y="150"/>
                  <a:pt x="1269" y="149"/>
                  <a:pt x="1269" y="148"/>
                </a:cubicBezTo>
                <a:cubicBezTo>
                  <a:pt x="1268" y="147"/>
                  <a:pt x="1268" y="147"/>
                  <a:pt x="1268" y="147"/>
                </a:cubicBezTo>
                <a:cubicBezTo>
                  <a:pt x="1268" y="146"/>
                  <a:pt x="1267" y="144"/>
                  <a:pt x="1266" y="143"/>
                </a:cubicBezTo>
                <a:cubicBezTo>
                  <a:pt x="1266" y="143"/>
                  <a:pt x="1266" y="143"/>
                  <a:pt x="1266" y="143"/>
                </a:cubicBezTo>
                <a:cubicBezTo>
                  <a:pt x="1265" y="142"/>
                  <a:pt x="1264" y="141"/>
                  <a:pt x="1263" y="140"/>
                </a:cubicBezTo>
                <a:cubicBezTo>
                  <a:pt x="1263" y="140"/>
                  <a:pt x="1263" y="139"/>
                  <a:pt x="1263" y="139"/>
                </a:cubicBezTo>
                <a:cubicBezTo>
                  <a:pt x="1262" y="138"/>
                  <a:pt x="1261" y="138"/>
                  <a:pt x="1260" y="137"/>
                </a:cubicBezTo>
                <a:cubicBezTo>
                  <a:pt x="1260" y="137"/>
                  <a:pt x="1260" y="137"/>
                  <a:pt x="1260" y="136"/>
                </a:cubicBezTo>
                <a:cubicBezTo>
                  <a:pt x="1259" y="136"/>
                  <a:pt x="1258" y="135"/>
                  <a:pt x="1256" y="134"/>
                </a:cubicBezTo>
                <a:cubicBezTo>
                  <a:pt x="1256" y="134"/>
                  <a:pt x="1256" y="134"/>
                  <a:pt x="1256" y="134"/>
                </a:cubicBezTo>
                <a:cubicBezTo>
                  <a:pt x="1255" y="133"/>
                  <a:pt x="1254" y="133"/>
                  <a:pt x="1253" y="132"/>
                </a:cubicBezTo>
                <a:cubicBezTo>
                  <a:pt x="1252" y="132"/>
                  <a:pt x="1252" y="132"/>
                  <a:pt x="1252" y="132"/>
                </a:cubicBezTo>
                <a:cubicBezTo>
                  <a:pt x="1250" y="131"/>
                  <a:pt x="1249" y="131"/>
                  <a:pt x="1248" y="130"/>
                </a:cubicBezTo>
                <a:cubicBezTo>
                  <a:pt x="1248" y="130"/>
                  <a:pt x="1247" y="130"/>
                  <a:pt x="1247" y="130"/>
                </a:cubicBezTo>
                <a:cubicBezTo>
                  <a:pt x="1246" y="130"/>
                  <a:pt x="1245" y="130"/>
                  <a:pt x="1244" y="130"/>
                </a:cubicBezTo>
                <a:cubicBezTo>
                  <a:pt x="1243" y="130"/>
                  <a:pt x="1243" y="130"/>
                  <a:pt x="1243" y="130"/>
                </a:cubicBezTo>
                <a:cubicBezTo>
                  <a:pt x="1243" y="130"/>
                  <a:pt x="1243" y="130"/>
                  <a:pt x="1243" y="130"/>
                </a:cubicBezTo>
                <a:cubicBezTo>
                  <a:pt x="1241" y="129"/>
                  <a:pt x="1240" y="129"/>
                  <a:pt x="1239" y="129"/>
                </a:cubicBezTo>
                <a:cubicBezTo>
                  <a:pt x="1238" y="129"/>
                  <a:pt x="1238" y="129"/>
                  <a:pt x="1238" y="129"/>
                </a:cubicBezTo>
                <a:cubicBezTo>
                  <a:pt x="1237" y="129"/>
                  <a:pt x="1236" y="130"/>
                  <a:pt x="1234" y="130"/>
                </a:cubicBezTo>
                <a:cubicBezTo>
                  <a:pt x="1234" y="130"/>
                  <a:pt x="1234" y="130"/>
                  <a:pt x="1233" y="130"/>
                </a:cubicBezTo>
                <a:cubicBezTo>
                  <a:pt x="1232" y="130"/>
                  <a:pt x="1231" y="131"/>
                  <a:pt x="1229" y="131"/>
                </a:cubicBezTo>
                <a:cubicBezTo>
                  <a:pt x="1229" y="131"/>
                  <a:pt x="1229" y="131"/>
                  <a:pt x="1229" y="131"/>
                </a:cubicBezTo>
                <a:cubicBezTo>
                  <a:pt x="1229" y="131"/>
                  <a:pt x="1229" y="131"/>
                  <a:pt x="1229" y="131"/>
                </a:cubicBezTo>
                <a:cubicBezTo>
                  <a:pt x="1100" y="174"/>
                  <a:pt x="1100" y="174"/>
                  <a:pt x="1100" y="174"/>
                </a:cubicBezTo>
                <a:cubicBezTo>
                  <a:pt x="1083" y="180"/>
                  <a:pt x="1074" y="198"/>
                  <a:pt x="1080" y="215"/>
                </a:cubicBezTo>
                <a:cubicBezTo>
                  <a:pt x="1084" y="229"/>
                  <a:pt x="1097" y="237"/>
                  <a:pt x="1110" y="237"/>
                </a:cubicBezTo>
                <a:cubicBezTo>
                  <a:pt x="1114" y="237"/>
                  <a:pt x="1117" y="237"/>
                  <a:pt x="1120" y="235"/>
                </a:cubicBezTo>
                <a:cubicBezTo>
                  <a:pt x="1160" y="222"/>
                  <a:pt x="1160" y="222"/>
                  <a:pt x="1160" y="222"/>
                </a:cubicBezTo>
                <a:cubicBezTo>
                  <a:pt x="1116" y="282"/>
                  <a:pt x="1065" y="337"/>
                  <a:pt x="1010" y="388"/>
                </a:cubicBezTo>
                <a:cubicBezTo>
                  <a:pt x="78" y="388"/>
                  <a:pt x="78" y="388"/>
                  <a:pt x="78" y="388"/>
                </a:cubicBezTo>
                <a:cubicBezTo>
                  <a:pt x="35" y="388"/>
                  <a:pt x="0" y="423"/>
                  <a:pt x="0" y="467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90"/>
                  <a:pt x="35" y="625"/>
                  <a:pt x="78" y="625"/>
                </a:cubicBezTo>
                <a:cubicBezTo>
                  <a:pt x="129" y="625"/>
                  <a:pt x="129" y="625"/>
                  <a:pt x="129" y="625"/>
                </a:cubicBezTo>
                <a:cubicBezTo>
                  <a:pt x="129" y="1564"/>
                  <a:pt x="129" y="1564"/>
                  <a:pt x="129" y="1564"/>
                </a:cubicBezTo>
                <a:cubicBezTo>
                  <a:pt x="129" y="1617"/>
                  <a:pt x="172" y="1660"/>
                  <a:pt x="225" y="1660"/>
                </a:cubicBezTo>
                <a:cubicBezTo>
                  <a:pt x="862" y="1660"/>
                  <a:pt x="862" y="1660"/>
                  <a:pt x="862" y="1660"/>
                </a:cubicBezTo>
                <a:cubicBezTo>
                  <a:pt x="862" y="1983"/>
                  <a:pt x="862" y="1983"/>
                  <a:pt x="862" y="1983"/>
                </a:cubicBezTo>
                <a:cubicBezTo>
                  <a:pt x="765" y="1983"/>
                  <a:pt x="765" y="1983"/>
                  <a:pt x="765" y="1983"/>
                </a:cubicBezTo>
                <a:cubicBezTo>
                  <a:pt x="747" y="1983"/>
                  <a:pt x="733" y="1998"/>
                  <a:pt x="733" y="2016"/>
                </a:cubicBezTo>
                <a:cubicBezTo>
                  <a:pt x="733" y="2034"/>
                  <a:pt x="747" y="2048"/>
                  <a:pt x="765" y="2048"/>
                </a:cubicBezTo>
                <a:cubicBezTo>
                  <a:pt x="1283" y="2048"/>
                  <a:pt x="1283" y="2048"/>
                  <a:pt x="1283" y="2048"/>
                </a:cubicBezTo>
                <a:cubicBezTo>
                  <a:pt x="1301" y="2048"/>
                  <a:pt x="1315" y="2034"/>
                  <a:pt x="1315" y="2016"/>
                </a:cubicBezTo>
                <a:cubicBezTo>
                  <a:pt x="1315" y="1998"/>
                  <a:pt x="1301" y="1983"/>
                  <a:pt x="1283" y="1983"/>
                </a:cubicBezTo>
                <a:cubicBezTo>
                  <a:pt x="1186" y="1983"/>
                  <a:pt x="1186" y="1983"/>
                  <a:pt x="1186" y="1983"/>
                </a:cubicBezTo>
                <a:cubicBezTo>
                  <a:pt x="1186" y="1660"/>
                  <a:pt x="1186" y="1660"/>
                  <a:pt x="1186" y="1660"/>
                </a:cubicBezTo>
                <a:cubicBezTo>
                  <a:pt x="1823" y="1660"/>
                  <a:pt x="1823" y="1660"/>
                  <a:pt x="1823" y="1660"/>
                </a:cubicBezTo>
                <a:cubicBezTo>
                  <a:pt x="1876" y="1660"/>
                  <a:pt x="1919" y="1617"/>
                  <a:pt x="1919" y="1564"/>
                </a:cubicBezTo>
                <a:cubicBezTo>
                  <a:pt x="1919" y="625"/>
                  <a:pt x="1919" y="625"/>
                  <a:pt x="1919" y="625"/>
                </a:cubicBezTo>
                <a:cubicBezTo>
                  <a:pt x="1970" y="625"/>
                  <a:pt x="1970" y="625"/>
                  <a:pt x="1970" y="625"/>
                </a:cubicBezTo>
                <a:cubicBezTo>
                  <a:pt x="2013" y="625"/>
                  <a:pt x="2048" y="590"/>
                  <a:pt x="2048" y="547"/>
                </a:cubicBezTo>
                <a:cubicBezTo>
                  <a:pt x="2048" y="467"/>
                  <a:pt x="2048" y="467"/>
                  <a:pt x="2048" y="467"/>
                </a:cubicBezTo>
                <a:cubicBezTo>
                  <a:pt x="2048" y="423"/>
                  <a:pt x="2013" y="388"/>
                  <a:pt x="1970" y="388"/>
                </a:cubicBezTo>
                <a:close/>
                <a:moveTo>
                  <a:pt x="1444" y="65"/>
                </a:moveTo>
                <a:cubicBezTo>
                  <a:pt x="1552" y="65"/>
                  <a:pt x="1552" y="65"/>
                  <a:pt x="1552" y="65"/>
                </a:cubicBezTo>
                <a:cubicBezTo>
                  <a:pt x="1552" y="1337"/>
                  <a:pt x="1552" y="1337"/>
                  <a:pt x="1552" y="1337"/>
                </a:cubicBezTo>
                <a:cubicBezTo>
                  <a:pt x="1444" y="1337"/>
                  <a:pt x="1444" y="1337"/>
                  <a:pt x="1444" y="1337"/>
                </a:cubicBezTo>
                <a:lnTo>
                  <a:pt x="1444" y="65"/>
                </a:lnTo>
                <a:close/>
                <a:moveTo>
                  <a:pt x="1036" y="453"/>
                </a:moveTo>
                <a:cubicBezTo>
                  <a:pt x="1380" y="453"/>
                  <a:pt x="1380" y="453"/>
                  <a:pt x="1380" y="453"/>
                </a:cubicBezTo>
                <a:cubicBezTo>
                  <a:pt x="1380" y="561"/>
                  <a:pt x="1380" y="561"/>
                  <a:pt x="1380" y="561"/>
                </a:cubicBezTo>
                <a:cubicBezTo>
                  <a:pt x="1315" y="561"/>
                  <a:pt x="1315" y="561"/>
                  <a:pt x="1315" y="561"/>
                </a:cubicBezTo>
                <a:cubicBezTo>
                  <a:pt x="1315" y="507"/>
                  <a:pt x="1315" y="507"/>
                  <a:pt x="1315" y="507"/>
                </a:cubicBezTo>
                <a:cubicBezTo>
                  <a:pt x="1315" y="489"/>
                  <a:pt x="1301" y="474"/>
                  <a:pt x="1283" y="474"/>
                </a:cubicBezTo>
                <a:cubicBezTo>
                  <a:pt x="1110" y="474"/>
                  <a:pt x="1110" y="474"/>
                  <a:pt x="1110" y="474"/>
                </a:cubicBezTo>
                <a:cubicBezTo>
                  <a:pt x="1092" y="474"/>
                  <a:pt x="1078" y="489"/>
                  <a:pt x="1078" y="507"/>
                </a:cubicBezTo>
                <a:cubicBezTo>
                  <a:pt x="1078" y="561"/>
                  <a:pt x="1078" y="561"/>
                  <a:pt x="1078" y="561"/>
                </a:cubicBezTo>
                <a:cubicBezTo>
                  <a:pt x="906" y="561"/>
                  <a:pt x="906" y="561"/>
                  <a:pt x="906" y="561"/>
                </a:cubicBezTo>
                <a:cubicBezTo>
                  <a:pt x="953" y="525"/>
                  <a:pt x="996" y="489"/>
                  <a:pt x="1036" y="453"/>
                </a:cubicBezTo>
                <a:close/>
                <a:moveTo>
                  <a:pt x="1250" y="1101"/>
                </a:moveTo>
                <a:cubicBezTo>
                  <a:pt x="1250" y="1337"/>
                  <a:pt x="1250" y="1337"/>
                  <a:pt x="1250" y="1337"/>
                </a:cubicBezTo>
                <a:cubicBezTo>
                  <a:pt x="1143" y="1337"/>
                  <a:pt x="1143" y="1337"/>
                  <a:pt x="1143" y="1337"/>
                </a:cubicBezTo>
                <a:cubicBezTo>
                  <a:pt x="1143" y="539"/>
                  <a:pt x="1143" y="539"/>
                  <a:pt x="1143" y="539"/>
                </a:cubicBezTo>
                <a:cubicBezTo>
                  <a:pt x="1250" y="539"/>
                  <a:pt x="1250" y="539"/>
                  <a:pt x="1250" y="539"/>
                </a:cubicBezTo>
                <a:cubicBezTo>
                  <a:pt x="1250" y="593"/>
                  <a:pt x="1250" y="593"/>
                  <a:pt x="1250" y="593"/>
                </a:cubicBezTo>
                <a:cubicBezTo>
                  <a:pt x="1250" y="593"/>
                  <a:pt x="1250" y="593"/>
                  <a:pt x="1250" y="593"/>
                </a:cubicBezTo>
                <a:cubicBezTo>
                  <a:pt x="1250" y="593"/>
                  <a:pt x="1250" y="593"/>
                  <a:pt x="1250" y="593"/>
                </a:cubicBezTo>
                <a:cubicBezTo>
                  <a:pt x="1250" y="943"/>
                  <a:pt x="1250" y="943"/>
                  <a:pt x="1250" y="943"/>
                </a:cubicBezTo>
                <a:cubicBezTo>
                  <a:pt x="1250" y="961"/>
                  <a:pt x="1265" y="975"/>
                  <a:pt x="1283" y="975"/>
                </a:cubicBezTo>
                <a:cubicBezTo>
                  <a:pt x="1283" y="975"/>
                  <a:pt x="1283" y="975"/>
                  <a:pt x="1283" y="975"/>
                </a:cubicBezTo>
                <a:cubicBezTo>
                  <a:pt x="1301" y="975"/>
                  <a:pt x="1315" y="961"/>
                  <a:pt x="1315" y="943"/>
                </a:cubicBezTo>
                <a:cubicBezTo>
                  <a:pt x="1315" y="625"/>
                  <a:pt x="1315" y="625"/>
                  <a:pt x="1315" y="625"/>
                </a:cubicBezTo>
                <a:cubicBezTo>
                  <a:pt x="1380" y="625"/>
                  <a:pt x="1380" y="625"/>
                  <a:pt x="1380" y="625"/>
                </a:cubicBezTo>
                <a:cubicBezTo>
                  <a:pt x="1380" y="1337"/>
                  <a:pt x="1380" y="1337"/>
                  <a:pt x="1380" y="1337"/>
                </a:cubicBezTo>
                <a:cubicBezTo>
                  <a:pt x="1315" y="1337"/>
                  <a:pt x="1315" y="1337"/>
                  <a:pt x="1315" y="1337"/>
                </a:cubicBezTo>
                <a:cubicBezTo>
                  <a:pt x="1315" y="1101"/>
                  <a:pt x="1315" y="1101"/>
                  <a:pt x="1315" y="1101"/>
                </a:cubicBezTo>
                <a:cubicBezTo>
                  <a:pt x="1315" y="1083"/>
                  <a:pt x="1301" y="1068"/>
                  <a:pt x="1283" y="1068"/>
                </a:cubicBezTo>
                <a:cubicBezTo>
                  <a:pt x="1283" y="1068"/>
                  <a:pt x="1283" y="1068"/>
                  <a:pt x="1283" y="1068"/>
                </a:cubicBezTo>
                <a:cubicBezTo>
                  <a:pt x="1265" y="1068"/>
                  <a:pt x="1250" y="1083"/>
                  <a:pt x="1250" y="1101"/>
                </a:cubicBezTo>
                <a:close/>
                <a:moveTo>
                  <a:pt x="78" y="561"/>
                </a:moveTo>
                <a:cubicBezTo>
                  <a:pt x="71" y="561"/>
                  <a:pt x="65" y="554"/>
                  <a:pt x="65" y="547"/>
                </a:cubicBezTo>
                <a:cubicBezTo>
                  <a:pt x="65" y="467"/>
                  <a:pt x="65" y="467"/>
                  <a:pt x="65" y="467"/>
                </a:cubicBezTo>
                <a:cubicBezTo>
                  <a:pt x="65" y="459"/>
                  <a:pt x="71" y="453"/>
                  <a:pt x="78" y="453"/>
                </a:cubicBezTo>
                <a:cubicBezTo>
                  <a:pt x="937" y="453"/>
                  <a:pt x="937" y="453"/>
                  <a:pt x="937" y="453"/>
                </a:cubicBezTo>
                <a:cubicBezTo>
                  <a:pt x="890" y="492"/>
                  <a:pt x="842" y="528"/>
                  <a:pt x="796" y="561"/>
                </a:cubicBezTo>
                <a:lnTo>
                  <a:pt x="78" y="561"/>
                </a:lnTo>
                <a:close/>
                <a:moveTo>
                  <a:pt x="1121" y="1983"/>
                </a:moveTo>
                <a:cubicBezTo>
                  <a:pt x="927" y="1983"/>
                  <a:pt x="927" y="1983"/>
                  <a:pt x="927" y="1983"/>
                </a:cubicBezTo>
                <a:cubicBezTo>
                  <a:pt x="927" y="1660"/>
                  <a:pt x="927" y="1660"/>
                  <a:pt x="927" y="1660"/>
                </a:cubicBezTo>
                <a:cubicBezTo>
                  <a:pt x="1121" y="1660"/>
                  <a:pt x="1121" y="1660"/>
                  <a:pt x="1121" y="1660"/>
                </a:cubicBezTo>
                <a:lnTo>
                  <a:pt x="1121" y="1983"/>
                </a:lnTo>
                <a:close/>
                <a:moveTo>
                  <a:pt x="1854" y="1564"/>
                </a:moveTo>
                <a:cubicBezTo>
                  <a:pt x="1854" y="1581"/>
                  <a:pt x="1840" y="1595"/>
                  <a:pt x="1823" y="1595"/>
                </a:cubicBezTo>
                <a:cubicBezTo>
                  <a:pt x="225" y="1595"/>
                  <a:pt x="225" y="1595"/>
                  <a:pt x="225" y="1595"/>
                </a:cubicBezTo>
                <a:cubicBezTo>
                  <a:pt x="208" y="1595"/>
                  <a:pt x="194" y="1581"/>
                  <a:pt x="194" y="1564"/>
                </a:cubicBezTo>
                <a:cubicBezTo>
                  <a:pt x="194" y="625"/>
                  <a:pt x="194" y="625"/>
                  <a:pt x="194" y="625"/>
                </a:cubicBezTo>
                <a:cubicBezTo>
                  <a:pt x="698" y="625"/>
                  <a:pt x="698" y="625"/>
                  <a:pt x="698" y="625"/>
                </a:cubicBezTo>
                <a:cubicBezTo>
                  <a:pt x="690" y="630"/>
                  <a:pt x="682" y="635"/>
                  <a:pt x="674" y="640"/>
                </a:cubicBezTo>
                <a:cubicBezTo>
                  <a:pt x="484" y="756"/>
                  <a:pt x="324" y="821"/>
                  <a:pt x="322" y="822"/>
                </a:cubicBezTo>
                <a:cubicBezTo>
                  <a:pt x="306" y="828"/>
                  <a:pt x="297" y="847"/>
                  <a:pt x="304" y="864"/>
                </a:cubicBezTo>
                <a:cubicBezTo>
                  <a:pt x="309" y="876"/>
                  <a:pt x="321" y="884"/>
                  <a:pt x="334" y="884"/>
                </a:cubicBezTo>
                <a:cubicBezTo>
                  <a:pt x="338" y="884"/>
                  <a:pt x="342" y="883"/>
                  <a:pt x="346" y="882"/>
                </a:cubicBezTo>
                <a:cubicBezTo>
                  <a:pt x="353" y="879"/>
                  <a:pt x="513" y="815"/>
                  <a:pt x="707" y="696"/>
                </a:cubicBezTo>
                <a:cubicBezTo>
                  <a:pt x="745" y="673"/>
                  <a:pt x="781" y="649"/>
                  <a:pt x="816" y="625"/>
                </a:cubicBezTo>
                <a:cubicBezTo>
                  <a:pt x="1078" y="625"/>
                  <a:pt x="1078" y="625"/>
                  <a:pt x="1078" y="625"/>
                </a:cubicBezTo>
                <a:cubicBezTo>
                  <a:pt x="1078" y="1337"/>
                  <a:pt x="1078" y="1337"/>
                  <a:pt x="1078" y="1337"/>
                </a:cubicBezTo>
                <a:cubicBezTo>
                  <a:pt x="1013" y="1337"/>
                  <a:pt x="1013" y="1337"/>
                  <a:pt x="1013" y="1337"/>
                </a:cubicBezTo>
                <a:cubicBezTo>
                  <a:pt x="1013" y="765"/>
                  <a:pt x="1013" y="765"/>
                  <a:pt x="1013" y="765"/>
                </a:cubicBezTo>
                <a:cubicBezTo>
                  <a:pt x="1013" y="747"/>
                  <a:pt x="999" y="733"/>
                  <a:pt x="981" y="733"/>
                </a:cubicBezTo>
                <a:cubicBezTo>
                  <a:pt x="808" y="733"/>
                  <a:pt x="808" y="733"/>
                  <a:pt x="808" y="733"/>
                </a:cubicBezTo>
                <a:cubicBezTo>
                  <a:pt x="791" y="733"/>
                  <a:pt x="776" y="747"/>
                  <a:pt x="776" y="765"/>
                </a:cubicBezTo>
                <a:cubicBezTo>
                  <a:pt x="776" y="1337"/>
                  <a:pt x="776" y="1337"/>
                  <a:pt x="776" y="1337"/>
                </a:cubicBezTo>
                <a:cubicBezTo>
                  <a:pt x="711" y="1337"/>
                  <a:pt x="711" y="1337"/>
                  <a:pt x="711" y="1337"/>
                </a:cubicBezTo>
                <a:cubicBezTo>
                  <a:pt x="711" y="981"/>
                  <a:pt x="711" y="981"/>
                  <a:pt x="711" y="981"/>
                </a:cubicBezTo>
                <a:cubicBezTo>
                  <a:pt x="711" y="963"/>
                  <a:pt x="697" y="949"/>
                  <a:pt x="679" y="949"/>
                </a:cubicBezTo>
                <a:cubicBezTo>
                  <a:pt x="507" y="949"/>
                  <a:pt x="507" y="949"/>
                  <a:pt x="507" y="949"/>
                </a:cubicBezTo>
                <a:cubicBezTo>
                  <a:pt x="489" y="949"/>
                  <a:pt x="474" y="963"/>
                  <a:pt x="474" y="981"/>
                </a:cubicBezTo>
                <a:cubicBezTo>
                  <a:pt x="474" y="1337"/>
                  <a:pt x="474" y="1337"/>
                  <a:pt x="474" y="1337"/>
                </a:cubicBezTo>
                <a:cubicBezTo>
                  <a:pt x="377" y="1337"/>
                  <a:pt x="377" y="1337"/>
                  <a:pt x="377" y="1337"/>
                </a:cubicBezTo>
                <a:cubicBezTo>
                  <a:pt x="359" y="1337"/>
                  <a:pt x="345" y="1351"/>
                  <a:pt x="345" y="1369"/>
                </a:cubicBezTo>
                <a:cubicBezTo>
                  <a:pt x="345" y="1387"/>
                  <a:pt x="359" y="1401"/>
                  <a:pt x="377" y="1401"/>
                </a:cubicBezTo>
                <a:cubicBezTo>
                  <a:pt x="1714" y="1401"/>
                  <a:pt x="1714" y="1401"/>
                  <a:pt x="1714" y="1401"/>
                </a:cubicBezTo>
                <a:cubicBezTo>
                  <a:pt x="1732" y="1401"/>
                  <a:pt x="1746" y="1387"/>
                  <a:pt x="1746" y="1369"/>
                </a:cubicBezTo>
                <a:cubicBezTo>
                  <a:pt x="1746" y="1351"/>
                  <a:pt x="1732" y="1337"/>
                  <a:pt x="1714" y="1337"/>
                </a:cubicBezTo>
                <a:cubicBezTo>
                  <a:pt x="1617" y="1337"/>
                  <a:pt x="1617" y="1337"/>
                  <a:pt x="1617" y="1337"/>
                </a:cubicBezTo>
                <a:cubicBezTo>
                  <a:pt x="1617" y="625"/>
                  <a:pt x="1617" y="625"/>
                  <a:pt x="1617" y="625"/>
                </a:cubicBezTo>
                <a:cubicBezTo>
                  <a:pt x="1854" y="625"/>
                  <a:pt x="1854" y="625"/>
                  <a:pt x="1854" y="625"/>
                </a:cubicBezTo>
                <a:lnTo>
                  <a:pt x="1854" y="1564"/>
                </a:lnTo>
                <a:close/>
                <a:moveTo>
                  <a:pt x="949" y="798"/>
                </a:moveTo>
                <a:cubicBezTo>
                  <a:pt x="949" y="1337"/>
                  <a:pt x="949" y="1337"/>
                  <a:pt x="949" y="1337"/>
                </a:cubicBezTo>
                <a:cubicBezTo>
                  <a:pt x="841" y="1337"/>
                  <a:pt x="841" y="1337"/>
                  <a:pt x="841" y="1337"/>
                </a:cubicBezTo>
                <a:cubicBezTo>
                  <a:pt x="841" y="798"/>
                  <a:pt x="841" y="798"/>
                  <a:pt x="841" y="798"/>
                </a:cubicBezTo>
                <a:lnTo>
                  <a:pt x="949" y="798"/>
                </a:lnTo>
                <a:close/>
                <a:moveTo>
                  <a:pt x="647" y="1013"/>
                </a:moveTo>
                <a:cubicBezTo>
                  <a:pt x="647" y="1337"/>
                  <a:pt x="647" y="1337"/>
                  <a:pt x="647" y="1337"/>
                </a:cubicBezTo>
                <a:cubicBezTo>
                  <a:pt x="539" y="1337"/>
                  <a:pt x="539" y="1337"/>
                  <a:pt x="539" y="1337"/>
                </a:cubicBezTo>
                <a:cubicBezTo>
                  <a:pt x="539" y="1013"/>
                  <a:pt x="539" y="1013"/>
                  <a:pt x="539" y="1013"/>
                </a:cubicBezTo>
                <a:lnTo>
                  <a:pt x="647" y="1013"/>
                </a:lnTo>
                <a:close/>
                <a:moveTo>
                  <a:pt x="1983" y="547"/>
                </a:moveTo>
                <a:cubicBezTo>
                  <a:pt x="1983" y="554"/>
                  <a:pt x="1977" y="561"/>
                  <a:pt x="1970" y="561"/>
                </a:cubicBezTo>
                <a:cubicBezTo>
                  <a:pt x="1617" y="561"/>
                  <a:pt x="1617" y="561"/>
                  <a:pt x="1617" y="561"/>
                </a:cubicBezTo>
                <a:cubicBezTo>
                  <a:pt x="1617" y="453"/>
                  <a:pt x="1617" y="453"/>
                  <a:pt x="1617" y="453"/>
                </a:cubicBezTo>
                <a:cubicBezTo>
                  <a:pt x="1970" y="453"/>
                  <a:pt x="1970" y="453"/>
                  <a:pt x="1970" y="453"/>
                </a:cubicBezTo>
                <a:cubicBezTo>
                  <a:pt x="1977" y="453"/>
                  <a:pt x="1983" y="459"/>
                  <a:pt x="1983" y="467"/>
                </a:cubicBezTo>
                <a:lnTo>
                  <a:pt x="1983" y="547"/>
                </a:lnTo>
                <a:close/>
              </a:path>
            </a:pathLst>
          </a:custGeom>
          <a:solidFill>
            <a:srgbClr val="4A206A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sv-SE" sz="1350"/>
          </a:p>
        </p:txBody>
      </p:sp>
      <p:grpSp>
        <p:nvGrpSpPr>
          <p:cNvPr id="25" name="Group 161"/>
          <p:cNvGrpSpPr>
            <a:grpSpLocks noChangeAspect="1"/>
          </p:cNvGrpSpPr>
          <p:nvPr/>
        </p:nvGrpSpPr>
        <p:grpSpPr bwMode="auto">
          <a:xfrm>
            <a:off x="4770610" y="2776336"/>
            <a:ext cx="298553" cy="299285"/>
            <a:chOff x="6546" y="1916"/>
            <a:chExt cx="408" cy="409"/>
          </a:xfrm>
          <a:solidFill>
            <a:srgbClr val="CC3399"/>
          </a:solidFill>
        </p:grpSpPr>
        <p:sp>
          <p:nvSpPr>
            <p:cNvPr id="26" name="Freeform 162"/>
            <p:cNvSpPr>
              <a:spLocks noEditPoints="1"/>
            </p:cNvSpPr>
            <p:nvPr/>
          </p:nvSpPr>
          <p:spPr bwMode="auto">
            <a:xfrm>
              <a:off x="6546" y="2012"/>
              <a:ext cx="164" cy="143"/>
            </a:xfrm>
            <a:custGeom>
              <a:avLst/>
              <a:gdLst>
                <a:gd name="T0" fmla="*/ 6 w 77"/>
                <a:gd name="T1" fmla="*/ 22 h 67"/>
                <a:gd name="T2" fmla="*/ 22 w 77"/>
                <a:gd name="T3" fmla="*/ 6 h 67"/>
                <a:gd name="T4" fmla="*/ 27 w 77"/>
                <a:gd name="T5" fmla="*/ 6 h 67"/>
                <a:gd name="T6" fmla="*/ 36 w 77"/>
                <a:gd name="T7" fmla="*/ 30 h 67"/>
                <a:gd name="T8" fmla="*/ 38 w 77"/>
                <a:gd name="T9" fmla="*/ 32 h 67"/>
                <a:gd name="T10" fmla="*/ 42 w 77"/>
                <a:gd name="T11" fmla="*/ 30 h 67"/>
                <a:gd name="T12" fmla="*/ 51 w 77"/>
                <a:gd name="T13" fmla="*/ 6 h 67"/>
                <a:gd name="T14" fmla="*/ 54 w 77"/>
                <a:gd name="T15" fmla="*/ 6 h 67"/>
                <a:gd name="T16" fmla="*/ 70 w 77"/>
                <a:gd name="T17" fmla="*/ 22 h 67"/>
                <a:gd name="T18" fmla="*/ 70 w 77"/>
                <a:gd name="T19" fmla="*/ 67 h 67"/>
                <a:gd name="T20" fmla="*/ 77 w 77"/>
                <a:gd name="T21" fmla="*/ 67 h 67"/>
                <a:gd name="T22" fmla="*/ 77 w 77"/>
                <a:gd name="T23" fmla="*/ 22 h 67"/>
                <a:gd name="T24" fmla="*/ 54 w 77"/>
                <a:gd name="T25" fmla="*/ 0 h 67"/>
                <a:gd name="T26" fmla="*/ 22 w 77"/>
                <a:gd name="T27" fmla="*/ 0 h 67"/>
                <a:gd name="T28" fmla="*/ 0 w 77"/>
                <a:gd name="T29" fmla="*/ 22 h 67"/>
                <a:gd name="T30" fmla="*/ 0 w 77"/>
                <a:gd name="T31" fmla="*/ 67 h 67"/>
                <a:gd name="T32" fmla="*/ 6 w 77"/>
                <a:gd name="T33" fmla="*/ 67 h 67"/>
                <a:gd name="T34" fmla="*/ 6 w 77"/>
                <a:gd name="T35" fmla="*/ 22 h 67"/>
                <a:gd name="T36" fmla="*/ 39 w 77"/>
                <a:gd name="T37" fmla="*/ 20 h 67"/>
                <a:gd name="T38" fmla="*/ 34 w 77"/>
                <a:gd name="T39" fmla="*/ 6 h 67"/>
                <a:gd name="T40" fmla="*/ 44 w 77"/>
                <a:gd name="T41" fmla="*/ 6 h 67"/>
                <a:gd name="T42" fmla="*/ 39 w 77"/>
                <a:gd name="T43" fmla="*/ 20 h 67"/>
                <a:gd name="T44" fmla="*/ 39 w 77"/>
                <a:gd name="T45" fmla="*/ 20 h 67"/>
                <a:gd name="T46" fmla="*/ 39 w 77"/>
                <a:gd name="T47" fmla="*/ 2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7" h="67">
                  <a:moveTo>
                    <a:pt x="6" y="22"/>
                  </a:moveTo>
                  <a:cubicBezTo>
                    <a:pt x="6" y="13"/>
                    <a:pt x="13" y="6"/>
                    <a:pt x="22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1"/>
                    <a:pt x="37" y="32"/>
                    <a:pt x="38" y="32"/>
                  </a:cubicBezTo>
                  <a:cubicBezTo>
                    <a:pt x="40" y="32"/>
                    <a:pt x="41" y="31"/>
                    <a:pt x="42" y="30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63" y="6"/>
                    <a:pt x="70" y="13"/>
                    <a:pt x="70" y="22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10"/>
                    <a:pt x="67" y="0"/>
                    <a:pt x="5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6" y="67"/>
                    <a:pt x="6" y="67"/>
                    <a:pt x="6" y="67"/>
                  </a:cubicBezTo>
                  <a:lnTo>
                    <a:pt x="6" y="22"/>
                  </a:lnTo>
                  <a:close/>
                  <a:moveTo>
                    <a:pt x="39" y="2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44" y="6"/>
                    <a:pt x="44" y="6"/>
                    <a:pt x="44" y="6"/>
                  </a:cubicBezTo>
                  <a:lnTo>
                    <a:pt x="39" y="20"/>
                  </a:lnTo>
                  <a:close/>
                  <a:moveTo>
                    <a:pt x="39" y="20"/>
                  </a:moveTo>
                  <a:cubicBezTo>
                    <a:pt x="39" y="20"/>
                    <a:pt x="39" y="20"/>
                    <a:pt x="39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27" name="Rectangle 163"/>
            <p:cNvSpPr>
              <a:spLocks noChangeArrowheads="1"/>
            </p:cNvSpPr>
            <p:nvPr/>
          </p:nvSpPr>
          <p:spPr bwMode="auto">
            <a:xfrm>
              <a:off x="6620" y="2093"/>
              <a:ext cx="15" cy="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28" name="Rectangle 164"/>
            <p:cNvSpPr>
              <a:spLocks noChangeArrowheads="1"/>
            </p:cNvSpPr>
            <p:nvPr/>
          </p:nvSpPr>
          <p:spPr bwMode="auto">
            <a:xfrm>
              <a:off x="6620" y="2121"/>
              <a:ext cx="15" cy="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29" name="Freeform 165"/>
            <p:cNvSpPr>
              <a:spLocks noEditPoints="1"/>
            </p:cNvSpPr>
            <p:nvPr/>
          </p:nvSpPr>
          <p:spPr bwMode="auto">
            <a:xfrm>
              <a:off x="6586" y="1916"/>
              <a:ext cx="83" cy="89"/>
            </a:xfrm>
            <a:custGeom>
              <a:avLst/>
              <a:gdLst>
                <a:gd name="T0" fmla="*/ 16 w 39"/>
                <a:gd name="T1" fmla="*/ 42 h 42"/>
                <a:gd name="T2" fmla="*/ 23 w 39"/>
                <a:gd name="T3" fmla="*/ 42 h 42"/>
                <a:gd name="T4" fmla="*/ 39 w 39"/>
                <a:gd name="T5" fmla="*/ 26 h 42"/>
                <a:gd name="T6" fmla="*/ 39 w 39"/>
                <a:gd name="T7" fmla="*/ 16 h 42"/>
                <a:gd name="T8" fmla="*/ 23 w 39"/>
                <a:gd name="T9" fmla="*/ 0 h 42"/>
                <a:gd name="T10" fmla="*/ 16 w 39"/>
                <a:gd name="T11" fmla="*/ 0 h 42"/>
                <a:gd name="T12" fmla="*/ 0 w 39"/>
                <a:gd name="T13" fmla="*/ 16 h 42"/>
                <a:gd name="T14" fmla="*/ 0 w 39"/>
                <a:gd name="T15" fmla="*/ 26 h 42"/>
                <a:gd name="T16" fmla="*/ 16 w 39"/>
                <a:gd name="T17" fmla="*/ 42 h 42"/>
                <a:gd name="T18" fmla="*/ 7 w 39"/>
                <a:gd name="T19" fmla="*/ 16 h 42"/>
                <a:gd name="T20" fmla="*/ 16 w 39"/>
                <a:gd name="T21" fmla="*/ 6 h 42"/>
                <a:gd name="T22" fmla="*/ 23 w 39"/>
                <a:gd name="T23" fmla="*/ 6 h 42"/>
                <a:gd name="T24" fmla="*/ 32 w 39"/>
                <a:gd name="T25" fmla="*/ 16 h 42"/>
                <a:gd name="T26" fmla="*/ 32 w 39"/>
                <a:gd name="T27" fmla="*/ 26 h 42"/>
                <a:gd name="T28" fmla="*/ 23 w 39"/>
                <a:gd name="T29" fmla="*/ 35 h 42"/>
                <a:gd name="T30" fmla="*/ 16 w 39"/>
                <a:gd name="T31" fmla="*/ 35 h 42"/>
                <a:gd name="T32" fmla="*/ 7 w 39"/>
                <a:gd name="T33" fmla="*/ 26 h 42"/>
                <a:gd name="T34" fmla="*/ 7 w 39"/>
                <a:gd name="T35" fmla="*/ 16 h 42"/>
                <a:gd name="T36" fmla="*/ 7 w 39"/>
                <a:gd name="T37" fmla="*/ 16 h 42"/>
                <a:gd name="T38" fmla="*/ 7 w 39"/>
                <a:gd name="T39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9" h="42">
                  <a:moveTo>
                    <a:pt x="16" y="42"/>
                  </a:moveTo>
                  <a:cubicBezTo>
                    <a:pt x="23" y="42"/>
                    <a:pt x="23" y="42"/>
                    <a:pt x="23" y="42"/>
                  </a:cubicBezTo>
                  <a:cubicBezTo>
                    <a:pt x="32" y="42"/>
                    <a:pt x="39" y="35"/>
                    <a:pt x="39" y="2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7"/>
                    <a:pt x="32" y="0"/>
                    <a:pt x="2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5"/>
                    <a:pt x="7" y="42"/>
                    <a:pt x="16" y="42"/>
                  </a:cubicBezTo>
                  <a:close/>
                  <a:moveTo>
                    <a:pt x="7" y="16"/>
                  </a:moveTo>
                  <a:cubicBezTo>
                    <a:pt x="7" y="11"/>
                    <a:pt x="11" y="6"/>
                    <a:pt x="16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8" y="6"/>
                    <a:pt x="32" y="11"/>
                    <a:pt x="32" y="1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31"/>
                    <a:pt x="28" y="35"/>
                    <a:pt x="23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1" y="35"/>
                    <a:pt x="7" y="31"/>
                    <a:pt x="7" y="26"/>
                  </a:cubicBezTo>
                  <a:lnTo>
                    <a:pt x="7" y="16"/>
                  </a:lnTo>
                  <a:close/>
                  <a:moveTo>
                    <a:pt x="7" y="16"/>
                  </a:moveTo>
                  <a:cubicBezTo>
                    <a:pt x="7" y="16"/>
                    <a:pt x="7" y="16"/>
                    <a:pt x="7" y="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0" name="Freeform 166"/>
            <p:cNvSpPr>
              <a:spLocks noEditPoints="1"/>
            </p:cNvSpPr>
            <p:nvPr/>
          </p:nvSpPr>
          <p:spPr bwMode="auto">
            <a:xfrm>
              <a:off x="6790" y="2012"/>
              <a:ext cx="164" cy="143"/>
            </a:xfrm>
            <a:custGeom>
              <a:avLst/>
              <a:gdLst>
                <a:gd name="T0" fmla="*/ 55 w 77"/>
                <a:gd name="T1" fmla="*/ 0 h 67"/>
                <a:gd name="T2" fmla="*/ 23 w 77"/>
                <a:gd name="T3" fmla="*/ 0 h 67"/>
                <a:gd name="T4" fmla="*/ 0 w 77"/>
                <a:gd name="T5" fmla="*/ 22 h 67"/>
                <a:gd name="T6" fmla="*/ 0 w 77"/>
                <a:gd name="T7" fmla="*/ 67 h 67"/>
                <a:gd name="T8" fmla="*/ 7 w 77"/>
                <a:gd name="T9" fmla="*/ 67 h 67"/>
                <a:gd name="T10" fmla="*/ 7 w 77"/>
                <a:gd name="T11" fmla="*/ 22 h 67"/>
                <a:gd name="T12" fmla="*/ 23 w 77"/>
                <a:gd name="T13" fmla="*/ 6 h 67"/>
                <a:gd name="T14" fmla="*/ 27 w 77"/>
                <a:gd name="T15" fmla="*/ 6 h 67"/>
                <a:gd name="T16" fmla="*/ 36 w 77"/>
                <a:gd name="T17" fmla="*/ 30 h 67"/>
                <a:gd name="T18" fmla="*/ 39 w 77"/>
                <a:gd name="T19" fmla="*/ 32 h 67"/>
                <a:gd name="T20" fmla="*/ 42 w 77"/>
                <a:gd name="T21" fmla="*/ 30 h 67"/>
                <a:gd name="T22" fmla="*/ 51 w 77"/>
                <a:gd name="T23" fmla="*/ 6 h 67"/>
                <a:gd name="T24" fmla="*/ 55 w 77"/>
                <a:gd name="T25" fmla="*/ 6 h 67"/>
                <a:gd name="T26" fmla="*/ 71 w 77"/>
                <a:gd name="T27" fmla="*/ 22 h 67"/>
                <a:gd name="T28" fmla="*/ 71 w 77"/>
                <a:gd name="T29" fmla="*/ 67 h 67"/>
                <a:gd name="T30" fmla="*/ 77 w 77"/>
                <a:gd name="T31" fmla="*/ 67 h 67"/>
                <a:gd name="T32" fmla="*/ 77 w 77"/>
                <a:gd name="T33" fmla="*/ 22 h 67"/>
                <a:gd name="T34" fmla="*/ 55 w 77"/>
                <a:gd name="T35" fmla="*/ 0 h 67"/>
                <a:gd name="T36" fmla="*/ 39 w 77"/>
                <a:gd name="T37" fmla="*/ 20 h 67"/>
                <a:gd name="T38" fmla="*/ 34 w 77"/>
                <a:gd name="T39" fmla="*/ 6 h 67"/>
                <a:gd name="T40" fmla="*/ 44 w 77"/>
                <a:gd name="T41" fmla="*/ 6 h 67"/>
                <a:gd name="T42" fmla="*/ 39 w 77"/>
                <a:gd name="T43" fmla="*/ 20 h 67"/>
                <a:gd name="T44" fmla="*/ 39 w 77"/>
                <a:gd name="T45" fmla="*/ 20 h 67"/>
                <a:gd name="T46" fmla="*/ 39 w 77"/>
                <a:gd name="T47" fmla="*/ 2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7" h="67">
                  <a:moveTo>
                    <a:pt x="55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13"/>
                    <a:pt x="14" y="6"/>
                    <a:pt x="23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1"/>
                    <a:pt x="37" y="32"/>
                    <a:pt x="39" y="32"/>
                  </a:cubicBezTo>
                  <a:cubicBezTo>
                    <a:pt x="40" y="32"/>
                    <a:pt x="41" y="31"/>
                    <a:pt x="42" y="30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4" y="6"/>
                    <a:pt x="71" y="13"/>
                    <a:pt x="71" y="22"/>
                  </a:cubicBezTo>
                  <a:cubicBezTo>
                    <a:pt x="71" y="67"/>
                    <a:pt x="71" y="67"/>
                    <a:pt x="71" y="67"/>
                  </a:cubicBezTo>
                  <a:cubicBezTo>
                    <a:pt x="77" y="67"/>
                    <a:pt x="77" y="67"/>
                    <a:pt x="77" y="67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10"/>
                    <a:pt x="67" y="0"/>
                    <a:pt x="55" y="0"/>
                  </a:cubicBezTo>
                  <a:close/>
                  <a:moveTo>
                    <a:pt x="39" y="2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44" y="6"/>
                    <a:pt x="44" y="6"/>
                    <a:pt x="44" y="6"/>
                  </a:cubicBezTo>
                  <a:lnTo>
                    <a:pt x="39" y="20"/>
                  </a:lnTo>
                  <a:close/>
                  <a:moveTo>
                    <a:pt x="39" y="20"/>
                  </a:moveTo>
                  <a:cubicBezTo>
                    <a:pt x="39" y="20"/>
                    <a:pt x="39" y="20"/>
                    <a:pt x="39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1" name="Rectangle 167"/>
            <p:cNvSpPr>
              <a:spLocks noChangeArrowheads="1"/>
            </p:cNvSpPr>
            <p:nvPr/>
          </p:nvSpPr>
          <p:spPr bwMode="auto">
            <a:xfrm>
              <a:off x="6865" y="2093"/>
              <a:ext cx="15" cy="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2" name="Rectangle 168"/>
            <p:cNvSpPr>
              <a:spLocks noChangeArrowheads="1"/>
            </p:cNvSpPr>
            <p:nvPr/>
          </p:nvSpPr>
          <p:spPr bwMode="auto">
            <a:xfrm>
              <a:off x="6865" y="2121"/>
              <a:ext cx="15" cy="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3" name="Freeform 169"/>
            <p:cNvSpPr>
              <a:spLocks noEditPoints="1"/>
            </p:cNvSpPr>
            <p:nvPr/>
          </p:nvSpPr>
          <p:spPr bwMode="auto">
            <a:xfrm>
              <a:off x="6831" y="1916"/>
              <a:ext cx="83" cy="89"/>
            </a:xfrm>
            <a:custGeom>
              <a:avLst/>
              <a:gdLst>
                <a:gd name="T0" fmla="*/ 16 w 39"/>
                <a:gd name="T1" fmla="*/ 42 h 42"/>
                <a:gd name="T2" fmla="*/ 23 w 39"/>
                <a:gd name="T3" fmla="*/ 42 h 42"/>
                <a:gd name="T4" fmla="*/ 39 w 39"/>
                <a:gd name="T5" fmla="*/ 26 h 42"/>
                <a:gd name="T6" fmla="*/ 39 w 39"/>
                <a:gd name="T7" fmla="*/ 16 h 42"/>
                <a:gd name="T8" fmla="*/ 23 w 39"/>
                <a:gd name="T9" fmla="*/ 0 h 42"/>
                <a:gd name="T10" fmla="*/ 16 w 39"/>
                <a:gd name="T11" fmla="*/ 0 h 42"/>
                <a:gd name="T12" fmla="*/ 0 w 39"/>
                <a:gd name="T13" fmla="*/ 16 h 42"/>
                <a:gd name="T14" fmla="*/ 0 w 39"/>
                <a:gd name="T15" fmla="*/ 26 h 42"/>
                <a:gd name="T16" fmla="*/ 16 w 39"/>
                <a:gd name="T17" fmla="*/ 42 h 42"/>
                <a:gd name="T18" fmla="*/ 7 w 39"/>
                <a:gd name="T19" fmla="*/ 16 h 42"/>
                <a:gd name="T20" fmla="*/ 16 w 39"/>
                <a:gd name="T21" fmla="*/ 6 h 42"/>
                <a:gd name="T22" fmla="*/ 23 w 39"/>
                <a:gd name="T23" fmla="*/ 6 h 42"/>
                <a:gd name="T24" fmla="*/ 32 w 39"/>
                <a:gd name="T25" fmla="*/ 16 h 42"/>
                <a:gd name="T26" fmla="*/ 32 w 39"/>
                <a:gd name="T27" fmla="*/ 26 h 42"/>
                <a:gd name="T28" fmla="*/ 23 w 39"/>
                <a:gd name="T29" fmla="*/ 35 h 42"/>
                <a:gd name="T30" fmla="*/ 16 w 39"/>
                <a:gd name="T31" fmla="*/ 35 h 42"/>
                <a:gd name="T32" fmla="*/ 7 w 39"/>
                <a:gd name="T33" fmla="*/ 26 h 42"/>
                <a:gd name="T34" fmla="*/ 7 w 39"/>
                <a:gd name="T35" fmla="*/ 16 h 42"/>
                <a:gd name="T36" fmla="*/ 7 w 39"/>
                <a:gd name="T37" fmla="*/ 16 h 42"/>
                <a:gd name="T38" fmla="*/ 7 w 39"/>
                <a:gd name="T39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9" h="42">
                  <a:moveTo>
                    <a:pt x="16" y="42"/>
                  </a:moveTo>
                  <a:cubicBezTo>
                    <a:pt x="23" y="42"/>
                    <a:pt x="23" y="42"/>
                    <a:pt x="23" y="42"/>
                  </a:cubicBezTo>
                  <a:cubicBezTo>
                    <a:pt x="32" y="42"/>
                    <a:pt x="39" y="35"/>
                    <a:pt x="39" y="2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7"/>
                    <a:pt x="32" y="0"/>
                    <a:pt x="2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5"/>
                    <a:pt x="7" y="42"/>
                    <a:pt x="16" y="42"/>
                  </a:cubicBezTo>
                  <a:close/>
                  <a:moveTo>
                    <a:pt x="7" y="16"/>
                  </a:moveTo>
                  <a:cubicBezTo>
                    <a:pt x="7" y="11"/>
                    <a:pt x="11" y="6"/>
                    <a:pt x="16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8" y="6"/>
                    <a:pt x="32" y="11"/>
                    <a:pt x="32" y="1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31"/>
                    <a:pt x="28" y="35"/>
                    <a:pt x="23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1" y="35"/>
                    <a:pt x="7" y="31"/>
                    <a:pt x="7" y="26"/>
                  </a:cubicBezTo>
                  <a:lnTo>
                    <a:pt x="7" y="16"/>
                  </a:lnTo>
                  <a:close/>
                  <a:moveTo>
                    <a:pt x="7" y="16"/>
                  </a:moveTo>
                  <a:cubicBezTo>
                    <a:pt x="7" y="16"/>
                    <a:pt x="7" y="16"/>
                    <a:pt x="7" y="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4" name="Freeform 170"/>
            <p:cNvSpPr>
              <a:spLocks noEditPoints="1"/>
            </p:cNvSpPr>
            <p:nvPr/>
          </p:nvSpPr>
          <p:spPr bwMode="auto">
            <a:xfrm>
              <a:off x="6710" y="2012"/>
              <a:ext cx="80" cy="68"/>
            </a:xfrm>
            <a:custGeom>
              <a:avLst/>
              <a:gdLst>
                <a:gd name="T0" fmla="*/ 16 w 38"/>
                <a:gd name="T1" fmla="*/ 30 h 32"/>
                <a:gd name="T2" fmla="*/ 19 w 38"/>
                <a:gd name="T3" fmla="*/ 32 h 32"/>
                <a:gd name="T4" fmla="*/ 23 w 38"/>
                <a:gd name="T5" fmla="*/ 30 h 32"/>
                <a:gd name="T6" fmla="*/ 31 w 38"/>
                <a:gd name="T7" fmla="*/ 6 h 32"/>
                <a:gd name="T8" fmla="*/ 38 w 38"/>
                <a:gd name="T9" fmla="*/ 6 h 32"/>
                <a:gd name="T10" fmla="*/ 38 w 38"/>
                <a:gd name="T11" fmla="*/ 0 h 32"/>
                <a:gd name="T12" fmla="*/ 0 w 38"/>
                <a:gd name="T13" fmla="*/ 0 h 32"/>
                <a:gd name="T14" fmla="*/ 0 w 38"/>
                <a:gd name="T15" fmla="*/ 6 h 32"/>
                <a:gd name="T16" fmla="*/ 7 w 38"/>
                <a:gd name="T17" fmla="*/ 6 h 32"/>
                <a:gd name="T18" fmla="*/ 16 w 38"/>
                <a:gd name="T19" fmla="*/ 30 h 32"/>
                <a:gd name="T20" fmla="*/ 19 w 38"/>
                <a:gd name="T21" fmla="*/ 20 h 32"/>
                <a:gd name="T22" fmla="*/ 14 w 38"/>
                <a:gd name="T23" fmla="*/ 6 h 32"/>
                <a:gd name="T24" fmla="*/ 24 w 38"/>
                <a:gd name="T25" fmla="*/ 6 h 32"/>
                <a:gd name="T26" fmla="*/ 19 w 38"/>
                <a:gd name="T27" fmla="*/ 20 h 32"/>
                <a:gd name="T28" fmla="*/ 19 w 38"/>
                <a:gd name="T29" fmla="*/ 20 h 32"/>
                <a:gd name="T30" fmla="*/ 19 w 38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32">
                  <a:moveTo>
                    <a:pt x="16" y="30"/>
                  </a:moveTo>
                  <a:cubicBezTo>
                    <a:pt x="16" y="31"/>
                    <a:pt x="18" y="32"/>
                    <a:pt x="19" y="32"/>
                  </a:cubicBezTo>
                  <a:cubicBezTo>
                    <a:pt x="20" y="32"/>
                    <a:pt x="22" y="31"/>
                    <a:pt x="23" y="30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16" y="30"/>
                  </a:lnTo>
                  <a:close/>
                  <a:moveTo>
                    <a:pt x="19" y="20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24" y="6"/>
                    <a:pt x="24" y="6"/>
                    <a:pt x="24" y="6"/>
                  </a:cubicBezTo>
                  <a:lnTo>
                    <a:pt x="19" y="20"/>
                  </a:lnTo>
                  <a:close/>
                  <a:moveTo>
                    <a:pt x="19" y="20"/>
                  </a:moveTo>
                  <a:cubicBezTo>
                    <a:pt x="19" y="20"/>
                    <a:pt x="19" y="20"/>
                    <a:pt x="19" y="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5" name="Rectangle 171"/>
            <p:cNvSpPr>
              <a:spLocks noChangeArrowheads="1"/>
            </p:cNvSpPr>
            <p:nvPr/>
          </p:nvSpPr>
          <p:spPr bwMode="auto">
            <a:xfrm>
              <a:off x="6744" y="2093"/>
              <a:ext cx="12" cy="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6" name="Rectangle 172"/>
            <p:cNvSpPr>
              <a:spLocks noChangeArrowheads="1"/>
            </p:cNvSpPr>
            <p:nvPr/>
          </p:nvSpPr>
          <p:spPr bwMode="auto">
            <a:xfrm>
              <a:off x="6744" y="2121"/>
              <a:ext cx="12" cy="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7" name="Freeform 173"/>
            <p:cNvSpPr>
              <a:spLocks noEditPoints="1"/>
            </p:cNvSpPr>
            <p:nvPr/>
          </p:nvSpPr>
          <p:spPr bwMode="auto">
            <a:xfrm>
              <a:off x="6710" y="1916"/>
              <a:ext cx="80" cy="89"/>
            </a:xfrm>
            <a:custGeom>
              <a:avLst/>
              <a:gdLst>
                <a:gd name="T0" fmla="*/ 16 w 38"/>
                <a:gd name="T1" fmla="*/ 42 h 42"/>
                <a:gd name="T2" fmla="*/ 22 w 38"/>
                <a:gd name="T3" fmla="*/ 42 h 42"/>
                <a:gd name="T4" fmla="*/ 38 w 38"/>
                <a:gd name="T5" fmla="*/ 26 h 42"/>
                <a:gd name="T6" fmla="*/ 38 w 38"/>
                <a:gd name="T7" fmla="*/ 16 h 42"/>
                <a:gd name="T8" fmla="*/ 22 w 38"/>
                <a:gd name="T9" fmla="*/ 0 h 42"/>
                <a:gd name="T10" fmla="*/ 16 w 38"/>
                <a:gd name="T11" fmla="*/ 0 h 42"/>
                <a:gd name="T12" fmla="*/ 0 w 38"/>
                <a:gd name="T13" fmla="*/ 16 h 42"/>
                <a:gd name="T14" fmla="*/ 0 w 38"/>
                <a:gd name="T15" fmla="*/ 26 h 42"/>
                <a:gd name="T16" fmla="*/ 16 w 38"/>
                <a:gd name="T17" fmla="*/ 42 h 42"/>
                <a:gd name="T18" fmla="*/ 6 w 38"/>
                <a:gd name="T19" fmla="*/ 16 h 42"/>
                <a:gd name="T20" fmla="*/ 16 w 38"/>
                <a:gd name="T21" fmla="*/ 6 h 42"/>
                <a:gd name="T22" fmla="*/ 22 w 38"/>
                <a:gd name="T23" fmla="*/ 6 h 42"/>
                <a:gd name="T24" fmla="*/ 32 w 38"/>
                <a:gd name="T25" fmla="*/ 16 h 42"/>
                <a:gd name="T26" fmla="*/ 32 w 38"/>
                <a:gd name="T27" fmla="*/ 26 h 42"/>
                <a:gd name="T28" fmla="*/ 22 w 38"/>
                <a:gd name="T29" fmla="*/ 35 h 42"/>
                <a:gd name="T30" fmla="*/ 16 w 38"/>
                <a:gd name="T31" fmla="*/ 35 h 42"/>
                <a:gd name="T32" fmla="*/ 6 w 38"/>
                <a:gd name="T33" fmla="*/ 26 h 42"/>
                <a:gd name="T34" fmla="*/ 6 w 38"/>
                <a:gd name="T35" fmla="*/ 16 h 42"/>
                <a:gd name="T36" fmla="*/ 6 w 38"/>
                <a:gd name="T37" fmla="*/ 16 h 42"/>
                <a:gd name="T38" fmla="*/ 6 w 38"/>
                <a:gd name="T39" fmla="*/ 1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8" h="42">
                  <a:moveTo>
                    <a:pt x="16" y="42"/>
                  </a:moveTo>
                  <a:cubicBezTo>
                    <a:pt x="22" y="42"/>
                    <a:pt x="22" y="42"/>
                    <a:pt x="22" y="42"/>
                  </a:cubicBezTo>
                  <a:cubicBezTo>
                    <a:pt x="31" y="42"/>
                    <a:pt x="38" y="35"/>
                    <a:pt x="38" y="2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7"/>
                    <a:pt x="31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5"/>
                    <a:pt x="7" y="42"/>
                    <a:pt x="16" y="42"/>
                  </a:cubicBezTo>
                  <a:close/>
                  <a:moveTo>
                    <a:pt x="6" y="16"/>
                  </a:moveTo>
                  <a:cubicBezTo>
                    <a:pt x="6" y="11"/>
                    <a:pt x="10" y="6"/>
                    <a:pt x="16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8" y="6"/>
                    <a:pt x="32" y="11"/>
                    <a:pt x="32" y="1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31"/>
                    <a:pt x="28" y="35"/>
                    <a:pt x="22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0" y="35"/>
                    <a:pt x="6" y="31"/>
                    <a:pt x="6" y="26"/>
                  </a:cubicBezTo>
                  <a:lnTo>
                    <a:pt x="6" y="16"/>
                  </a:lnTo>
                  <a:close/>
                  <a:moveTo>
                    <a:pt x="6" y="16"/>
                  </a:moveTo>
                  <a:cubicBezTo>
                    <a:pt x="6" y="16"/>
                    <a:pt x="6" y="16"/>
                    <a:pt x="6" y="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38" name="Freeform 174"/>
            <p:cNvSpPr>
              <a:spLocks noEditPoints="1"/>
            </p:cNvSpPr>
            <p:nvPr/>
          </p:nvSpPr>
          <p:spPr bwMode="auto">
            <a:xfrm>
              <a:off x="6546" y="2065"/>
              <a:ext cx="408" cy="260"/>
            </a:xfrm>
            <a:custGeom>
              <a:avLst/>
              <a:gdLst>
                <a:gd name="T0" fmla="*/ 189 w 192"/>
                <a:gd name="T1" fmla="*/ 106 h 122"/>
                <a:gd name="T2" fmla="*/ 176 w 192"/>
                <a:gd name="T3" fmla="*/ 106 h 122"/>
                <a:gd name="T4" fmla="*/ 176 w 192"/>
                <a:gd name="T5" fmla="*/ 0 h 122"/>
                <a:gd name="T6" fmla="*/ 170 w 192"/>
                <a:gd name="T7" fmla="*/ 0 h 122"/>
                <a:gd name="T8" fmla="*/ 170 w 192"/>
                <a:gd name="T9" fmla="*/ 106 h 122"/>
                <a:gd name="T10" fmla="*/ 157 w 192"/>
                <a:gd name="T11" fmla="*/ 106 h 122"/>
                <a:gd name="T12" fmla="*/ 157 w 192"/>
                <a:gd name="T13" fmla="*/ 45 h 122"/>
                <a:gd name="T14" fmla="*/ 150 w 192"/>
                <a:gd name="T15" fmla="*/ 45 h 122"/>
                <a:gd name="T16" fmla="*/ 150 w 192"/>
                <a:gd name="T17" fmla="*/ 106 h 122"/>
                <a:gd name="T18" fmla="*/ 138 w 192"/>
                <a:gd name="T19" fmla="*/ 106 h 122"/>
                <a:gd name="T20" fmla="*/ 138 w 192"/>
                <a:gd name="T21" fmla="*/ 0 h 122"/>
                <a:gd name="T22" fmla="*/ 131 w 192"/>
                <a:gd name="T23" fmla="*/ 0 h 122"/>
                <a:gd name="T24" fmla="*/ 131 w 192"/>
                <a:gd name="T25" fmla="*/ 106 h 122"/>
                <a:gd name="T26" fmla="*/ 118 w 192"/>
                <a:gd name="T27" fmla="*/ 106 h 122"/>
                <a:gd name="T28" fmla="*/ 118 w 192"/>
                <a:gd name="T29" fmla="*/ 58 h 122"/>
                <a:gd name="T30" fmla="*/ 112 w 192"/>
                <a:gd name="T31" fmla="*/ 58 h 122"/>
                <a:gd name="T32" fmla="*/ 112 w 192"/>
                <a:gd name="T33" fmla="*/ 106 h 122"/>
                <a:gd name="T34" fmla="*/ 99 w 192"/>
                <a:gd name="T35" fmla="*/ 106 h 122"/>
                <a:gd name="T36" fmla="*/ 99 w 192"/>
                <a:gd name="T37" fmla="*/ 45 h 122"/>
                <a:gd name="T38" fmla="*/ 93 w 192"/>
                <a:gd name="T39" fmla="*/ 45 h 122"/>
                <a:gd name="T40" fmla="*/ 93 w 192"/>
                <a:gd name="T41" fmla="*/ 106 h 122"/>
                <a:gd name="T42" fmla="*/ 80 w 192"/>
                <a:gd name="T43" fmla="*/ 106 h 122"/>
                <a:gd name="T44" fmla="*/ 80 w 192"/>
                <a:gd name="T45" fmla="*/ 58 h 122"/>
                <a:gd name="T46" fmla="*/ 74 w 192"/>
                <a:gd name="T47" fmla="*/ 58 h 122"/>
                <a:gd name="T48" fmla="*/ 74 w 192"/>
                <a:gd name="T49" fmla="*/ 106 h 122"/>
                <a:gd name="T50" fmla="*/ 61 w 192"/>
                <a:gd name="T51" fmla="*/ 106 h 122"/>
                <a:gd name="T52" fmla="*/ 61 w 192"/>
                <a:gd name="T53" fmla="*/ 0 h 122"/>
                <a:gd name="T54" fmla="*/ 54 w 192"/>
                <a:gd name="T55" fmla="*/ 0 h 122"/>
                <a:gd name="T56" fmla="*/ 54 w 192"/>
                <a:gd name="T57" fmla="*/ 106 h 122"/>
                <a:gd name="T58" fmla="*/ 42 w 192"/>
                <a:gd name="T59" fmla="*/ 106 h 122"/>
                <a:gd name="T60" fmla="*/ 42 w 192"/>
                <a:gd name="T61" fmla="*/ 45 h 122"/>
                <a:gd name="T62" fmla="*/ 35 w 192"/>
                <a:gd name="T63" fmla="*/ 45 h 122"/>
                <a:gd name="T64" fmla="*/ 35 w 192"/>
                <a:gd name="T65" fmla="*/ 106 h 122"/>
                <a:gd name="T66" fmla="*/ 22 w 192"/>
                <a:gd name="T67" fmla="*/ 106 h 122"/>
                <a:gd name="T68" fmla="*/ 22 w 192"/>
                <a:gd name="T69" fmla="*/ 0 h 122"/>
                <a:gd name="T70" fmla="*/ 16 w 192"/>
                <a:gd name="T71" fmla="*/ 0 h 122"/>
                <a:gd name="T72" fmla="*/ 16 w 192"/>
                <a:gd name="T73" fmla="*/ 106 h 122"/>
                <a:gd name="T74" fmla="*/ 3 w 192"/>
                <a:gd name="T75" fmla="*/ 106 h 122"/>
                <a:gd name="T76" fmla="*/ 0 w 192"/>
                <a:gd name="T77" fmla="*/ 109 h 122"/>
                <a:gd name="T78" fmla="*/ 0 w 192"/>
                <a:gd name="T79" fmla="*/ 122 h 122"/>
                <a:gd name="T80" fmla="*/ 6 w 192"/>
                <a:gd name="T81" fmla="*/ 122 h 122"/>
                <a:gd name="T82" fmla="*/ 6 w 192"/>
                <a:gd name="T83" fmla="*/ 112 h 122"/>
                <a:gd name="T84" fmla="*/ 186 w 192"/>
                <a:gd name="T85" fmla="*/ 112 h 122"/>
                <a:gd name="T86" fmla="*/ 186 w 192"/>
                <a:gd name="T87" fmla="*/ 122 h 122"/>
                <a:gd name="T88" fmla="*/ 192 w 192"/>
                <a:gd name="T89" fmla="*/ 122 h 122"/>
                <a:gd name="T90" fmla="*/ 192 w 192"/>
                <a:gd name="T91" fmla="*/ 109 h 122"/>
                <a:gd name="T92" fmla="*/ 189 w 192"/>
                <a:gd name="T93" fmla="*/ 106 h 122"/>
                <a:gd name="T94" fmla="*/ 189 w 192"/>
                <a:gd name="T95" fmla="*/ 106 h 122"/>
                <a:gd name="T96" fmla="*/ 189 w 192"/>
                <a:gd name="T97" fmla="*/ 10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" h="122">
                  <a:moveTo>
                    <a:pt x="189" y="106"/>
                  </a:moveTo>
                  <a:cubicBezTo>
                    <a:pt x="176" y="106"/>
                    <a:pt x="176" y="106"/>
                    <a:pt x="176" y="106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57" y="106"/>
                    <a:pt x="157" y="106"/>
                    <a:pt x="157" y="106"/>
                  </a:cubicBezTo>
                  <a:cubicBezTo>
                    <a:pt x="157" y="45"/>
                    <a:pt x="157" y="45"/>
                    <a:pt x="157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38" y="106"/>
                    <a:pt x="138" y="106"/>
                    <a:pt x="138" y="10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18" y="106"/>
                    <a:pt x="118" y="106"/>
                    <a:pt x="118" y="106"/>
                  </a:cubicBezTo>
                  <a:cubicBezTo>
                    <a:pt x="118" y="58"/>
                    <a:pt x="118" y="58"/>
                    <a:pt x="118" y="58"/>
                  </a:cubicBezTo>
                  <a:cubicBezTo>
                    <a:pt x="112" y="58"/>
                    <a:pt x="112" y="58"/>
                    <a:pt x="112" y="58"/>
                  </a:cubicBezTo>
                  <a:cubicBezTo>
                    <a:pt x="112" y="106"/>
                    <a:pt x="112" y="106"/>
                    <a:pt x="112" y="106"/>
                  </a:cubicBezTo>
                  <a:cubicBezTo>
                    <a:pt x="99" y="106"/>
                    <a:pt x="99" y="106"/>
                    <a:pt x="99" y="106"/>
                  </a:cubicBezTo>
                  <a:cubicBezTo>
                    <a:pt x="99" y="45"/>
                    <a:pt x="99" y="45"/>
                    <a:pt x="99" y="45"/>
                  </a:cubicBezTo>
                  <a:cubicBezTo>
                    <a:pt x="93" y="45"/>
                    <a:pt x="93" y="45"/>
                    <a:pt x="93" y="45"/>
                  </a:cubicBezTo>
                  <a:cubicBezTo>
                    <a:pt x="93" y="106"/>
                    <a:pt x="93" y="106"/>
                    <a:pt x="93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106"/>
                    <a:pt x="74" y="106"/>
                    <a:pt x="74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42" y="106"/>
                    <a:pt x="42" y="106"/>
                    <a:pt x="42" y="106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22" y="106"/>
                    <a:pt x="22" y="106"/>
                    <a:pt x="22" y="106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06"/>
                    <a:pt x="16" y="106"/>
                    <a:pt x="16" y="106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1" y="106"/>
                    <a:pt x="0" y="107"/>
                    <a:pt x="0" y="10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6" y="122"/>
                    <a:pt x="6" y="122"/>
                    <a:pt x="6" y="122"/>
                  </a:cubicBezTo>
                  <a:cubicBezTo>
                    <a:pt x="6" y="112"/>
                    <a:pt x="6" y="112"/>
                    <a:pt x="6" y="112"/>
                  </a:cubicBezTo>
                  <a:cubicBezTo>
                    <a:pt x="186" y="112"/>
                    <a:pt x="186" y="112"/>
                    <a:pt x="186" y="112"/>
                  </a:cubicBezTo>
                  <a:cubicBezTo>
                    <a:pt x="186" y="122"/>
                    <a:pt x="186" y="122"/>
                    <a:pt x="186" y="122"/>
                  </a:cubicBezTo>
                  <a:cubicBezTo>
                    <a:pt x="192" y="122"/>
                    <a:pt x="192" y="122"/>
                    <a:pt x="192" y="122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7"/>
                    <a:pt x="191" y="106"/>
                    <a:pt x="189" y="106"/>
                  </a:cubicBezTo>
                  <a:close/>
                  <a:moveTo>
                    <a:pt x="189" y="106"/>
                  </a:moveTo>
                  <a:cubicBezTo>
                    <a:pt x="189" y="106"/>
                    <a:pt x="189" y="106"/>
                    <a:pt x="189" y="10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</p:grpSp>
      <p:grpSp>
        <p:nvGrpSpPr>
          <p:cNvPr id="39" name="Group 55"/>
          <p:cNvGrpSpPr>
            <a:grpSpLocks noChangeAspect="1"/>
          </p:cNvGrpSpPr>
          <p:nvPr/>
        </p:nvGrpSpPr>
        <p:grpSpPr bwMode="auto">
          <a:xfrm>
            <a:off x="5704559" y="3724564"/>
            <a:ext cx="401950" cy="397763"/>
            <a:chOff x="2873" y="1215"/>
            <a:chExt cx="1920" cy="1900"/>
          </a:xfrm>
          <a:solidFill>
            <a:schemeClr val="accent3"/>
          </a:solidFill>
        </p:grpSpPr>
        <p:sp>
          <p:nvSpPr>
            <p:cNvPr id="40" name="Freeform 56"/>
            <p:cNvSpPr>
              <a:spLocks noEditPoints="1"/>
            </p:cNvSpPr>
            <p:nvPr/>
          </p:nvSpPr>
          <p:spPr bwMode="auto">
            <a:xfrm>
              <a:off x="2873" y="1632"/>
              <a:ext cx="1474" cy="1483"/>
            </a:xfrm>
            <a:custGeom>
              <a:avLst/>
              <a:gdLst>
                <a:gd name="T0" fmla="*/ 1091 w 1213"/>
                <a:gd name="T1" fmla="*/ 879 h 1222"/>
                <a:gd name="T2" fmla="*/ 983 w 1213"/>
                <a:gd name="T3" fmla="*/ 860 h 1222"/>
                <a:gd name="T4" fmla="*/ 850 w 1213"/>
                <a:gd name="T5" fmla="*/ 1018 h 1222"/>
                <a:gd name="T6" fmla="*/ 868 w 1213"/>
                <a:gd name="T7" fmla="*/ 1118 h 1222"/>
                <a:gd name="T8" fmla="*/ 761 w 1213"/>
                <a:gd name="T9" fmla="*/ 1140 h 1222"/>
                <a:gd name="T10" fmla="*/ 698 w 1213"/>
                <a:gd name="T11" fmla="*/ 1050 h 1222"/>
                <a:gd name="T12" fmla="*/ 492 w 1213"/>
                <a:gd name="T13" fmla="*/ 1067 h 1222"/>
                <a:gd name="T14" fmla="*/ 434 w 1213"/>
                <a:gd name="T15" fmla="*/ 1151 h 1222"/>
                <a:gd name="T16" fmla="*/ 343 w 1213"/>
                <a:gd name="T17" fmla="*/ 1107 h 1222"/>
                <a:gd name="T18" fmla="*/ 373 w 1213"/>
                <a:gd name="T19" fmla="*/ 1018 h 1222"/>
                <a:gd name="T20" fmla="*/ 239 w 1213"/>
                <a:gd name="T21" fmla="*/ 860 h 1222"/>
                <a:gd name="T22" fmla="*/ 132 w 1213"/>
                <a:gd name="T23" fmla="*/ 879 h 1222"/>
                <a:gd name="T24" fmla="*/ 71 w 1213"/>
                <a:gd name="T25" fmla="*/ 788 h 1222"/>
                <a:gd name="T26" fmla="*/ 155 w 1213"/>
                <a:gd name="T27" fmla="*/ 730 h 1222"/>
                <a:gd name="T28" fmla="*/ 173 w 1213"/>
                <a:gd name="T29" fmla="*/ 524 h 1222"/>
                <a:gd name="T30" fmla="*/ 83 w 1213"/>
                <a:gd name="T31" fmla="*/ 461 h 1222"/>
                <a:gd name="T32" fmla="*/ 71 w 1213"/>
                <a:gd name="T33" fmla="*/ 433 h 1222"/>
                <a:gd name="T34" fmla="*/ 116 w 1213"/>
                <a:gd name="T35" fmla="*/ 342 h 1222"/>
                <a:gd name="T36" fmla="*/ 205 w 1213"/>
                <a:gd name="T37" fmla="*/ 372 h 1222"/>
                <a:gd name="T38" fmla="*/ 363 w 1213"/>
                <a:gd name="T39" fmla="*/ 239 h 1222"/>
                <a:gd name="T40" fmla="*/ 343 w 1213"/>
                <a:gd name="T41" fmla="*/ 131 h 1222"/>
                <a:gd name="T42" fmla="*/ 355 w 1213"/>
                <a:gd name="T43" fmla="*/ 103 h 1222"/>
                <a:gd name="T44" fmla="*/ 462 w 1213"/>
                <a:gd name="T45" fmla="*/ 82 h 1222"/>
                <a:gd name="T46" fmla="*/ 530 w 1213"/>
                <a:gd name="T47" fmla="*/ 170 h 1222"/>
                <a:gd name="T48" fmla="*/ 516 w 1213"/>
                <a:gd name="T49" fmla="*/ 60 h 1222"/>
                <a:gd name="T50" fmla="*/ 333 w 1213"/>
                <a:gd name="T51" fmla="*/ 49 h 1222"/>
                <a:gd name="T52" fmla="*/ 290 w 1213"/>
                <a:gd name="T53" fmla="*/ 154 h 1222"/>
                <a:gd name="T54" fmla="*/ 205 w 1213"/>
                <a:gd name="T55" fmla="*/ 310 h 1222"/>
                <a:gd name="T56" fmla="*/ 93 w 1213"/>
                <a:gd name="T57" fmla="*/ 289 h 1222"/>
                <a:gd name="T58" fmla="*/ 17 w 1213"/>
                <a:gd name="T59" fmla="*/ 411 h 1222"/>
                <a:gd name="T60" fmla="*/ 60 w 1213"/>
                <a:gd name="T61" fmla="*/ 516 h 1222"/>
                <a:gd name="T62" fmla="*/ 111 w 1213"/>
                <a:gd name="T63" fmla="*/ 686 h 1222"/>
                <a:gd name="T64" fmla="*/ 17 w 1213"/>
                <a:gd name="T65" fmla="*/ 812 h 1222"/>
                <a:gd name="T66" fmla="*/ 154 w 1213"/>
                <a:gd name="T67" fmla="*/ 932 h 1222"/>
                <a:gd name="T68" fmla="*/ 310 w 1213"/>
                <a:gd name="T69" fmla="*/ 1017 h 1222"/>
                <a:gd name="T70" fmla="*/ 289 w 1213"/>
                <a:gd name="T71" fmla="*/ 1129 h 1222"/>
                <a:gd name="T72" fmla="*/ 411 w 1213"/>
                <a:gd name="T73" fmla="*/ 1205 h 1222"/>
                <a:gd name="T74" fmla="*/ 536 w 1213"/>
                <a:gd name="T75" fmla="*/ 1111 h 1222"/>
                <a:gd name="T76" fmla="*/ 707 w 1213"/>
                <a:gd name="T77" fmla="*/ 1162 h 1222"/>
                <a:gd name="T78" fmla="*/ 811 w 1213"/>
                <a:gd name="T79" fmla="*/ 1205 h 1222"/>
                <a:gd name="T80" fmla="*/ 933 w 1213"/>
                <a:gd name="T81" fmla="*/ 1068 h 1222"/>
                <a:gd name="T82" fmla="*/ 1018 w 1213"/>
                <a:gd name="T83" fmla="*/ 912 h 1222"/>
                <a:gd name="T84" fmla="*/ 1173 w 1213"/>
                <a:gd name="T85" fmla="*/ 890 h 1222"/>
                <a:gd name="T86" fmla="*/ 1205 w 1213"/>
                <a:gd name="T87" fmla="*/ 750 h 1222"/>
                <a:gd name="T88" fmla="*/ 1090 w 1213"/>
                <a:gd name="T89" fmla="*/ 676 h 1222"/>
                <a:gd name="T90" fmla="*/ 1068 w 1213"/>
                <a:gd name="T91" fmla="*/ 730 h 1222"/>
                <a:gd name="T92" fmla="*/ 1152 w 1213"/>
                <a:gd name="T93" fmla="*/ 772 h 1222"/>
                <a:gd name="T94" fmla="*/ 1119 w 1213"/>
                <a:gd name="T95" fmla="*/ 867 h 1222"/>
                <a:gd name="T96" fmla="*/ 1119 w 1213"/>
                <a:gd name="T97" fmla="*/ 867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3" h="1222">
                  <a:moveTo>
                    <a:pt x="1119" y="867"/>
                  </a:moveTo>
                  <a:cubicBezTo>
                    <a:pt x="1115" y="878"/>
                    <a:pt x="1102" y="884"/>
                    <a:pt x="1091" y="879"/>
                  </a:cubicBezTo>
                  <a:cubicBezTo>
                    <a:pt x="1019" y="849"/>
                    <a:pt x="1019" y="849"/>
                    <a:pt x="1019" y="849"/>
                  </a:cubicBezTo>
                  <a:cubicBezTo>
                    <a:pt x="1006" y="844"/>
                    <a:pt x="991" y="848"/>
                    <a:pt x="983" y="860"/>
                  </a:cubicBezTo>
                  <a:cubicBezTo>
                    <a:pt x="951" y="908"/>
                    <a:pt x="909" y="950"/>
                    <a:pt x="860" y="983"/>
                  </a:cubicBezTo>
                  <a:cubicBezTo>
                    <a:pt x="849" y="990"/>
                    <a:pt x="844" y="1005"/>
                    <a:pt x="850" y="1018"/>
                  </a:cubicBezTo>
                  <a:cubicBezTo>
                    <a:pt x="879" y="1090"/>
                    <a:pt x="879" y="1090"/>
                    <a:pt x="879" y="1090"/>
                  </a:cubicBezTo>
                  <a:cubicBezTo>
                    <a:pt x="884" y="1101"/>
                    <a:pt x="879" y="1114"/>
                    <a:pt x="868" y="1118"/>
                  </a:cubicBezTo>
                  <a:cubicBezTo>
                    <a:pt x="789" y="1151"/>
                    <a:pt x="789" y="1151"/>
                    <a:pt x="789" y="1151"/>
                  </a:cubicBezTo>
                  <a:cubicBezTo>
                    <a:pt x="778" y="1156"/>
                    <a:pt x="765" y="1151"/>
                    <a:pt x="761" y="1140"/>
                  </a:cubicBezTo>
                  <a:cubicBezTo>
                    <a:pt x="731" y="1067"/>
                    <a:pt x="731" y="1067"/>
                    <a:pt x="731" y="1067"/>
                  </a:cubicBezTo>
                  <a:cubicBezTo>
                    <a:pt x="725" y="1054"/>
                    <a:pt x="712" y="1047"/>
                    <a:pt x="698" y="1050"/>
                  </a:cubicBezTo>
                  <a:cubicBezTo>
                    <a:pt x="641" y="1061"/>
                    <a:pt x="582" y="1061"/>
                    <a:pt x="524" y="1050"/>
                  </a:cubicBezTo>
                  <a:cubicBezTo>
                    <a:pt x="511" y="1047"/>
                    <a:pt x="497" y="1054"/>
                    <a:pt x="492" y="1067"/>
                  </a:cubicBezTo>
                  <a:cubicBezTo>
                    <a:pt x="462" y="1140"/>
                    <a:pt x="462" y="1140"/>
                    <a:pt x="462" y="1140"/>
                  </a:cubicBezTo>
                  <a:cubicBezTo>
                    <a:pt x="457" y="1150"/>
                    <a:pt x="445" y="1156"/>
                    <a:pt x="434" y="1151"/>
                  </a:cubicBezTo>
                  <a:cubicBezTo>
                    <a:pt x="355" y="1119"/>
                    <a:pt x="355" y="1119"/>
                    <a:pt x="355" y="1119"/>
                  </a:cubicBezTo>
                  <a:cubicBezTo>
                    <a:pt x="349" y="1116"/>
                    <a:pt x="345" y="1112"/>
                    <a:pt x="343" y="1107"/>
                  </a:cubicBezTo>
                  <a:cubicBezTo>
                    <a:pt x="341" y="1101"/>
                    <a:pt x="341" y="1096"/>
                    <a:pt x="343" y="1090"/>
                  </a:cubicBezTo>
                  <a:cubicBezTo>
                    <a:pt x="373" y="1018"/>
                    <a:pt x="373" y="1018"/>
                    <a:pt x="373" y="1018"/>
                  </a:cubicBezTo>
                  <a:cubicBezTo>
                    <a:pt x="379" y="1005"/>
                    <a:pt x="374" y="990"/>
                    <a:pt x="363" y="983"/>
                  </a:cubicBezTo>
                  <a:cubicBezTo>
                    <a:pt x="314" y="950"/>
                    <a:pt x="272" y="908"/>
                    <a:pt x="239" y="860"/>
                  </a:cubicBezTo>
                  <a:cubicBezTo>
                    <a:pt x="232" y="848"/>
                    <a:pt x="217" y="844"/>
                    <a:pt x="204" y="849"/>
                  </a:cubicBezTo>
                  <a:cubicBezTo>
                    <a:pt x="132" y="879"/>
                    <a:pt x="132" y="879"/>
                    <a:pt x="132" y="879"/>
                  </a:cubicBezTo>
                  <a:cubicBezTo>
                    <a:pt x="121" y="884"/>
                    <a:pt x="108" y="878"/>
                    <a:pt x="104" y="867"/>
                  </a:cubicBezTo>
                  <a:cubicBezTo>
                    <a:pt x="71" y="788"/>
                    <a:pt x="71" y="788"/>
                    <a:pt x="71" y="788"/>
                  </a:cubicBezTo>
                  <a:cubicBezTo>
                    <a:pt x="67" y="778"/>
                    <a:pt x="72" y="765"/>
                    <a:pt x="83" y="760"/>
                  </a:cubicBezTo>
                  <a:cubicBezTo>
                    <a:pt x="155" y="730"/>
                    <a:pt x="155" y="730"/>
                    <a:pt x="155" y="730"/>
                  </a:cubicBezTo>
                  <a:cubicBezTo>
                    <a:pt x="168" y="725"/>
                    <a:pt x="175" y="711"/>
                    <a:pt x="173" y="698"/>
                  </a:cubicBezTo>
                  <a:cubicBezTo>
                    <a:pt x="161" y="640"/>
                    <a:pt x="161" y="582"/>
                    <a:pt x="173" y="524"/>
                  </a:cubicBezTo>
                  <a:cubicBezTo>
                    <a:pt x="175" y="510"/>
                    <a:pt x="168" y="497"/>
                    <a:pt x="155" y="492"/>
                  </a:cubicBezTo>
                  <a:cubicBezTo>
                    <a:pt x="83" y="461"/>
                    <a:pt x="83" y="461"/>
                    <a:pt x="83" y="461"/>
                  </a:cubicBezTo>
                  <a:cubicBezTo>
                    <a:pt x="77" y="459"/>
                    <a:pt x="73" y="455"/>
                    <a:pt x="71" y="450"/>
                  </a:cubicBezTo>
                  <a:cubicBezTo>
                    <a:pt x="69" y="444"/>
                    <a:pt x="69" y="438"/>
                    <a:pt x="71" y="433"/>
                  </a:cubicBezTo>
                  <a:cubicBezTo>
                    <a:pt x="104" y="354"/>
                    <a:pt x="104" y="354"/>
                    <a:pt x="104" y="354"/>
                  </a:cubicBezTo>
                  <a:cubicBezTo>
                    <a:pt x="106" y="349"/>
                    <a:pt x="110" y="345"/>
                    <a:pt x="116" y="342"/>
                  </a:cubicBezTo>
                  <a:cubicBezTo>
                    <a:pt x="121" y="340"/>
                    <a:pt x="127" y="340"/>
                    <a:pt x="132" y="34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17" y="378"/>
                    <a:pt x="232" y="373"/>
                    <a:pt x="240" y="362"/>
                  </a:cubicBezTo>
                  <a:cubicBezTo>
                    <a:pt x="272" y="313"/>
                    <a:pt x="314" y="271"/>
                    <a:pt x="363" y="239"/>
                  </a:cubicBezTo>
                  <a:cubicBezTo>
                    <a:pt x="374" y="231"/>
                    <a:pt x="379" y="216"/>
                    <a:pt x="373" y="204"/>
                  </a:cubicBezTo>
                  <a:cubicBezTo>
                    <a:pt x="343" y="131"/>
                    <a:pt x="343" y="131"/>
                    <a:pt x="343" y="131"/>
                  </a:cubicBezTo>
                  <a:cubicBezTo>
                    <a:pt x="341" y="126"/>
                    <a:pt x="341" y="120"/>
                    <a:pt x="343" y="115"/>
                  </a:cubicBezTo>
                  <a:cubicBezTo>
                    <a:pt x="346" y="109"/>
                    <a:pt x="350" y="105"/>
                    <a:pt x="355" y="103"/>
                  </a:cubicBezTo>
                  <a:cubicBezTo>
                    <a:pt x="434" y="70"/>
                    <a:pt x="434" y="70"/>
                    <a:pt x="434" y="70"/>
                  </a:cubicBezTo>
                  <a:cubicBezTo>
                    <a:pt x="445" y="66"/>
                    <a:pt x="458" y="71"/>
                    <a:pt x="462" y="82"/>
                  </a:cubicBezTo>
                  <a:cubicBezTo>
                    <a:pt x="492" y="154"/>
                    <a:pt x="492" y="154"/>
                    <a:pt x="492" y="154"/>
                  </a:cubicBezTo>
                  <a:cubicBezTo>
                    <a:pt x="498" y="169"/>
                    <a:pt x="515" y="176"/>
                    <a:pt x="530" y="170"/>
                  </a:cubicBezTo>
                  <a:cubicBezTo>
                    <a:pt x="545" y="164"/>
                    <a:pt x="552" y="147"/>
                    <a:pt x="546" y="132"/>
                  </a:cubicBezTo>
                  <a:cubicBezTo>
                    <a:pt x="516" y="60"/>
                    <a:pt x="516" y="60"/>
                    <a:pt x="516" y="60"/>
                  </a:cubicBezTo>
                  <a:cubicBezTo>
                    <a:pt x="499" y="19"/>
                    <a:pt x="452" y="0"/>
                    <a:pt x="412" y="17"/>
                  </a:cubicBezTo>
                  <a:cubicBezTo>
                    <a:pt x="333" y="49"/>
                    <a:pt x="333" y="49"/>
                    <a:pt x="333" y="49"/>
                  </a:cubicBezTo>
                  <a:cubicBezTo>
                    <a:pt x="313" y="57"/>
                    <a:pt x="298" y="73"/>
                    <a:pt x="290" y="92"/>
                  </a:cubicBezTo>
                  <a:cubicBezTo>
                    <a:pt x="282" y="112"/>
                    <a:pt x="282" y="134"/>
                    <a:pt x="290" y="154"/>
                  </a:cubicBezTo>
                  <a:cubicBezTo>
                    <a:pt x="311" y="204"/>
                    <a:pt x="311" y="204"/>
                    <a:pt x="311" y="204"/>
                  </a:cubicBezTo>
                  <a:cubicBezTo>
                    <a:pt x="270" y="234"/>
                    <a:pt x="235" y="270"/>
                    <a:pt x="205" y="310"/>
                  </a:cubicBezTo>
                  <a:cubicBezTo>
                    <a:pt x="154" y="289"/>
                    <a:pt x="154" y="289"/>
                    <a:pt x="154" y="289"/>
                  </a:cubicBezTo>
                  <a:cubicBezTo>
                    <a:pt x="134" y="281"/>
                    <a:pt x="113" y="281"/>
                    <a:pt x="93" y="289"/>
                  </a:cubicBezTo>
                  <a:cubicBezTo>
                    <a:pt x="73" y="297"/>
                    <a:pt x="58" y="313"/>
                    <a:pt x="50" y="332"/>
                  </a:cubicBezTo>
                  <a:cubicBezTo>
                    <a:pt x="17" y="411"/>
                    <a:pt x="17" y="411"/>
                    <a:pt x="17" y="411"/>
                  </a:cubicBezTo>
                  <a:cubicBezTo>
                    <a:pt x="9" y="431"/>
                    <a:pt x="9" y="452"/>
                    <a:pt x="17" y="472"/>
                  </a:cubicBezTo>
                  <a:cubicBezTo>
                    <a:pt x="25" y="492"/>
                    <a:pt x="40" y="507"/>
                    <a:pt x="60" y="516"/>
                  </a:cubicBezTo>
                  <a:cubicBezTo>
                    <a:pt x="111" y="537"/>
                    <a:pt x="111" y="537"/>
                    <a:pt x="111" y="537"/>
                  </a:cubicBezTo>
                  <a:cubicBezTo>
                    <a:pt x="103" y="587"/>
                    <a:pt x="103" y="636"/>
                    <a:pt x="111" y="686"/>
                  </a:cubicBezTo>
                  <a:cubicBezTo>
                    <a:pt x="60" y="708"/>
                    <a:pt x="60" y="708"/>
                    <a:pt x="60" y="708"/>
                  </a:cubicBezTo>
                  <a:cubicBezTo>
                    <a:pt x="20" y="724"/>
                    <a:pt x="0" y="771"/>
                    <a:pt x="17" y="812"/>
                  </a:cubicBezTo>
                  <a:cubicBezTo>
                    <a:pt x="50" y="889"/>
                    <a:pt x="50" y="889"/>
                    <a:pt x="50" y="889"/>
                  </a:cubicBezTo>
                  <a:cubicBezTo>
                    <a:pt x="66" y="930"/>
                    <a:pt x="113" y="949"/>
                    <a:pt x="154" y="932"/>
                  </a:cubicBezTo>
                  <a:cubicBezTo>
                    <a:pt x="205" y="911"/>
                    <a:pt x="205" y="911"/>
                    <a:pt x="205" y="911"/>
                  </a:cubicBezTo>
                  <a:cubicBezTo>
                    <a:pt x="234" y="952"/>
                    <a:pt x="270" y="987"/>
                    <a:pt x="310" y="1017"/>
                  </a:cubicBezTo>
                  <a:cubicBezTo>
                    <a:pt x="289" y="1068"/>
                    <a:pt x="289" y="1068"/>
                    <a:pt x="289" y="1068"/>
                  </a:cubicBezTo>
                  <a:cubicBezTo>
                    <a:pt x="281" y="1088"/>
                    <a:pt x="281" y="1109"/>
                    <a:pt x="289" y="1129"/>
                  </a:cubicBezTo>
                  <a:cubicBezTo>
                    <a:pt x="297" y="1149"/>
                    <a:pt x="313" y="1164"/>
                    <a:pt x="333" y="1172"/>
                  </a:cubicBezTo>
                  <a:cubicBezTo>
                    <a:pt x="411" y="1205"/>
                    <a:pt x="411" y="1205"/>
                    <a:pt x="411" y="1205"/>
                  </a:cubicBezTo>
                  <a:cubicBezTo>
                    <a:pt x="452" y="1222"/>
                    <a:pt x="499" y="1203"/>
                    <a:pt x="515" y="1162"/>
                  </a:cubicBezTo>
                  <a:cubicBezTo>
                    <a:pt x="536" y="1111"/>
                    <a:pt x="536" y="1111"/>
                    <a:pt x="536" y="1111"/>
                  </a:cubicBezTo>
                  <a:cubicBezTo>
                    <a:pt x="586" y="1119"/>
                    <a:pt x="636" y="1119"/>
                    <a:pt x="686" y="1111"/>
                  </a:cubicBezTo>
                  <a:cubicBezTo>
                    <a:pt x="707" y="1162"/>
                    <a:pt x="707" y="1162"/>
                    <a:pt x="707" y="1162"/>
                  </a:cubicBezTo>
                  <a:cubicBezTo>
                    <a:pt x="720" y="1193"/>
                    <a:pt x="750" y="1211"/>
                    <a:pt x="781" y="1211"/>
                  </a:cubicBezTo>
                  <a:cubicBezTo>
                    <a:pt x="791" y="1211"/>
                    <a:pt x="801" y="1209"/>
                    <a:pt x="811" y="1205"/>
                  </a:cubicBezTo>
                  <a:cubicBezTo>
                    <a:pt x="890" y="1172"/>
                    <a:pt x="890" y="1172"/>
                    <a:pt x="890" y="1172"/>
                  </a:cubicBezTo>
                  <a:cubicBezTo>
                    <a:pt x="931" y="1156"/>
                    <a:pt x="950" y="1109"/>
                    <a:pt x="933" y="1068"/>
                  </a:cubicBezTo>
                  <a:cubicBezTo>
                    <a:pt x="912" y="1018"/>
                    <a:pt x="912" y="1018"/>
                    <a:pt x="912" y="1018"/>
                  </a:cubicBezTo>
                  <a:cubicBezTo>
                    <a:pt x="952" y="988"/>
                    <a:pt x="988" y="952"/>
                    <a:pt x="1018" y="912"/>
                  </a:cubicBezTo>
                  <a:cubicBezTo>
                    <a:pt x="1069" y="933"/>
                    <a:pt x="1069" y="933"/>
                    <a:pt x="1069" y="933"/>
                  </a:cubicBezTo>
                  <a:cubicBezTo>
                    <a:pt x="1109" y="950"/>
                    <a:pt x="1156" y="930"/>
                    <a:pt x="1173" y="890"/>
                  </a:cubicBezTo>
                  <a:cubicBezTo>
                    <a:pt x="1205" y="811"/>
                    <a:pt x="1205" y="811"/>
                    <a:pt x="1205" y="811"/>
                  </a:cubicBezTo>
                  <a:cubicBezTo>
                    <a:pt x="1213" y="791"/>
                    <a:pt x="1213" y="770"/>
                    <a:pt x="1205" y="750"/>
                  </a:cubicBezTo>
                  <a:cubicBezTo>
                    <a:pt x="1197" y="730"/>
                    <a:pt x="1182" y="715"/>
                    <a:pt x="1162" y="707"/>
                  </a:cubicBezTo>
                  <a:cubicBezTo>
                    <a:pt x="1090" y="676"/>
                    <a:pt x="1090" y="676"/>
                    <a:pt x="1090" y="676"/>
                  </a:cubicBezTo>
                  <a:cubicBezTo>
                    <a:pt x="1075" y="670"/>
                    <a:pt x="1058" y="677"/>
                    <a:pt x="1052" y="692"/>
                  </a:cubicBezTo>
                  <a:cubicBezTo>
                    <a:pt x="1046" y="707"/>
                    <a:pt x="1053" y="724"/>
                    <a:pt x="1068" y="730"/>
                  </a:cubicBezTo>
                  <a:cubicBezTo>
                    <a:pt x="1140" y="760"/>
                    <a:pt x="1140" y="760"/>
                    <a:pt x="1140" y="760"/>
                  </a:cubicBezTo>
                  <a:cubicBezTo>
                    <a:pt x="1146" y="762"/>
                    <a:pt x="1150" y="766"/>
                    <a:pt x="1152" y="772"/>
                  </a:cubicBezTo>
                  <a:cubicBezTo>
                    <a:pt x="1154" y="777"/>
                    <a:pt x="1154" y="783"/>
                    <a:pt x="1152" y="788"/>
                  </a:cubicBezTo>
                  <a:lnTo>
                    <a:pt x="1119" y="867"/>
                  </a:lnTo>
                  <a:close/>
                  <a:moveTo>
                    <a:pt x="1119" y="867"/>
                  </a:moveTo>
                  <a:cubicBezTo>
                    <a:pt x="1119" y="867"/>
                    <a:pt x="1119" y="867"/>
                    <a:pt x="1119" y="8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41" name="Freeform 57"/>
            <p:cNvSpPr>
              <a:spLocks noEditPoints="1"/>
            </p:cNvSpPr>
            <p:nvPr/>
          </p:nvSpPr>
          <p:spPr bwMode="auto">
            <a:xfrm>
              <a:off x="3303" y="2063"/>
              <a:ext cx="623" cy="621"/>
            </a:xfrm>
            <a:custGeom>
              <a:avLst/>
              <a:gdLst>
                <a:gd name="T0" fmla="*/ 256 w 513"/>
                <a:gd name="T1" fmla="*/ 58 h 512"/>
                <a:gd name="T2" fmla="*/ 284 w 513"/>
                <a:gd name="T3" fmla="*/ 29 h 512"/>
                <a:gd name="T4" fmla="*/ 255 w 513"/>
                <a:gd name="T5" fmla="*/ 0 h 512"/>
                <a:gd name="T6" fmla="*/ 255 w 513"/>
                <a:gd name="T7" fmla="*/ 0 h 512"/>
                <a:gd name="T8" fmla="*/ 75 w 513"/>
                <a:gd name="T9" fmla="*/ 76 h 512"/>
                <a:gd name="T10" fmla="*/ 1 w 513"/>
                <a:gd name="T11" fmla="*/ 257 h 512"/>
                <a:gd name="T12" fmla="*/ 77 w 513"/>
                <a:gd name="T13" fmla="*/ 438 h 512"/>
                <a:gd name="T14" fmla="*/ 257 w 513"/>
                <a:gd name="T15" fmla="*/ 512 h 512"/>
                <a:gd name="T16" fmla="*/ 259 w 513"/>
                <a:gd name="T17" fmla="*/ 512 h 512"/>
                <a:gd name="T18" fmla="*/ 439 w 513"/>
                <a:gd name="T19" fmla="*/ 435 h 512"/>
                <a:gd name="T20" fmla="*/ 513 w 513"/>
                <a:gd name="T21" fmla="*/ 254 h 512"/>
                <a:gd name="T22" fmla="*/ 483 w 513"/>
                <a:gd name="T23" fmla="*/ 225 h 512"/>
                <a:gd name="T24" fmla="*/ 483 w 513"/>
                <a:gd name="T25" fmla="*/ 225 h 512"/>
                <a:gd name="T26" fmla="*/ 454 w 513"/>
                <a:gd name="T27" fmla="*/ 254 h 512"/>
                <a:gd name="T28" fmla="*/ 397 w 513"/>
                <a:gd name="T29" fmla="*/ 395 h 512"/>
                <a:gd name="T30" fmla="*/ 258 w 513"/>
                <a:gd name="T31" fmla="*/ 454 h 512"/>
                <a:gd name="T32" fmla="*/ 256 w 513"/>
                <a:gd name="T33" fmla="*/ 454 h 512"/>
                <a:gd name="T34" fmla="*/ 117 w 513"/>
                <a:gd name="T35" fmla="*/ 397 h 512"/>
                <a:gd name="T36" fmla="*/ 59 w 513"/>
                <a:gd name="T37" fmla="*/ 257 h 512"/>
                <a:gd name="T38" fmla="*/ 115 w 513"/>
                <a:gd name="T39" fmla="*/ 117 h 512"/>
                <a:gd name="T40" fmla="*/ 256 w 513"/>
                <a:gd name="T41" fmla="*/ 58 h 512"/>
                <a:gd name="T42" fmla="*/ 256 w 513"/>
                <a:gd name="T43" fmla="*/ 58 h 512"/>
                <a:gd name="T44" fmla="*/ 256 w 513"/>
                <a:gd name="T45" fmla="*/ 5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3" h="512">
                  <a:moveTo>
                    <a:pt x="256" y="58"/>
                  </a:moveTo>
                  <a:cubicBezTo>
                    <a:pt x="272" y="58"/>
                    <a:pt x="284" y="45"/>
                    <a:pt x="284" y="29"/>
                  </a:cubicBezTo>
                  <a:cubicBezTo>
                    <a:pt x="284" y="13"/>
                    <a:pt x="271" y="0"/>
                    <a:pt x="255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87" y="1"/>
                    <a:pt x="123" y="27"/>
                    <a:pt x="75" y="76"/>
                  </a:cubicBezTo>
                  <a:cubicBezTo>
                    <a:pt x="27" y="125"/>
                    <a:pt x="0" y="189"/>
                    <a:pt x="1" y="257"/>
                  </a:cubicBezTo>
                  <a:cubicBezTo>
                    <a:pt x="2" y="326"/>
                    <a:pt x="28" y="390"/>
                    <a:pt x="77" y="438"/>
                  </a:cubicBezTo>
                  <a:cubicBezTo>
                    <a:pt x="125" y="486"/>
                    <a:pt x="189" y="512"/>
                    <a:pt x="257" y="512"/>
                  </a:cubicBezTo>
                  <a:cubicBezTo>
                    <a:pt x="259" y="512"/>
                    <a:pt x="259" y="512"/>
                    <a:pt x="259" y="512"/>
                  </a:cubicBezTo>
                  <a:cubicBezTo>
                    <a:pt x="327" y="511"/>
                    <a:pt x="391" y="484"/>
                    <a:pt x="439" y="435"/>
                  </a:cubicBezTo>
                  <a:cubicBezTo>
                    <a:pt x="487" y="387"/>
                    <a:pt x="513" y="322"/>
                    <a:pt x="513" y="254"/>
                  </a:cubicBezTo>
                  <a:cubicBezTo>
                    <a:pt x="513" y="238"/>
                    <a:pt x="499" y="225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67" y="225"/>
                    <a:pt x="454" y="238"/>
                    <a:pt x="454" y="254"/>
                  </a:cubicBezTo>
                  <a:cubicBezTo>
                    <a:pt x="455" y="307"/>
                    <a:pt x="435" y="357"/>
                    <a:pt x="397" y="395"/>
                  </a:cubicBezTo>
                  <a:cubicBezTo>
                    <a:pt x="360" y="433"/>
                    <a:pt x="311" y="453"/>
                    <a:pt x="258" y="454"/>
                  </a:cubicBezTo>
                  <a:cubicBezTo>
                    <a:pt x="256" y="454"/>
                    <a:pt x="256" y="454"/>
                    <a:pt x="256" y="454"/>
                  </a:cubicBezTo>
                  <a:cubicBezTo>
                    <a:pt x="204" y="454"/>
                    <a:pt x="155" y="433"/>
                    <a:pt x="117" y="397"/>
                  </a:cubicBezTo>
                  <a:cubicBezTo>
                    <a:pt x="80" y="360"/>
                    <a:pt x="59" y="310"/>
                    <a:pt x="59" y="257"/>
                  </a:cubicBezTo>
                  <a:cubicBezTo>
                    <a:pt x="58" y="204"/>
                    <a:pt x="78" y="154"/>
                    <a:pt x="115" y="117"/>
                  </a:cubicBezTo>
                  <a:cubicBezTo>
                    <a:pt x="153" y="79"/>
                    <a:pt x="203" y="58"/>
                    <a:pt x="256" y="58"/>
                  </a:cubicBezTo>
                  <a:close/>
                  <a:moveTo>
                    <a:pt x="256" y="58"/>
                  </a:moveTo>
                  <a:cubicBezTo>
                    <a:pt x="256" y="58"/>
                    <a:pt x="256" y="58"/>
                    <a:pt x="256" y="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 dirty="0"/>
            </a:p>
          </p:txBody>
        </p:sp>
        <p:sp>
          <p:nvSpPr>
            <p:cNvPr id="42" name="Freeform 58"/>
            <p:cNvSpPr>
              <a:spLocks noEditPoints="1"/>
            </p:cNvSpPr>
            <p:nvPr/>
          </p:nvSpPr>
          <p:spPr bwMode="auto">
            <a:xfrm>
              <a:off x="3669" y="1215"/>
              <a:ext cx="1124" cy="1123"/>
            </a:xfrm>
            <a:custGeom>
              <a:avLst/>
              <a:gdLst>
                <a:gd name="T0" fmla="*/ 925 w 925"/>
                <a:gd name="T1" fmla="*/ 494 h 926"/>
                <a:gd name="T2" fmla="*/ 859 w 925"/>
                <a:gd name="T3" fmla="*/ 366 h 926"/>
                <a:gd name="T4" fmla="*/ 787 w 925"/>
                <a:gd name="T5" fmla="*/ 275 h 926"/>
                <a:gd name="T6" fmla="*/ 811 w 925"/>
                <a:gd name="T7" fmla="*/ 158 h 926"/>
                <a:gd name="T8" fmla="*/ 721 w 925"/>
                <a:gd name="T9" fmla="*/ 95 h 926"/>
                <a:gd name="T10" fmla="*/ 651 w 925"/>
                <a:gd name="T11" fmla="*/ 138 h 926"/>
                <a:gd name="T12" fmla="*/ 559 w 925"/>
                <a:gd name="T13" fmla="*/ 66 h 926"/>
                <a:gd name="T14" fmla="*/ 431 w 925"/>
                <a:gd name="T15" fmla="*/ 0 h 926"/>
                <a:gd name="T16" fmla="*/ 366 w 925"/>
                <a:gd name="T17" fmla="*/ 100 h 926"/>
                <a:gd name="T18" fmla="*/ 250 w 925"/>
                <a:gd name="T19" fmla="*/ 114 h 926"/>
                <a:gd name="T20" fmla="*/ 158 w 925"/>
                <a:gd name="T21" fmla="*/ 114 h 926"/>
                <a:gd name="T22" fmla="*/ 114 w 925"/>
                <a:gd name="T23" fmla="*/ 251 h 926"/>
                <a:gd name="T24" fmla="*/ 100 w 925"/>
                <a:gd name="T25" fmla="*/ 366 h 926"/>
                <a:gd name="T26" fmla="*/ 0 w 925"/>
                <a:gd name="T27" fmla="*/ 432 h 926"/>
                <a:gd name="T28" fmla="*/ 66 w 925"/>
                <a:gd name="T29" fmla="*/ 560 h 926"/>
                <a:gd name="T30" fmla="*/ 138 w 925"/>
                <a:gd name="T31" fmla="*/ 651 h 926"/>
                <a:gd name="T32" fmla="*/ 114 w 925"/>
                <a:gd name="T33" fmla="*/ 768 h 926"/>
                <a:gd name="T34" fmla="*/ 204 w 925"/>
                <a:gd name="T35" fmla="*/ 831 h 926"/>
                <a:gd name="T36" fmla="*/ 274 w 925"/>
                <a:gd name="T37" fmla="*/ 788 h 926"/>
                <a:gd name="T38" fmla="*/ 366 w 925"/>
                <a:gd name="T39" fmla="*/ 860 h 926"/>
                <a:gd name="T40" fmla="*/ 494 w 925"/>
                <a:gd name="T41" fmla="*/ 926 h 926"/>
                <a:gd name="T42" fmla="*/ 559 w 925"/>
                <a:gd name="T43" fmla="*/ 826 h 926"/>
                <a:gd name="T44" fmla="*/ 675 w 925"/>
                <a:gd name="T45" fmla="*/ 812 h 926"/>
                <a:gd name="T46" fmla="*/ 767 w 925"/>
                <a:gd name="T47" fmla="*/ 812 h 926"/>
                <a:gd name="T48" fmla="*/ 811 w 925"/>
                <a:gd name="T49" fmla="*/ 675 h 926"/>
                <a:gd name="T50" fmla="*/ 825 w 925"/>
                <a:gd name="T51" fmla="*/ 560 h 926"/>
                <a:gd name="T52" fmla="*/ 774 w 925"/>
                <a:gd name="T53" fmla="*/ 525 h 926"/>
                <a:gd name="T54" fmla="*/ 730 w 925"/>
                <a:gd name="T55" fmla="*/ 676 h 926"/>
                <a:gd name="T56" fmla="*/ 770 w 925"/>
                <a:gd name="T57" fmla="*/ 727 h 926"/>
                <a:gd name="T58" fmla="*/ 721 w 925"/>
                <a:gd name="T59" fmla="*/ 773 h 926"/>
                <a:gd name="T60" fmla="*/ 675 w 925"/>
                <a:gd name="T61" fmla="*/ 731 h 926"/>
                <a:gd name="T62" fmla="*/ 524 w 925"/>
                <a:gd name="T63" fmla="*/ 775 h 926"/>
                <a:gd name="T64" fmla="*/ 501 w 925"/>
                <a:gd name="T65" fmla="*/ 860 h 926"/>
                <a:gd name="T66" fmla="*/ 431 w 925"/>
                <a:gd name="T67" fmla="*/ 868 h 926"/>
                <a:gd name="T68" fmla="*/ 423 w 925"/>
                <a:gd name="T69" fmla="*/ 803 h 926"/>
                <a:gd name="T70" fmla="*/ 286 w 925"/>
                <a:gd name="T71" fmla="*/ 727 h 926"/>
                <a:gd name="T72" fmla="*/ 249 w 925"/>
                <a:gd name="T73" fmla="*/ 731 h 926"/>
                <a:gd name="T74" fmla="*/ 204 w 925"/>
                <a:gd name="T75" fmla="*/ 774 h 926"/>
                <a:gd name="T76" fmla="*/ 154 w 925"/>
                <a:gd name="T77" fmla="*/ 728 h 926"/>
                <a:gd name="T78" fmla="*/ 195 w 925"/>
                <a:gd name="T79" fmla="*/ 676 h 926"/>
                <a:gd name="T80" fmla="*/ 151 w 925"/>
                <a:gd name="T81" fmla="*/ 525 h 926"/>
                <a:gd name="T82" fmla="*/ 65 w 925"/>
                <a:gd name="T83" fmla="*/ 502 h 926"/>
                <a:gd name="T84" fmla="*/ 58 w 925"/>
                <a:gd name="T85" fmla="*/ 432 h 926"/>
                <a:gd name="T86" fmla="*/ 122 w 925"/>
                <a:gd name="T87" fmla="*/ 424 h 926"/>
                <a:gd name="T88" fmla="*/ 198 w 925"/>
                <a:gd name="T89" fmla="*/ 287 h 926"/>
                <a:gd name="T90" fmla="*/ 154 w 925"/>
                <a:gd name="T91" fmla="*/ 210 h 926"/>
                <a:gd name="T92" fmla="*/ 154 w 925"/>
                <a:gd name="T93" fmla="*/ 199 h 926"/>
                <a:gd name="T94" fmla="*/ 203 w 925"/>
                <a:gd name="T95" fmla="*/ 153 h 926"/>
                <a:gd name="T96" fmla="*/ 249 w 925"/>
                <a:gd name="T97" fmla="*/ 195 h 926"/>
                <a:gd name="T98" fmla="*/ 400 w 925"/>
                <a:gd name="T99" fmla="*/ 151 h 926"/>
                <a:gd name="T100" fmla="*/ 423 w 925"/>
                <a:gd name="T101" fmla="*/ 66 h 926"/>
                <a:gd name="T102" fmla="*/ 493 w 925"/>
                <a:gd name="T103" fmla="*/ 59 h 926"/>
                <a:gd name="T104" fmla="*/ 501 w 925"/>
                <a:gd name="T105" fmla="*/ 123 h 926"/>
                <a:gd name="T106" fmla="*/ 638 w 925"/>
                <a:gd name="T107" fmla="*/ 199 h 926"/>
                <a:gd name="T108" fmla="*/ 715 w 925"/>
                <a:gd name="T109" fmla="*/ 155 h 926"/>
                <a:gd name="T110" fmla="*/ 726 w 925"/>
                <a:gd name="T111" fmla="*/ 155 h 926"/>
                <a:gd name="T112" fmla="*/ 770 w 925"/>
                <a:gd name="T113" fmla="*/ 210 h 926"/>
                <a:gd name="T114" fmla="*/ 726 w 925"/>
                <a:gd name="T115" fmla="*/ 287 h 926"/>
                <a:gd name="T116" fmla="*/ 802 w 925"/>
                <a:gd name="T117" fmla="*/ 425 h 926"/>
                <a:gd name="T118" fmla="*/ 866 w 925"/>
                <a:gd name="T119" fmla="*/ 432 h 926"/>
                <a:gd name="T120" fmla="*/ 859 w 925"/>
                <a:gd name="T121" fmla="*/ 502 h 926"/>
                <a:gd name="T122" fmla="*/ 774 w 925"/>
                <a:gd name="T123" fmla="*/ 525 h 926"/>
                <a:gd name="T124" fmla="*/ 774 w 925"/>
                <a:gd name="T125" fmla="*/ 525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25" h="926">
                  <a:moveTo>
                    <a:pt x="859" y="560"/>
                  </a:moveTo>
                  <a:cubicBezTo>
                    <a:pt x="895" y="560"/>
                    <a:pt x="925" y="530"/>
                    <a:pt x="925" y="494"/>
                  </a:cubicBezTo>
                  <a:cubicBezTo>
                    <a:pt x="925" y="432"/>
                    <a:pt x="925" y="432"/>
                    <a:pt x="925" y="432"/>
                  </a:cubicBezTo>
                  <a:cubicBezTo>
                    <a:pt x="925" y="396"/>
                    <a:pt x="895" y="366"/>
                    <a:pt x="859" y="366"/>
                  </a:cubicBezTo>
                  <a:cubicBezTo>
                    <a:pt x="825" y="366"/>
                    <a:pt x="825" y="366"/>
                    <a:pt x="825" y="366"/>
                  </a:cubicBezTo>
                  <a:cubicBezTo>
                    <a:pt x="816" y="334"/>
                    <a:pt x="804" y="303"/>
                    <a:pt x="787" y="275"/>
                  </a:cubicBezTo>
                  <a:cubicBezTo>
                    <a:pt x="811" y="251"/>
                    <a:pt x="811" y="251"/>
                    <a:pt x="811" y="251"/>
                  </a:cubicBezTo>
                  <a:cubicBezTo>
                    <a:pt x="837" y="225"/>
                    <a:pt x="837" y="183"/>
                    <a:pt x="811" y="158"/>
                  </a:cubicBezTo>
                  <a:cubicBezTo>
                    <a:pt x="767" y="114"/>
                    <a:pt x="767" y="114"/>
                    <a:pt x="767" y="114"/>
                  </a:cubicBezTo>
                  <a:cubicBezTo>
                    <a:pt x="755" y="101"/>
                    <a:pt x="738" y="95"/>
                    <a:pt x="721" y="95"/>
                  </a:cubicBezTo>
                  <a:cubicBezTo>
                    <a:pt x="703" y="95"/>
                    <a:pt x="687" y="101"/>
                    <a:pt x="675" y="114"/>
                  </a:cubicBezTo>
                  <a:cubicBezTo>
                    <a:pt x="651" y="138"/>
                    <a:pt x="651" y="138"/>
                    <a:pt x="651" y="138"/>
                  </a:cubicBezTo>
                  <a:cubicBezTo>
                    <a:pt x="622" y="121"/>
                    <a:pt x="591" y="108"/>
                    <a:pt x="559" y="100"/>
                  </a:cubicBezTo>
                  <a:cubicBezTo>
                    <a:pt x="559" y="66"/>
                    <a:pt x="559" y="66"/>
                    <a:pt x="559" y="66"/>
                  </a:cubicBezTo>
                  <a:cubicBezTo>
                    <a:pt x="559" y="30"/>
                    <a:pt x="530" y="0"/>
                    <a:pt x="494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395" y="0"/>
                    <a:pt x="366" y="30"/>
                    <a:pt x="366" y="66"/>
                  </a:cubicBezTo>
                  <a:cubicBezTo>
                    <a:pt x="366" y="100"/>
                    <a:pt x="366" y="100"/>
                    <a:pt x="366" y="100"/>
                  </a:cubicBezTo>
                  <a:cubicBezTo>
                    <a:pt x="334" y="109"/>
                    <a:pt x="303" y="121"/>
                    <a:pt x="274" y="138"/>
                  </a:cubicBezTo>
                  <a:cubicBezTo>
                    <a:pt x="250" y="114"/>
                    <a:pt x="250" y="114"/>
                    <a:pt x="250" y="114"/>
                  </a:cubicBezTo>
                  <a:cubicBezTo>
                    <a:pt x="238" y="101"/>
                    <a:pt x="221" y="95"/>
                    <a:pt x="204" y="95"/>
                  </a:cubicBezTo>
                  <a:cubicBezTo>
                    <a:pt x="186" y="95"/>
                    <a:pt x="170" y="101"/>
                    <a:pt x="158" y="114"/>
                  </a:cubicBezTo>
                  <a:cubicBezTo>
                    <a:pt x="114" y="158"/>
                    <a:pt x="114" y="158"/>
                    <a:pt x="114" y="158"/>
                  </a:cubicBezTo>
                  <a:cubicBezTo>
                    <a:pt x="88" y="183"/>
                    <a:pt x="88" y="225"/>
                    <a:pt x="114" y="251"/>
                  </a:cubicBezTo>
                  <a:cubicBezTo>
                    <a:pt x="138" y="275"/>
                    <a:pt x="138" y="275"/>
                    <a:pt x="138" y="275"/>
                  </a:cubicBezTo>
                  <a:cubicBezTo>
                    <a:pt x="121" y="304"/>
                    <a:pt x="108" y="334"/>
                    <a:pt x="100" y="366"/>
                  </a:cubicBezTo>
                  <a:cubicBezTo>
                    <a:pt x="66" y="366"/>
                    <a:pt x="66" y="366"/>
                    <a:pt x="66" y="366"/>
                  </a:cubicBezTo>
                  <a:cubicBezTo>
                    <a:pt x="30" y="366"/>
                    <a:pt x="0" y="396"/>
                    <a:pt x="0" y="432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0" y="530"/>
                    <a:pt x="30" y="560"/>
                    <a:pt x="66" y="560"/>
                  </a:cubicBezTo>
                  <a:cubicBezTo>
                    <a:pt x="100" y="560"/>
                    <a:pt x="100" y="560"/>
                    <a:pt x="100" y="560"/>
                  </a:cubicBezTo>
                  <a:cubicBezTo>
                    <a:pt x="109" y="592"/>
                    <a:pt x="121" y="623"/>
                    <a:pt x="138" y="651"/>
                  </a:cubicBezTo>
                  <a:cubicBezTo>
                    <a:pt x="114" y="675"/>
                    <a:pt x="114" y="675"/>
                    <a:pt x="114" y="675"/>
                  </a:cubicBezTo>
                  <a:cubicBezTo>
                    <a:pt x="88" y="701"/>
                    <a:pt x="88" y="743"/>
                    <a:pt x="114" y="768"/>
                  </a:cubicBezTo>
                  <a:cubicBezTo>
                    <a:pt x="158" y="812"/>
                    <a:pt x="158" y="812"/>
                    <a:pt x="158" y="812"/>
                  </a:cubicBezTo>
                  <a:cubicBezTo>
                    <a:pt x="170" y="825"/>
                    <a:pt x="187" y="831"/>
                    <a:pt x="204" y="831"/>
                  </a:cubicBezTo>
                  <a:cubicBezTo>
                    <a:pt x="222" y="831"/>
                    <a:pt x="238" y="825"/>
                    <a:pt x="250" y="812"/>
                  </a:cubicBezTo>
                  <a:cubicBezTo>
                    <a:pt x="274" y="788"/>
                    <a:pt x="274" y="788"/>
                    <a:pt x="274" y="788"/>
                  </a:cubicBezTo>
                  <a:cubicBezTo>
                    <a:pt x="303" y="805"/>
                    <a:pt x="334" y="818"/>
                    <a:pt x="366" y="826"/>
                  </a:cubicBezTo>
                  <a:cubicBezTo>
                    <a:pt x="366" y="860"/>
                    <a:pt x="366" y="860"/>
                    <a:pt x="366" y="860"/>
                  </a:cubicBezTo>
                  <a:cubicBezTo>
                    <a:pt x="366" y="896"/>
                    <a:pt x="395" y="926"/>
                    <a:pt x="431" y="926"/>
                  </a:cubicBezTo>
                  <a:cubicBezTo>
                    <a:pt x="494" y="926"/>
                    <a:pt x="494" y="926"/>
                    <a:pt x="494" y="926"/>
                  </a:cubicBezTo>
                  <a:cubicBezTo>
                    <a:pt x="530" y="926"/>
                    <a:pt x="559" y="896"/>
                    <a:pt x="559" y="860"/>
                  </a:cubicBezTo>
                  <a:cubicBezTo>
                    <a:pt x="559" y="826"/>
                    <a:pt x="559" y="826"/>
                    <a:pt x="559" y="826"/>
                  </a:cubicBezTo>
                  <a:cubicBezTo>
                    <a:pt x="591" y="817"/>
                    <a:pt x="622" y="804"/>
                    <a:pt x="651" y="788"/>
                  </a:cubicBezTo>
                  <a:cubicBezTo>
                    <a:pt x="675" y="812"/>
                    <a:pt x="675" y="812"/>
                    <a:pt x="675" y="812"/>
                  </a:cubicBezTo>
                  <a:cubicBezTo>
                    <a:pt x="687" y="824"/>
                    <a:pt x="704" y="831"/>
                    <a:pt x="721" y="831"/>
                  </a:cubicBezTo>
                  <a:cubicBezTo>
                    <a:pt x="739" y="831"/>
                    <a:pt x="755" y="824"/>
                    <a:pt x="767" y="812"/>
                  </a:cubicBezTo>
                  <a:cubicBezTo>
                    <a:pt x="811" y="768"/>
                    <a:pt x="811" y="768"/>
                    <a:pt x="811" y="768"/>
                  </a:cubicBezTo>
                  <a:cubicBezTo>
                    <a:pt x="837" y="742"/>
                    <a:pt x="837" y="700"/>
                    <a:pt x="811" y="675"/>
                  </a:cubicBezTo>
                  <a:cubicBezTo>
                    <a:pt x="787" y="651"/>
                    <a:pt x="787" y="651"/>
                    <a:pt x="787" y="651"/>
                  </a:cubicBezTo>
                  <a:cubicBezTo>
                    <a:pt x="804" y="622"/>
                    <a:pt x="817" y="592"/>
                    <a:pt x="825" y="560"/>
                  </a:cubicBezTo>
                  <a:lnTo>
                    <a:pt x="859" y="560"/>
                  </a:lnTo>
                  <a:close/>
                  <a:moveTo>
                    <a:pt x="774" y="525"/>
                  </a:moveTo>
                  <a:cubicBezTo>
                    <a:pt x="766" y="566"/>
                    <a:pt x="750" y="604"/>
                    <a:pt x="726" y="639"/>
                  </a:cubicBezTo>
                  <a:cubicBezTo>
                    <a:pt x="718" y="651"/>
                    <a:pt x="720" y="666"/>
                    <a:pt x="730" y="676"/>
                  </a:cubicBezTo>
                  <a:cubicBezTo>
                    <a:pt x="770" y="716"/>
                    <a:pt x="770" y="716"/>
                    <a:pt x="770" y="716"/>
                  </a:cubicBezTo>
                  <a:cubicBezTo>
                    <a:pt x="773" y="719"/>
                    <a:pt x="773" y="724"/>
                    <a:pt x="770" y="727"/>
                  </a:cubicBezTo>
                  <a:cubicBezTo>
                    <a:pt x="726" y="771"/>
                    <a:pt x="726" y="771"/>
                    <a:pt x="726" y="771"/>
                  </a:cubicBezTo>
                  <a:cubicBezTo>
                    <a:pt x="724" y="773"/>
                    <a:pt x="722" y="773"/>
                    <a:pt x="721" y="773"/>
                  </a:cubicBezTo>
                  <a:cubicBezTo>
                    <a:pt x="719" y="773"/>
                    <a:pt x="717" y="773"/>
                    <a:pt x="715" y="771"/>
                  </a:cubicBezTo>
                  <a:cubicBezTo>
                    <a:pt x="675" y="731"/>
                    <a:pt x="675" y="731"/>
                    <a:pt x="675" y="731"/>
                  </a:cubicBezTo>
                  <a:cubicBezTo>
                    <a:pt x="665" y="721"/>
                    <a:pt x="650" y="720"/>
                    <a:pt x="638" y="727"/>
                  </a:cubicBezTo>
                  <a:cubicBezTo>
                    <a:pt x="604" y="751"/>
                    <a:pt x="565" y="766"/>
                    <a:pt x="524" y="775"/>
                  </a:cubicBezTo>
                  <a:cubicBezTo>
                    <a:pt x="511" y="777"/>
                    <a:pt x="501" y="789"/>
                    <a:pt x="501" y="803"/>
                  </a:cubicBezTo>
                  <a:cubicBezTo>
                    <a:pt x="501" y="860"/>
                    <a:pt x="501" y="860"/>
                    <a:pt x="501" y="860"/>
                  </a:cubicBezTo>
                  <a:cubicBezTo>
                    <a:pt x="501" y="864"/>
                    <a:pt x="497" y="868"/>
                    <a:pt x="493" y="868"/>
                  </a:cubicBezTo>
                  <a:cubicBezTo>
                    <a:pt x="431" y="868"/>
                    <a:pt x="431" y="868"/>
                    <a:pt x="431" y="868"/>
                  </a:cubicBezTo>
                  <a:cubicBezTo>
                    <a:pt x="427" y="868"/>
                    <a:pt x="423" y="864"/>
                    <a:pt x="423" y="860"/>
                  </a:cubicBezTo>
                  <a:cubicBezTo>
                    <a:pt x="423" y="803"/>
                    <a:pt x="423" y="803"/>
                    <a:pt x="423" y="803"/>
                  </a:cubicBezTo>
                  <a:cubicBezTo>
                    <a:pt x="423" y="789"/>
                    <a:pt x="414" y="778"/>
                    <a:pt x="400" y="775"/>
                  </a:cubicBezTo>
                  <a:cubicBezTo>
                    <a:pt x="359" y="767"/>
                    <a:pt x="321" y="751"/>
                    <a:pt x="286" y="727"/>
                  </a:cubicBezTo>
                  <a:cubicBezTo>
                    <a:pt x="281" y="724"/>
                    <a:pt x="275" y="723"/>
                    <a:pt x="270" y="723"/>
                  </a:cubicBezTo>
                  <a:cubicBezTo>
                    <a:pt x="262" y="723"/>
                    <a:pt x="255" y="725"/>
                    <a:pt x="249" y="731"/>
                  </a:cubicBezTo>
                  <a:cubicBezTo>
                    <a:pt x="209" y="772"/>
                    <a:pt x="209" y="772"/>
                    <a:pt x="209" y="772"/>
                  </a:cubicBezTo>
                  <a:cubicBezTo>
                    <a:pt x="207" y="773"/>
                    <a:pt x="205" y="774"/>
                    <a:pt x="204" y="774"/>
                  </a:cubicBezTo>
                  <a:cubicBezTo>
                    <a:pt x="202" y="774"/>
                    <a:pt x="200" y="773"/>
                    <a:pt x="198" y="772"/>
                  </a:cubicBezTo>
                  <a:cubicBezTo>
                    <a:pt x="154" y="728"/>
                    <a:pt x="154" y="728"/>
                    <a:pt x="154" y="728"/>
                  </a:cubicBezTo>
                  <a:cubicBezTo>
                    <a:pt x="151" y="724"/>
                    <a:pt x="151" y="720"/>
                    <a:pt x="154" y="716"/>
                  </a:cubicBezTo>
                  <a:cubicBezTo>
                    <a:pt x="195" y="676"/>
                    <a:pt x="195" y="676"/>
                    <a:pt x="195" y="676"/>
                  </a:cubicBezTo>
                  <a:cubicBezTo>
                    <a:pt x="205" y="666"/>
                    <a:pt x="206" y="651"/>
                    <a:pt x="198" y="640"/>
                  </a:cubicBezTo>
                  <a:cubicBezTo>
                    <a:pt x="175" y="605"/>
                    <a:pt x="159" y="566"/>
                    <a:pt x="151" y="525"/>
                  </a:cubicBezTo>
                  <a:cubicBezTo>
                    <a:pt x="148" y="512"/>
                    <a:pt x="136" y="502"/>
                    <a:pt x="122" y="502"/>
                  </a:cubicBezTo>
                  <a:cubicBezTo>
                    <a:pt x="65" y="502"/>
                    <a:pt x="65" y="502"/>
                    <a:pt x="65" y="502"/>
                  </a:cubicBezTo>
                  <a:cubicBezTo>
                    <a:pt x="61" y="502"/>
                    <a:pt x="58" y="499"/>
                    <a:pt x="58" y="494"/>
                  </a:cubicBezTo>
                  <a:cubicBezTo>
                    <a:pt x="58" y="432"/>
                    <a:pt x="58" y="432"/>
                    <a:pt x="58" y="432"/>
                  </a:cubicBezTo>
                  <a:cubicBezTo>
                    <a:pt x="58" y="428"/>
                    <a:pt x="61" y="424"/>
                    <a:pt x="65" y="424"/>
                  </a:cubicBezTo>
                  <a:cubicBezTo>
                    <a:pt x="122" y="424"/>
                    <a:pt x="122" y="424"/>
                    <a:pt x="122" y="424"/>
                  </a:cubicBezTo>
                  <a:cubicBezTo>
                    <a:pt x="136" y="424"/>
                    <a:pt x="148" y="414"/>
                    <a:pt x="151" y="401"/>
                  </a:cubicBezTo>
                  <a:cubicBezTo>
                    <a:pt x="159" y="360"/>
                    <a:pt x="175" y="322"/>
                    <a:pt x="198" y="287"/>
                  </a:cubicBezTo>
                  <a:cubicBezTo>
                    <a:pt x="206" y="275"/>
                    <a:pt x="204" y="260"/>
                    <a:pt x="195" y="250"/>
                  </a:cubicBezTo>
                  <a:cubicBezTo>
                    <a:pt x="154" y="210"/>
                    <a:pt x="154" y="210"/>
                    <a:pt x="154" y="210"/>
                  </a:cubicBezTo>
                  <a:cubicBezTo>
                    <a:pt x="152" y="208"/>
                    <a:pt x="152" y="206"/>
                    <a:pt x="152" y="204"/>
                  </a:cubicBezTo>
                  <a:cubicBezTo>
                    <a:pt x="152" y="203"/>
                    <a:pt x="152" y="201"/>
                    <a:pt x="154" y="199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200" y="153"/>
                    <a:pt x="202" y="153"/>
                    <a:pt x="203" y="153"/>
                  </a:cubicBezTo>
                  <a:cubicBezTo>
                    <a:pt x="205" y="153"/>
                    <a:pt x="207" y="153"/>
                    <a:pt x="209" y="155"/>
                  </a:cubicBezTo>
                  <a:cubicBezTo>
                    <a:pt x="249" y="195"/>
                    <a:pt x="249" y="195"/>
                    <a:pt x="249" y="195"/>
                  </a:cubicBezTo>
                  <a:cubicBezTo>
                    <a:pt x="259" y="205"/>
                    <a:pt x="274" y="206"/>
                    <a:pt x="286" y="199"/>
                  </a:cubicBezTo>
                  <a:cubicBezTo>
                    <a:pt x="320" y="175"/>
                    <a:pt x="359" y="160"/>
                    <a:pt x="400" y="151"/>
                  </a:cubicBezTo>
                  <a:cubicBezTo>
                    <a:pt x="413" y="149"/>
                    <a:pt x="423" y="137"/>
                    <a:pt x="423" y="123"/>
                  </a:cubicBezTo>
                  <a:cubicBezTo>
                    <a:pt x="423" y="66"/>
                    <a:pt x="423" y="66"/>
                    <a:pt x="423" y="66"/>
                  </a:cubicBezTo>
                  <a:cubicBezTo>
                    <a:pt x="423" y="62"/>
                    <a:pt x="427" y="59"/>
                    <a:pt x="431" y="59"/>
                  </a:cubicBezTo>
                  <a:cubicBezTo>
                    <a:pt x="493" y="59"/>
                    <a:pt x="493" y="59"/>
                    <a:pt x="493" y="59"/>
                  </a:cubicBezTo>
                  <a:cubicBezTo>
                    <a:pt x="497" y="59"/>
                    <a:pt x="501" y="62"/>
                    <a:pt x="501" y="66"/>
                  </a:cubicBezTo>
                  <a:cubicBezTo>
                    <a:pt x="501" y="123"/>
                    <a:pt x="501" y="123"/>
                    <a:pt x="501" y="123"/>
                  </a:cubicBezTo>
                  <a:cubicBezTo>
                    <a:pt x="501" y="137"/>
                    <a:pt x="510" y="149"/>
                    <a:pt x="524" y="152"/>
                  </a:cubicBezTo>
                  <a:cubicBezTo>
                    <a:pt x="565" y="160"/>
                    <a:pt x="603" y="176"/>
                    <a:pt x="638" y="199"/>
                  </a:cubicBezTo>
                  <a:cubicBezTo>
                    <a:pt x="650" y="207"/>
                    <a:pt x="665" y="205"/>
                    <a:pt x="675" y="196"/>
                  </a:cubicBezTo>
                  <a:cubicBezTo>
                    <a:pt x="715" y="155"/>
                    <a:pt x="715" y="155"/>
                    <a:pt x="715" y="155"/>
                  </a:cubicBezTo>
                  <a:cubicBezTo>
                    <a:pt x="717" y="153"/>
                    <a:pt x="719" y="153"/>
                    <a:pt x="720" y="153"/>
                  </a:cubicBezTo>
                  <a:cubicBezTo>
                    <a:pt x="722" y="153"/>
                    <a:pt x="724" y="153"/>
                    <a:pt x="726" y="155"/>
                  </a:cubicBezTo>
                  <a:cubicBezTo>
                    <a:pt x="770" y="199"/>
                    <a:pt x="770" y="199"/>
                    <a:pt x="770" y="199"/>
                  </a:cubicBezTo>
                  <a:cubicBezTo>
                    <a:pt x="773" y="202"/>
                    <a:pt x="773" y="207"/>
                    <a:pt x="770" y="210"/>
                  </a:cubicBezTo>
                  <a:cubicBezTo>
                    <a:pt x="729" y="251"/>
                    <a:pt x="729" y="251"/>
                    <a:pt x="729" y="251"/>
                  </a:cubicBezTo>
                  <a:cubicBezTo>
                    <a:pt x="719" y="260"/>
                    <a:pt x="718" y="276"/>
                    <a:pt x="726" y="287"/>
                  </a:cubicBezTo>
                  <a:cubicBezTo>
                    <a:pt x="749" y="322"/>
                    <a:pt x="765" y="360"/>
                    <a:pt x="773" y="401"/>
                  </a:cubicBezTo>
                  <a:cubicBezTo>
                    <a:pt x="776" y="415"/>
                    <a:pt x="788" y="425"/>
                    <a:pt x="802" y="425"/>
                  </a:cubicBezTo>
                  <a:cubicBezTo>
                    <a:pt x="859" y="425"/>
                    <a:pt x="859" y="425"/>
                    <a:pt x="859" y="425"/>
                  </a:cubicBezTo>
                  <a:cubicBezTo>
                    <a:pt x="863" y="425"/>
                    <a:pt x="866" y="428"/>
                    <a:pt x="866" y="432"/>
                  </a:cubicBezTo>
                  <a:cubicBezTo>
                    <a:pt x="866" y="494"/>
                    <a:pt x="866" y="494"/>
                    <a:pt x="866" y="494"/>
                  </a:cubicBezTo>
                  <a:cubicBezTo>
                    <a:pt x="866" y="499"/>
                    <a:pt x="863" y="502"/>
                    <a:pt x="859" y="502"/>
                  </a:cubicBezTo>
                  <a:cubicBezTo>
                    <a:pt x="802" y="502"/>
                    <a:pt x="802" y="502"/>
                    <a:pt x="802" y="502"/>
                  </a:cubicBezTo>
                  <a:cubicBezTo>
                    <a:pt x="788" y="502"/>
                    <a:pt x="776" y="511"/>
                    <a:pt x="774" y="525"/>
                  </a:cubicBezTo>
                  <a:close/>
                  <a:moveTo>
                    <a:pt x="774" y="525"/>
                  </a:moveTo>
                  <a:cubicBezTo>
                    <a:pt x="774" y="525"/>
                    <a:pt x="774" y="525"/>
                    <a:pt x="774" y="52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43" name="Freeform 59"/>
            <p:cNvSpPr>
              <a:spLocks noEditPoints="1"/>
            </p:cNvSpPr>
            <p:nvPr/>
          </p:nvSpPr>
          <p:spPr bwMode="auto">
            <a:xfrm>
              <a:off x="4004" y="1551"/>
              <a:ext cx="452" cy="451"/>
            </a:xfrm>
            <a:custGeom>
              <a:avLst/>
              <a:gdLst>
                <a:gd name="T0" fmla="*/ 186 w 372"/>
                <a:gd name="T1" fmla="*/ 0 h 372"/>
                <a:gd name="T2" fmla="*/ 0 w 372"/>
                <a:gd name="T3" fmla="*/ 186 h 372"/>
                <a:gd name="T4" fmla="*/ 186 w 372"/>
                <a:gd name="T5" fmla="*/ 372 h 372"/>
                <a:gd name="T6" fmla="*/ 372 w 372"/>
                <a:gd name="T7" fmla="*/ 186 h 372"/>
                <a:gd name="T8" fmla="*/ 186 w 372"/>
                <a:gd name="T9" fmla="*/ 0 h 372"/>
                <a:gd name="T10" fmla="*/ 186 w 372"/>
                <a:gd name="T11" fmla="*/ 314 h 372"/>
                <a:gd name="T12" fmla="*/ 58 w 372"/>
                <a:gd name="T13" fmla="*/ 186 h 372"/>
                <a:gd name="T14" fmla="*/ 186 w 372"/>
                <a:gd name="T15" fmla="*/ 58 h 372"/>
                <a:gd name="T16" fmla="*/ 314 w 372"/>
                <a:gd name="T17" fmla="*/ 186 h 372"/>
                <a:gd name="T18" fmla="*/ 186 w 372"/>
                <a:gd name="T19" fmla="*/ 314 h 372"/>
                <a:gd name="T20" fmla="*/ 186 w 372"/>
                <a:gd name="T21" fmla="*/ 314 h 372"/>
                <a:gd name="T22" fmla="*/ 186 w 372"/>
                <a:gd name="T23" fmla="*/ 314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2" h="372">
                  <a:moveTo>
                    <a:pt x="186" y="0"/>
                  </a:moveTo>
                  <a:cubicBezTo>
                    <a:pt x="83" y="0"/>
                    <a:pt x="0" y="83"/>
                    <a:pt x="0" y="186"/>
                  </a:cubicBezTo>
                  <a:cubicBezTo>
                    <a:pt x="0" y="288"/>
                    <a:pt x="84" y="372"/>
                    <a:pt x="186" y="372"/>
                  </a:cubicBezTo>
                  <a:cubicBezTo>
                    <a:pt x="289" y="372"/>
                    <a:pt x="372" y="288"/>
                    <a:pt x="372" y="186"/>
                  </a:cubicBezTo>
                  <a:cubicBezTo>
                    <a:pt x="372" y="83"/>
                    <a:pt x="289" y="0"/>
                    <a:pt x="186" y="0"/>
                  </a:cubicBezTo>
                  <a:close/>
                  <a:moveTo>
                    <a:pt x="186" y="314"/>
                  </a:moveTo>
                  <a:cubicBezTo>
                    <a:pt x="115" y="314"/>
                    <a:pt x="58" y="256"/>
                    <a:pt x="58" y="186"/>
                  </a:cubicBezTo>
                  <a:cubicBezTo>
                    <a:pt x="58" y="115"/>
                    <a:pt x="115" y="58"/>
                    <a:pt x="186" y="58"/>
                  </a:cubicBezTo>
                  <a:cubicBezTo>
                    <a:pt x="257" y="58"/>
                    <a:pt x="314" y="115"/>
                    <a:pt x="314" y="186"/>
                  </a:cubicBezTo>
                  <a:cubicBezTo>
                    <a:pt x="314" y="256"/>
                    <a:pt x="257" y="314"/>
                    <a:pt x="186" y="314"/>
                  </a:cubicBezTo>
                  <a:close/>
                  <a:moveTo>
                    <a:pt x="186" y="314"/>
                  </a:moveTo>
                  <a:cubicBezTo>
                    <a:pt x="186" y="314"/>
                    <a:pt x="186" y="314"/>
                    <a:pt x="186" y="3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</p:grpSp>
      <p:grpSp>
        <p:nvGrpSpPr>
          <p:cNvPr id="44" name="Group 4"/>
          <p:cNvGrpSpPr>
            <a:grpSpLocks noChangeAspect="1"/>
          </p:cNvGrpSpPr>
          <p:nvPr/>
        </p:nvGrpSpPr>
        <p:grpSpPr bwMode="auto">
          <a:xfrm>
            <a:off x="6765270" y="2773567"/>
            <a:ext cx="370067" cy="334031"/>
            <a:chOff x="2926" y="1335"/>
            <a:chExt cx="1828" cy="1650"/>
          </a:xfrm>
          <a:solidFill>
            <a:srgbClr val="4A206A"/>
          </a:solidFill>
        </p:grpSpPr>
        <p:sp>
          <p:nvSpPr>
            <p:cNvPr id="45" name="Freeform 5"/>
            <p:cNvSpPr>
              <a:spLocks noEditPoints="1"/>
            </p:cNvSpPr>
            <p:nvPr/>
          </p:nvSpPr>
          <p:spPr bwMode="auto">
            <a:xfrm>
              <a:off x="2926" y="1335"/>
              <a:ext cx="1828" cy="1650"/>
            </a:xfrm>
            <a:custGeom>
              <a:avLst/>
              <a:gdLst>
                <a:gd name="T0" fmla="*/ 1480 w 1504"/>
                <a:gd name="T1" fmla="*/ 0 h 1360"/>
                <a:gd name="T2" fmla="*/ 24 w 1504"/>
                <a:gd name="T3" fmla="*/ 0 h 1360"/>
                <a:gd name="T4" fmla="*/ 0 w 1504"/>
                <a:gd name="T5" fmla="*/ 24 h 1360"/>
                <a:gd name="T6" fmla="*/ 0 w 1504"/>
                <a:gd name="T7" fmla="*/ 1336 h 1360"/>
                <a:gd name="T8" fmla="*/ 24 w 1504"/>
                <a:gd name="T9" fmla="*/ 1360 h 1360"/>
                <a:gd name="T10" fmla="*/ 1480 w 1504"/>
                <a:gd name="T11" fmla="*/ 1360 h 1360"/>
                <a:gd name="T12" fmla="*/ 1504 w 1504"/>
                <a:gd name="T13" fmla="*/ 1336 h 1360"/>
                <a:gd name="T14" fmla="*/ 1504 w 1504"/>
                <a:gd name="T15" fmla="*/ 24 h 1360"/>
                <a:gd name="T16" fmla="*/ 1480 w 1504"/>
                <a:gd name="T17" fmla="*/ 0 h 1360"/>
                <a:gd name="T18" fmla="*/ 1456 w 1504"/>
                <a:gd name="T19" fmla="*/ 1312 h 1360"/>
                <a:gd name="T20" fmla="*/ 48 w 1504"/>
                <a:gd name="T21" fmla="*/ 1312 h 1360"/>
                <a:gd name="T22" fmla="*/ 48 w 1504"/>
                <a:gd name="T23" fmla="*/ 48 h 1360"/>
                <a:gd name="T24" fmla="*/ 936 w 1504"/>
                <a:gd name="T25" fmla="*/ 48 h 1360"/>
                <a:gd name="T26" fmla="*/ 936 w 1504"/>
                <a:gd name="T27" fmla="*/ 192 h 1360"/>
                <a:gd name="T28" fmla="*/ 120 w 1504"/>
                <a:gd name="T29" fmla="*/ 192 h 1360"/>
                <a:gd name="T30" fmla="*/ 96 w 1504"/>
                <a:gd name="T31" fmla="*/ 216 h 1360"/>
                <a:gd name="T32" fmla="*/ 120 w 1504"/>
                <a:gd name="T33" fmla="*/ 240 h 1360"/>
                <a:gd name="T34" fmla="*/ 1384 w 1504"/>
                <a:gd name="T35" fmla="*/ 240 h 1360"/>
                <a:gd name="T36" fmla="*/ 1408 w 1504"/>
                <a:gd name="T37" fmla="*/ 216 h 1360"/>
                <a:gd name="T38" fmla="*/ 1384 w 1504"/>
                <a:gd name="T39" fmla="*/ 192 h 1360"/>
                <a:gd name="T40" fmla="*/ 984 w 1504"/>
                <a:gd name="T41" fmla="*/ 192 h 1360"/>
                <a:gd name="T42" fmla="*/ 984 w 1504"/>
                <a:gd name="T43" fmla="*/ 48 h 1360"/>
                <a:gd name="T44" fmla="*/ 1456 w 1504"/>
                <a:gd name="T45" fmla="*/ 48 h 1360"/>
                <a:gd name="T46" fmla="*/ 1456 w 1504"/>
                <a:gd name="T47" fmla="*/ 1312 h 1360"/>
                <a:gd name="T48" fmla="*/ 1456 w 1504"/>
                <a:gd name="T49" fmla="*/ 1312 h 1360"/>
                <a:gd name="T50" fmla="*/ 1456 w 1504"/>
                <a:gd name="T51" fmla="*/ 1312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04" h="1360">
                  <a:moveTo>
                    <a:pt x="1480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336"/>
                    <a:pt x="0" y="1336"/>
                    <a:pt x="0" y="1336"/>
                  </a:cubicBezTo>
                  <a:cubicBezTo>
                    <a:pt x="0" y="1349"/>
                    <a:pt x="11" y="1360"/>
                    <a:pt x="24" y="1360"/>
                  </a:cubicBezTo>
                  <a:cubicBezTo>
                    <a:pt x="1480" y="1360"/>
                    <a:pt x="1480" y="1360"/>
                    <a:pt x="1480" y="1360"/>
                  </a:cubicBezTo>
                  <a:cubicBezTo>
                    <a:pt x="1493" y="1360"/>
                    <a:pt x="1504" y="1349"/>
                    <a:pt x="1504" y="1336"/>
                  </a:cubicBezTo>
                  <a:cubicBezTo>
                    <a:pt x="1504" y="24"/>
                    <a:pt x="1504" y="24"/>
                    <a:pt x="1504" y="24"/>
                  </a:cubicBezTo>
                  <a:cubicBezTo>
                    <a:pt x="1504" y="11"/>
                    <a:pt x="1493" y="0"/>
                    <a:pt x="1480" y="0"/>
                  </a:cubicBezTo>
                  <a:close/>
                  <a:moveTo>
                    <a:pt x="1456" y="1312"/>
                  </a:moveTo>
                  <a:cubicBezTo>
                    <a:pt x="48" y="1312"/>
                    <a:pt x="48" y="1312"/>
                    <a:pt x="48" y="1312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936" y="48"/>
                    <a:pt x="936" y="48"/>
                    <a:pt x="936" y="48"/>
                  </a:cubicBezTo>
                  <a:cubicBezTo>
                    <a:pt x="936" y="192"/>
                    <a:pt x="936" y="192"/>
                    <a:pt x="936" y="192"/>
                  </a:cubicBezTo>
                  <a:cubicBezTo>
                    <a:pt x="120" y="192"/>
                    <a:pt x="120" y="192"/>
                    <a:pt x="120" y="192"/>
                  </a:cubicBezTo>
                  <a:cubicBezTo>
                    <a:pt x="107" y="192"/>
                    <a:pt x="96" y="203"/>
                    <a:pt x="96" y="216"/>
                  </a:cubicBezTo>
                  <a:cubicBezTo>
                    <a:pt x="96" y="229"/>
                    <a:pt x="107" y="240"/>
                    <a:pt x="120" y="240"/>
                  </a:cubicBezTo>
                  <a:cubicBezTo>
                    <a:pt x="1384" y="240"/>
                    <a:pt x="1384" y="240"/>
                    <a:pt x="1384" y="240"/>
                  </a:cubicBezTo>
                  <a:cubicBezTo>
                    <a:pt x="1397" y="240"/>
                    <a:pt x="1408" y="229"/>
                    <a:pt x="1408" y="216"/>
                  </a:cubicBezTo>
                  <a:cubicBezTo>
                    <a:pt x="1408" y="203"/>
                    <a:pt x="1397" y="192"/>
                    <a:pt x="1384" y="192"/>
                  </a:cubicBezTo>
                  <a:cubicBezTo>
                    <a:pt x="984" y="192"/>
                    <a:pt x="984" y="192"/>
                    <a:pt x="984" y="192"/>
                  </a:cubicBezTo>
                  <a:cubicBezTo>
                    <a:pt x="984" y="48"/>
                    <a:pt x="984" y="48"/>
                    <a:pt x="984" y="48"/>
                  </a:cubicBezTo>
                  <a:cubicBezTo>
                    <a:pt x="1456" y="48"/>
                    <a:pt x="1456" y="48"/>
                    <a:pt x="1456" y="48"/>
                  </a:cubicBezTo>
                  <a:lnTo>
                    <a:pt x="1456" y="1312"/>
                  </a:lnTo>
                  <a:close/>
                  <a:moveTo>
                    <a:pt x="1456" y="1312"/>
                  </a:moveTo>
                  <a:cubicBezTo>
                    <a:pt x="1456" y="1312"/>
                    <a:pt x="1456" y="1312"/>
                    <a:pt x="1456" y="13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4381" y="1452"/>
              <a:ext cx="58" cy="58"/>
            </a:xfrm>
            <a:custGeom>
              <a:avLst/>
              <a:gdLst>
                <a:gd name="T0" fmla="*/ 48 w 48"/>
                <a:gd name="T1" fmla="*/ 24 h 48"/>
                <a:gd name="T2" fmla="*/ 24 w 48"/>
                <a:gd name="T3" fmla="*/ 48 h 48"/>
                <a:gd name="T4" fmla="*/ 0 w 48"/>
                <a:gd name="T5" fmla="*/ 24 h 48"/>
                <a:gd name="T6" fmla="*/ 24 w 48"/>
                <a:gd name="T7" fmla="*/ 0 h 48"/>
                <a:gd name="T8" fmla="*/ 48 w 48"/>
                <a:gd name="T9" fmla="*/ 24 h 48"/>
                <a:gd name="T10" fmla="*/ 48 w 48"/>
                <a:gd name="T11" fmla="*/ 24 h 48"/>
                <a:gd name="T12" fmla="*/ 48 w 48"/>
                <a:gd name="T13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48" y="24"/>
                  </a:moveTo>
                  <a:cubicBezTo>
                    <a:pt x="48" y="37"/>
                    <a:pt x="37" y="48"/>
                    <a:pt x="24" y="48"/>
                  </a:cubicBez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lose/>
                  <a:moveTo>
                    <a:pt x="48" y="24"/>
                  </a:moveTo>
                  <a:cubicBezTo>
                    <a:pt x="48" y="24"/>
                    <a:pt x="48" y="24"/>
                    <a:pt x="48" y="2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47" name="Freeform 7"/>
            <p:cNvSpPr>
              <a:spLocks noEditPoints="1"/>
            </p:cNvSpPr>
            <p:nvPr/>
          </p:nvSpPr>
          <p:spPr bwMode="auto">
            <a:xfrm>
              <a:off x="4222" y="1452"/>
              <a:ext cx="58" cy="58"/>
            </a:xfrm>
            <a:custGeom>
              <a:avLst/>
              <a:gdLst>
                <a:gd name="T0" fmla="*/ 48 w 48"/>
                <a:gd name="T1" fmla="*/ 24 h 48"/>
                <a:gd name="T2" fmla="*/ 24 w 48"/>
                <a:gd name="T3" fmla="*/ 48 h 48"/>
                <a:gd name="T4" fmla="*/ 0 w 48"/>
                <a:gd name="T5" fmla="*/ 24 h 48"/>
                <a:gd name="T6" fmla="*/ 24 w 48"/>
                <a:gd name="T7" fmla="*/ 0 h 48"/>
                <a:gd name="T8" fmla="*/ 48 w 48"/>
                <a:gd name="T9" fmla="*/ 24 h 48"/>
                <a:gd name="T10" fmla="*/ 48 w 48"/>
                <a:gd name="T11" fmla="*/ 24 h 48"/>
                <a:gd name="T12" fmla="*/ 48 w 48"/>
                <a:gd name="T13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48" y="24"/>
                  </a:moveTo>
                  <a:cubicBezTo>
                    <a:pt x="48" y="37"/>
                    <a:pt x="37" y="48"/>
                    <a:pt x="24" y="48"/>
                  </a:cubicBezTo>
                  <a:cubicBezTo>
                    <a:pt x="10" y="48"/>
                    <a:pt x="0" y="37"/>
                    <a:pt x="0" y="24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lose/>
                  <a:moveTo>
                    <a:pt x="48" y="24"/>
                  </a:moveTo>
                  <a:cubicBezTo>
                    <a:pt x="48" y="24"/>
                    <a:pt x="48" y="24"/>
                    <a:pt x="48" y="2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48" name="Freeform 8"/>
            <p:cNvSpPr>
              <a:spLocks noEditPoints="1"/>
            </p:cNvSpPr>
            <p:nvPr/>
          </p:nvSpPr>
          <p:spPr bwMode="auto">
            <a:xfrm>
              <a:off x="4540" y="1452"/>
              <a:ext cx="58" cy="58"/>
            </a:xfrm>
            <a:custGeom>
              <a:avLst/>
              <a:gdLst>
                <a:gd name="T0" fmla="*/ 48 w 48"/>
                <a:gd name="T1" fmla="*/ 24 h 48"/>
                <a:gd name="T2" fmla="*/ 24 w 48"/>
                <a:gd name="T3" fmla="*/ 48 h 48"/>
                <a:gd name="T4" fmla="*/ 0 w 48"/>
                <a:gd name="T5" fmla="*/ 24 h 48"/>
                <a:gd name="T6" fmla="*/ 24 w 48"/>
                <a:gd name="T7" fmla="*/ 0 h 48"/>
                <a:gd name="T8" fmla="*/ 48 w 48"/>
                <a:gd name="T9" fmla="*/ 24 h 48"/>
                <a:gd name="T10" fmla="*/ 48 w 48"/>
                <a:gd name="T11" fmla="*/ 24 h 48"/>
                <a:gd name="T12" fmla="*/ 48 w 48"/>
                <a:gd name="T13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48">
                  <a:moveTo>
                    <a:pt x="48" y="24"/>
                  </a:moveTo>
                  <a:cubicBezTo>
                    <a:pt x="48" y="37"/>
                    <a:pt x="37" y="48"/>
                    <a:pt x="24" y="48"/>
                  </a:cubicBez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lose/>
                  <a:moveTo>
                    <a:pt x="48" y="24"/>
                  </a:moveTo>
                  <a:cubicBezTo>
                    <a:pt x="48" y="24"/>
                    <a:pt x="48" y="24"/>
                    <a:pt x="48" y="2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69" name="Freeform 9"/>
            <p:cNvSpPr>
              <a:spLocks noEditPoints="1"/>
            </p:cNvSpPr>
            <p:nvPr/>
          </p:nvSpPr>
          <p:spPr bwMode="auto">
            <a:xfrm>
              <a:off x="3624" y="2050"/>
              <a:ext cx="432" cy="431"/>
            </a:xfrm>
            <a:custGeom>
              <a:avLst/>
              <a:gdLst>
                <a:gd name="T0" fmla="*/ 178 w 356"/>
                <a:gd name="T1" fmla="*/ 0 h 356"/>
                <a:gd name="T2" fmla="*/ 0 w 356"/>
                <a:gd name="T3" fmla="*/ 178 h 356"/>
                <a:gd name="T4" fmla="*/ 178 w 356"/>
                <a:gd name="T5" fmla="*/ 356 h 356"/>
                <a:gd name="T6" fmla="*/ 259 w 356"/>
                <a:gd name="T7" fmla="*/ 336 h 356"/>
                <a:gd name="T8" fmla="*/ 270 w 356"/>
                <a:gd name="T9" fmla="*/ 304 h 356"/>
                <a:gd name="T10" fmla="*/ 237 w 356"/>
                <a:gd name="T11" fmla="*/ 294 h 356"/>
                <a:gd name="T12" fmla="*/ 178 w 356"/>
                <a:gd name="T13" fmla="*/ 308 h 356"/>
                <a:gd name="T14" fmla="*/ 48 w 356"/>
                <a:gd name="T15" fmla="*/ 178 h 356"/>
                <a:gd name="T16" fmla="*/ 178 w 356"/>
                <a:gd name="T17" fmla="*/ 48 h 356"/>
                <a:gd name="T18" fmla="*/ 308 w 356"/>
                <a:gd name="T19" fmla="*/ 178 h 356"/>
                <a:gd name="T20" fmla="*/ 293 w 356"/>
                <a:gd name="T21" fmla="*/ 238 h 356"/>
                <a:gd name="T22" fmla="*/ 304 w 356"/>
                <a:gd name="T23" fmla="*/ 270 h 356"/>
                <a:gd name="T24" fmla="*/ 336 w 356"/>
                <a:gd name="T25" fmla="*/ 260 h 356"/>
                <a:gd name="T26" fmla="*/ 356 w 356"/>
                <a:gd name="T27" fmla="*/ 178 h 356"/>
                <a:gd name="T28" fmla="*/ 178 w 356"/>
                <a:gd name="T29" fmla="*/ 0 h 356"/>
                <a:gd name="T30" fmla="*/ 178 w 356"/>
                <a:gd name="T31" fmla="*/ 0 h 356"/>
                <a:gd name="T32" fmla="*/ 178 w 356"/>
                <a:gd name="T33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6" h="356">
                  <a:moveTo>
                    <a:pt x="178" y="0"/>
                  </a:moveTo>
                  <a:cubicBezTo>
                    <a:pt x="80" y="0"/>
                    <a:pt x="0" y="80"/>
                    <a:pt x="0" y="178"/>
                  </a:cubicBezTo>
                  <a:cubicBezTo>
                    <a:pt x="0" y="276"/>
                    <a:pt x="80" y="356"/>
                    <a:pt x="178" y="356"/>
                  </a:cubicBezTo>
                  <a:cubicBezTo>
                    <a:pt x="206" y="356"/>
                    <a:pt x="234" y="349"/>
                    <a:pt x="259" y="336"/>
                  </a:cubicBezTo>
                  <a:cubicBezTo>
                    <a:pt x="271" y="330"/>
                    <a:pt x="276" y="316"/>
                    <a:pt x="270" y="304"/>
                  </a:cubicBezTo>
                  <a:cubicBezTo>
                    <a:pt x="264" y="292"/>
                    <a:pt x="249" y="288"/>
                    <a:pt x="237" y="294"/>
                  </a:cubicBezTo>
                  <a:cubicBezTo>
                    <a:pt x="219" y="303"/>
                    <a:pt x="199" y="308"/>
                    <a:pt x="178" y="308"/>
                  </a:cubicBezTo>
                  <a:cubicBezTo>
                    <a:pt x="106" y="308"/>
                    <a:pt x="48" y="250"/>
                    <a:pt x="48" y="178"/>
                  </a:cubicBezTo>
                  <a:cubicBezTo>
                    <a:pt x="48" y="107"/>
                    <a:pt x="106" y="48"/>
                    <a:pt x="178" y="48"/>
                  </a:cubicBezTo>
                  <a:cubicBezTo>
                    <a:pt x="250" y="48"/>
                    <a:pt x="308" y="107"/>
                    <a:pt x="308" y="178"/>
                  </a:cubicBezTo>
                  <a:cubicBezTo>
                    <a:pt x="308" y="199"/>
                    <a:pt x="303" y="219"/>
                    <a:pt x="293" y="238"/>
                  </a:cubicBezTo>
                  <a:cubicBezTo>
                    <a:pt x="287" y="249"/>
                    <a:pt x="292" y="264"/>
                    <a:pt x="304" y="270"/>
                  </a:cubicBezTo>
                  <a:cubicBezTo>
                    <a:pt x="316" y="276"/>
                    <a:pt x="330" y="271"/>
                    <a:pt x="336" y="260"/>
                  </a:cubicBezTo>
                  <a:cubicBezTo>
                    <a:pt x="349" y="235"/>
                    <a:pt x="356" y="206"/>
                    <a:pt x="356" y="178"/>
                  </a:cubicBezTo>
                  <a:cubicBezTo>
                    <a:pt x="356" y="80"/>
                    <a:pt x="276" y="0"/>
                    <a:pt x="178" y="0"/>
                  </a:cubicBezTo>
                  <a:close/>
                  <a:moveTo>
                    <a:pt x="178" y="0"/>
                  </a:moveTo>
                  <a:cubicBezTo>
                    <a:pt x="178" y="0"/>
                    <a:pt x="178" y="0"/>
                    <a:pt x="17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70" name="Freeform 10"/>
            <p:cNvSpPr>
              <a:spLocks noEditPoints="1"/>
            </p:cNvSpPr>
            <p:nvPr/>
          </p:nvSpPr>
          <p:spPr bwMode="auto">
            <a:xfrm>
              <a:off x="3332" y="1759"/>
              <a:ext cx="1016" cy="1014"/>
            </a:xfrm>
            <a:custGeom>
              <a:avLst/>
              <a:gdLst>
                <a:gd name="T0" fmla="*/ 711 w 836"/>
                <a:gd name="T1" fmla="*/ 330 h 836"/>
                <a:gd name="T2" fmla="*/ 759 w 836"/>
                <a:gd name="T3" fmla="*/ 202 h 836"/>
                <a:gd name="T4" fmla="*/ 759 w 836"/>
                <a:gd name="T5" fmla="*/ 168 h 836"/>
                <a:gd name="T6" fmla="*/ 634 w 836"/>
                <a:gd name="T7" fmla="*/ 77 h 836"/>
                <a:gd name="T8" fmla="*/ 506 w 836"/>
                <a:gd name="T9" fmla="*/ 125 h 836"/>
                <a:gd name="T10" fmla="*/ 482 w 836"/>
                <a:gd name="T11" fmla="*/ 0 h 836"/>
                <a:gd name="T12" fmla="*/ 330 w 836"/>
                <a:gd name="T13" fmla="*/ 24 h 836"/>
                <a:gd name="T14" fmla="*/ 273 w 836"/>
                <a:gd name="T15" fmla="*/ 149 h 836"/>
                <a:gd name="T16" fmla="*/ 168 w 836"/>
                <a:gd name="T17" fmla="*/ 77 h 836"/>
                <a:gd name="T18" fmla="*/ 70 w 836"/>
                <a:gd name="T19" fmla="*/ 185 h 836"/>
                <a:gd name="T20" fmla="*/ 149 w 836"/>
                <a:gd name="T21" fmla="*/ 273 h 836"/>
                <a:gd name="T22" fmla="*/ 24 w 836"/>
                <a:gd name="T23" fmla="*/ 330 h 836"/>
                <a:gd name="T24" fmla="*/ 0 w 836"/>
                <a:gd name="T25" fmla="*/ 482 h 836"/>
                <a:gd name="T26" fmla="*/ 125 w 836"/>
                <a:gd name="T27" fmla="*/ 506 h 836"/>
                <a:gd name="T28" fmla="*/ 77 w 836"/>
                <a:gd name="T29" fmla="*/ 634 h 836"/>
                <a:gd name="T30" fmla="*/ 77 w 836"/>
                <a:gd name="T31" fmla="*/ 668 h 836"/>
                <a:gd name="T32" fmla="*/ 202 w 836"/>
                <a:gd name="T33" fmla="*/ 759 h 836"/>
                <a:gd name="T34" fmla="*/ 330 w 836"/>
                <a:gd name="T35" fmla="*/ 711 h 836"/>
                <a:gd name="T36" fmla="*/ 354 w 836"/>
                <a:gd name="T37" fmla="*/ 836 h 836"/>
                <a:gd name="T38" fmla="*/ 506 w 836"/>
                <a:gd name="T39" fmla="*/ 812 h 836"/>
                <a:gd name="T40" fmla="*/ 563 w 836"/>
                <a:gd name="T41" fmla="*/ 688 h 836"/>
                <a:gd name="T42" fmla="*/ 668 w 836"/>
                <a:gd name="T43" fmla="*/ 759 h 836"/>
                <a:gd name="T44" fmla="*/ 766 w 836"/>
                <a:gd name="T45" fmla="*/ 651 h 836"/>
                <a:gd name="T46" fmla="*/ 687 w 836"/>
                <a:gd name="T47" fmla="*/ 563 h 836"/>
                <a:gd name="T48" fmla="*/ 812 w 836"/>
                <a:gd name="T49" fmla="*/ 506 h 836"/>
                <a:gd name="T50" fmla="*/ 836 w 836"/>
                <a:gd name="T51" fmla="*/ 354 h 836"/>
                <a:gd name="T52" fmla="*/ 788 w 836"/>
                <a:gd name="T53" fmla="*/ 458 h 836"/>
                <a:gd name="T54" fmla="*/ 669 w 836"/>
                <a:gd name="T55" fmla="*/ 477 h 836"/>
                <a:gd name="T56" fmla="*/ 640 w 836"/>
                <a:gd name="T57" fmla="*/ 584 h 836"/>
                <a:gd name="T58" fmla="*/ 651 w 836"/>
                <a:gd name="T59" fmla="*/ 708 h 836"/>
                <a:gd name="T60" fmla="*/ 554 w 836"/>
                <a:gd name="T61" fmla="*/ 637 h 836"/>
                <a:gd name="T62" fmla="*/ 458 w 836"/>
                <a:gd name="T63" fmla="*/ 693 h 836"/>
                <a:gd name="T64" fmla="*/ 378 w 836"/>
                <a:gd name="T65" fmla="*/ 788 h 836"/>
                <a:gd name="T66" fmla="*/ 359 w 836"/>
                <a:gd name="T67" fmla="*/ 669 h 836"/>
                <a:gd name="T68" fmla="*/ 252 w 836"/>
                <a:gd name="T69" fmla="*/ 641 h 836"/>
                <a:gd name="T70" fmla="*/ 128 w 836"/>
                <a:gd name="T71" fmla="*/ 651 h 836"/>
                <a:gd name="T72" fmla="*/ 199 w 836"/>
                <a:gd name="T73" fmla="*/ 554 h 836"/>
                <a:gd name="T74" fmla="*/ 143 w 836"/>
                <a:gd name="T75" fmla="*/ 458 h 836"/>
                <a:gd name="T76" fmla="*/ 48 w 836"/>
                <a:gd name="T77" fmla="*/ 378 h 836"/>
                <a:gd name="T78" fmla="*/ 167 w 836"/>
                <a:gd name="T79" fmla="*/ 360 h 836"/>
                <a:gd name="T80" fmla="*/ 196 w 836"/>
                <a:gd name="T81" fmla="*/ 252 h 836"/>
                <a:gd name="T82" fmla="*/ 185 w 836"/>
                <a:gd name="T83" fmla="*/ 128 h 836"/>
                <a:gd name="T84" fmla="*/ 282 w 836"/>
                <a:gd name="T85" fmla="*/ 199 h 836"/>
                <a:gd name="T86" fmla="*/ 378 w 836"/>
                <a:gd name="T87" fmla="*/ 144 h 836"/>
                <a:gd name="T88" fmla="*/ 458 w 836"/>
                <a:gd name="T89" fmla="*/ 48 h 836"/>
                <a:gd name="T90" fmla="*/ 477 w 836"/>
                <a:gd name="T91" fmla="*/ 167 h 836"/>
                <a:gd name="T92" fmla="*/ 584 w 836"/>
                <a:gd name="T93" fmla="*/ 196 h 836"/>
                <a:gd name="T94" fmla="*/ 708 w 836"/>
                <a:gd name="T95" fmla="*/ 185 h 836"/>
                <a:gd name="T96" fmla="*/ 637 w 836"/>
                <a:gd name="T97" fmla="*/ 282 h 836"/>
                <a:gd name="T98" fmla="*/ 693 w 836"/>
                <a:gd name="T99" fmla="*/ 378 h 836"/>
                <a:gd name="T100" fmla="*/ 788 w 836"/>
                <a:gd name="T101" fmla="*/ 458 h 836"/>
                <a:gd name="T102" fmla="*/ 788 w 836"/>
                <a:gd name="T103" fmla="*/ 458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36" h="836">
                  <a:moveTo>
                    <a:pt x="812" y="330"/>
                  </a:moveTo>
                  <a:cubicBezTo>
                    <a:pt x="711" y="330"/>
                    <a:pt x="711" y="330"/>
                    <a:pt x="711" y="330"/>
                  </a:cubicBezTo>
                  <a:cubicBezTo>
                    <a:pt x="705" y="311"/>
                    <a:pt x="697" y="291"/>
                    <a:pt x="687" y="273"/>
                  </a:cubicBezTo>
                  <a:cubicBezTo>
                    <a:pt x="759" y="202"/>
                    <a:pt x="759" y="202"/>
                    <a:pt x="759" y="202"/>
                  </a:cubicBezTo>
                  <a:cubicBezTo>
                    <a:pt x="763" y="197"/>
                    <a:pt x="766" y="191"/>
                    <a:pt x="766" y="185"/>
                  </a:cubicBezTo>
                  <a:cubicBezTo>
                    <a:pt x="766" y="179"/>
                    <a:pt x="763" y="172"/>
                    <a:pt x="759" y="168"/>
                  </a:cubicBezTo>
                  <a:cubicBezTo>
                    <a:pt x="668" y="77"/>
                    <a:pt x="668" y="77"/>
                    <a:pt x="668" y="77"/>
                  </a:cubicBezTo>
                  <a:cubicBezTo>
                    <a:pt x="659" y="68"/>
                    <a:pt x="644" y="68"/>
                    <a:pt x="634" y="77"/>
                  </a:cubicBezTo>
                  <a:cubicBezTo>
                    <a:pt x="563" y="149"/>
                    <a:pt x="563" y="149"/>
                    <a:pt x="563" y="149"/>
                  </a:cubicBezTo>
                  <a:cubicBezTo>
                    <a:pt x="545" y="139"/>
                    <a:pt x="526" y="131"/>
                    <a:pt x="506" y="125"/>
                  </a:cubicBezTo>
                  <a:cubicBezTo>
                    <a:pt x="506" y="24"/>
                    <a:pt x="506" y="24"/>
                    <a:pt x="506" y="24"/>
                  </a:cubicBezTo>
                  <a:cubicBezTo>
                    <a:pt x="506" y="11"/>
                    <a:pt x="495" y="0"/>
                    <a:pt x="482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41" y="0"/>
                    <a:pt x="330" y="11"/>
                    <a:pt x="330" y="24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10" y="131"/>
                    <a:pt x="291" y="139"/>
                    <a:pt x="273" y="149"/>
                  </a:cubicBezTo>
                  <a:cubicBezTo>
                    <a:pt x="202" y="77"/>
                    <a:pt x="202" y="77"/>
                    <a:pt x="202" y="77"/>
                  </a:cubicBezTo>
                  <a:cubicBezTo>
                    <a:pt x="192" y="68"/>
                    <a:pt x="177" y="68"/>
                    <a:pt x="168" y="77"/>
                  </a:cubicBezTo>
                  <a:cubicBezTo>
                    <a:pt x="77" y="168"/>
                    <a:pt x="77" y="168"/>
                    <a:pt x="77" y="168"/>
                  </a:cubicBezTo>
                  <a:cubicBezTo>
                    <a:pt x="73" y="172"/>
                    <a:pt x="70" y="179"/>
                    <a:pt x="70" y="185"/>
                  </a:cubicBezTo>
                  <a:cubicBezTo>
                    <a:pt x="70" y="191"/>
                    <a:pt x="73" y="197"/>
                    <a:pt x="77" y="202"/>
                  </a:cubicBezTo>
                  <a:cubicBezTo>
                    <a:pt x="149" y="273"/>
                    <a:pt x="149" y="273"/>
                    <a:pt x="149" y="273"/>
                  </a:cubicBezTo>
                  <a:cubicBezTo>
                    <a:pt x="139" y="291"/>
                    <a:pt x="131" y="311"/>
                    <a:pt x="125" y="330"/>
                  </a:cubicBezTo>
                  <a:cubicBezTo>
                    <a:pt x="24" y="330"/>
                    <a:pt x="24" y="330"/>
                    <a:pt x="24" y="330"/>
                  </a:cubicBezTo>
                  <a:cubicBezTo>
                    <a:pt x="11" y="330"/>
                    <a:pt x="0" y="341"/>
                    <a:pt x="0" y="354"/>
                  </a:cubicBezTo>
                  <a:cubicBezTo>
                    <a:pt x="0" y="482"/>
                    <a:pt x="0" y="482"/>
                    <a:pt x="0" y="482"/>
                  </a:cubicBezTo>
                  <a:cubicBezTo>
                    <a:pt x="0" y="495"/>
                    <a:pt x="11" y="506"/>
                    <a:pt x="24" y="506"/>
                  </a:cubicBezTo>
                  <a:cubicBezTo>
                    <a:pt x="125" y="506"/>
                    <a:pt x="125" y="506"/>
                    <a:pt x="125" y="506"/>
                  </a:cubicBezTo>
                  <a:cubicBezTo>
                    <a:pt x="131" y="526"/>
                    <a:pt x="139" y="545"/>
                    <a:pt x="149" y="563"/>
                  </a:cubicBezTo>
                  <a:cubicBezTo>
                    <a:pt x="77" y="634"/>
                    <a:pt x="77" y="634"/>
                    <a:pt x="77" y="634"/>
                  </a:cubicBezTo>
                  <a:cubicBezTo>
                    <a:pt x="73" y="639"/>
                    <a:pt x="70" y="645"/>
                    <a:pt x="70" y="651"/>
                  </a:cubicBezTo>
                  <a:cubicBezTo>
                    <a:pt x="70" y="658"/>
                    <a:pt x="73" y="664"/>
                    <a:pt x="77" y="668"/>
                  </a:cubicBezTo>
                  <a:cubicBezTo>
                    <a:pt x="168" y="759"/>
                    <a:pt x="168" y="759"/>
                    <a:pt x="168" y="759"/>
                  </a:cubicBezTo>
                  <a:cubicBezTo>
                    <a:pt x="177" y="768"/>
                    <a:pt x="192" y="768"/>
                    <a:pt x="202" y="759"/>
                  </a:cubicBezTo>
                  <a:cubicBezTo>
                    <a:pt x="273" y="688"/>
                    <a:pt x="273" y="688"/>
                    <a:pt x="273" y="688"/>
                  </a:cubicBezTo>
                  <a:cubicBezTo>
                    <a:pt x="291" y="697"/>
                    <a:pt x="310" y="705"/>
                    <a:pt x="330" y="711"/>
                  </a:cubicBezTo>
                  <a:cubicBezTo>
                    <a:pt x="330" y="812"/>
                    <a:pt x="330" y="812"/>
                    <a:pt x="330" y="812"/>
                  </a:cubicBezTo>
                  <a:cubicBezTo>
                    <a:pt x="330" y="825"/>
                    <a:pt x="341" y="836"/>
                    <a:pt x="354" y="836"/>
                  </a:cubicBezTo>
                  <a:cubicBezTo>
                    <a:pt x="482" y="836"/>
                    <a:pt x="482" y="836"/>
                    <a:pt x="482" y="836"/>
                  </a:cubicBezTo>
                  <a:cubicBezTo>
                    <a:pt x="495" y="836"/>
                    <a:pt x="506" y="825"/>
                    <a:pt x="506" y="812"/>
                  </a:cubicBezTo>
                  <a:cubicBezTo>
                    <a:pt x="506" y="711"/>
                    <a:pt x="506" y="711"/>
                    <a:pt x="506" y="711"/>
                  </a:cubicBezTo>
                  <a:cubicBezTo>
                    <a:pt x="526" y="705"/>
                    <a:pt x="545" y="697"/>
                    <a:pt x="563" y="688"/>
                  </a:cubicBezTo>
                  <a:cubicBezTo>
                    <a:pt x="634" y="759"/>
                    <a:pt x="634" y="759"/>
                    <a:pt x="634" y="759"/>
                  </a:cubicBezTo>
                  <a:cubicBezTo>
                    <a:pt x="644" y="768"/>
                    <a:pt x="659" y="768"/>
                    <a:pt x="668" y="759"/>
                  </a:cubicBezTo>
                  <a:cubicBezTo>
                    <a:pt x="759" y="668"/>
                    <a:pt x="759" y="668"/>
                    <a:pt x="759" y="668"/>
                  </a:cubicBezTo>
                  <a:cubicBezTo>
                    <a:pt x="763" y="664"/>
                    <a:pt x="766" y="658"/>
                    <a:pt x="766" y="651"/>
                  </a:cubicBezTo>
                  <a:cubicBezTo>
                    <a:pt x="766" y="645"/>
                    <a:pt x="763" y="639"/>
                    <a:pt x="759" y="634"/>
                  </a:cubicBezTo>
                  <a:cubicBezTo>
                    <a:pt x="687" y="563"/>
                    <a:pt x="687" y="563"/>
                    <a:pt x="687" y="563"/>
                  </a:cubicBezTo>
                  <a:cubicBezTo>
                    <a:pt x="697" y="545"/>
                    <a:pt x="705" y="526"/>
                    <a:pt x="711" y="506"/>
                  </a:cubicBezTo>
                  <a:cubicBezTo>
                    <a:pt x="812" y="506"/>
                    <a:pt x="812" y="506"/>
                    <a:pt x="812" y="506"/>
                  </a:cubicBezTo>
                  <a:cubicBezTo>
                    <a:pt x="825" y="506"/>
                    <a:pt x="836" y="495"/>
                    <a:pt x="836" y="482"/>
                  </a:cubicBezTo>
                  <a:cubicBezTo>
                    <a:pt x="836" y="354"/>
                    <a:pt x="836" y="354"/>
                    <a:pt x="836" y="354"/>
                  </a:cubicBezTo>
                  <a:cubicBezTo>
                    <a:pt x="836" y="341"/>
                    <a:pt x="825" y="330"/>
                    <a:pt x="812" y="330"/>
                  </a:cubicBezTo>
                  <a:close/>
                  <a:moveTo>
                    <a:pt x="788" y="458"/>
                  </a:moveTo>
                  <a:cubicBezTo>
                    <a:pt x="693" y="458"/>
                    <a:pt x="693" y="458"/>
                    <a:pt x="693" y="458"/>
                  </a:cubicBezTo>
                  <a:cubicBezTo>
                    <a:pt x="681" y="458"/>
                    <a:pt x="672" y="466"/>
                    <a:pt x="669" y="477"/>
                  </a:cubicBezTo>
                  <a:cubicBezTo>
                    <a:pt x="663" y="504"/>
                    <a:pt x="652" y="530"/>
                    <a:pt x="637" y="554"/>
                  </a:cubicBezTo>
                  <a:cubicBezTo>
                    <a:pt x="631" y="564"/>
                    <a:pt x="632" y="576"/>
                    <a:pt x="640" y="584"/>
                  </a:cubicBezTo>
                  <a:cubicBezTo>
                    <a:pt x="708" y="651"/>
                    <a:pt x="708" y="651"/>
                    <a:pt x="708" y="651"/>
                  </a:cubicBezTo>
                  <a:cubicBezTo>
                    <a:pt x="651" y="708"/>
                    <a:pt x="651" y="708"/>
                    <a:pt x="651" y="708"/>
                  </a:cubicBezTo>
                  <a:cubicBezTo>
                    <a:pt x="584" y="641"/>
                    <a:pt x="584" y="641"/>
                    <a:pt x="584" y="641"/>
                  </a:cubicBezTo>
                  <a:cubicBezTo>
                    <a:pt x="576" y="633"/>
                    <a:pt x="564" y="631"/>
                    <a:pt x="554" y="637"/>
                  </a:cubicBezTo>
                  <a:cubicBezTo>
                    <a:pt x="530" y="652"/>
                    <a:pt x="504" y="663"/>
                    <a:pt x="477" y="669"/>
                  </a:cubicBezTo>
                  <a:cubicBezTo>
                    <a:pt x="466" y="672"/>
                    <a:pt x="458" y="682"/>
                    <a:pt x="458" y="693"/>
                  </a:cubicBezTo>
                  <a:cubicBezTo>
                    <a:pt x="458" y="788"/>
                    <a:pt x="458" y="788"/>
                    <a:pt x="458" y="788"/>
                  </a:cubicBezTo>
                  <a:cubicBezTo>
                    <a:pt x="378" y="788"/>
                    <a:pt x="378" y="788"/>
                    <a:pt x="378" y="788"/>
                  </a:cubicBezTo>
                  <a:cubicBezTo>
                    <a:pt x="378" y="693"/>
                    <a:pt x="378" y="693"/>
                    <a:pt x="378" y="693"/>
                  </a:cubicBezTo>
                  <a:cubicBezTo>
                    <a:pt x="378" y="682"/>
                    <a:pt x="370" y="672"/>
                    <a:pt x="359" y="669"/>
                  </a:cubicBezTo>
                  <a:cubicBezTo>
                    <a:pt x="332" y="663"/>
                    <a:pt x="306" y="652"/>
                    <a:pt x="282" y="637"/>
                  </a:cubicBezTo>
                  <a:cubicBezTo>
                    <a:pt x="272" y="631"/>
                    <a:pt x="260" y="633"/>
                    <a:pt x="252" y="641"/>
                  </a:cubicBezTo>
                  <a:cubicBezTo>
                    <a:pt x="185" y="708"/>
                    <a:pt x="185" y="708"/>
                    <a:pt x="185" y="708"/>
                  </a:cubicBezTo>
                  <a:cubicBezTo>
                    <a:pt x="128" y="651"/>
                    <a:pt x="128" y="651"/>
                    <a:pt x="128" y="651"/>
                  </a:cubicBezTo>
                  <a:cubicBezTo>
                    <a:pt x="196" y="584"/>
                    <a:pt x="196" y="584"/>
                    <a:pt x="196" y="584"/>
                  </a:cubicBezTo>
                  <a:cubicBezTo>
                    <a:pt x="204" y="576"/>
                    <a:pt x="205" y="564"/>
                    <a:pt x="199" y="554"/>
                  </a:cubicBezTo>
                  <a:cubicBezTo>
                    <a:pt x="184" y="530"/>
                    <a:pt x="173" y="504"/>
                    <a:pt x="167" y="477"/>
                  </a:cubicBezTo>
                  <a:cubicBezTo>
                    <a:pt x="164" y="466"/>
                    <a:pt x="155" y="458"/>
                    <a:pt x="143" y="458"/>
                  </a:cubicBezTo>
                  <a:cubicBezTo>
                    <a:pt x="48" y="458"/>
                    <a:pt x="48" y="458"/>
                    <a:pt x="48" y="458"/>
                  </a:cubicBezTo>
                  <a:cubicBezTo>
                    <a:pt x="48" y="378"/>
                    <a:pt x="48" y="378"/>
                    <a:pt x="48" y="378"/>
                  </a:cubicBezTo>
                  <a:cubicBezTo>
                    <a:pt x="143" y="378"/>
                    <a:pt x="143" y="378"/>
                    <a:pt x="143" y="378"/>
                  </a:cubicBezTo>
                  <a:cubicBezTo>
                    <a:pt x="155" y="378"/>
                    <a:pt x="164" y="371"/>
                    <a:pt x="167" y="360"/>
                  </a:cubicBezTo>
                  <a:cubicBezTo>
                    <a:pt x="173" y="332"/>
                    <a:pt x="184" y="306"/>
                    <a:pt x="199" y="282"/>
                  </a:cubicBezTo>
                  <a:cubicBezTo>
                    <a:pt x="205" y="273"/>
                    <a:pt x="204" y="260"/>
                    <a:pt x="196" y="252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85" y="128"/>
                    <a:pt x="185" y="128"/>
                    <a:pt x="185" y="128"/>
                  </a:cubicBezTo>
                  <a:cubicBezTo>
                    <a:pt x="252" y="196"/>
                    <a:pt x="252" y="196"/>
                    <a:pt x="252" y="196"/>
                  </a:cubicBezTo>
                  <a:cubicBezTo>
                    <a:pt x="260" y="204"/>
                    <a:pt x="272" y="205"/>
                    <a:pt x="282" y="199"/>
                  </a:cubicBezTo>
                  <a:cubicBezTo>
                    <a:pt x="306" y="184"/>
                    <a:pt x="332" y="173"/>
                    <a:pt x="359" y="167"/>
                  </a:cubicBezTo>
                  <a:cubicBezTo>
                    <a:pt x="370" y="165"/>
                    <a:pt x="378" y="155"/>
                    <a:pt x="378" y="144"/>
                  </a:cubicBezTo>
                  <a:cubicBezTo>
                    <a:pt x="378" y="48"/>
                    <a:pt x="378" y="48"/>
                    <a:pt x="378" y="48"/>
                  </a:cubicBezTo>
                  <a:cubicBezTo>
                    <a:pt x="458" y="48"/>
                    <a:pt x="458" y="48"/>
                    <a:pt x="458" y="48"/>
                  </a:cubicBezTo>
                  <a:cubicBezTo>
                    <a:pt x="458" y="144"/>
                    <a:pt x="458" y="144"/>
                    <a:pt x="458" y="144"/>
                  </a:cubicBezTo>
                  <a:cubicBezTo>
                    <a:pt x="458" y="155"/>
                    <a:pt x="466" y="165"/>
                    <a:pt x="477" y="167"/>
                  </a:cubicBezTo>
                  <a:cubicBezTo>
                    <a:pt x="504" y="173"/>
                    <a:pt x="530" y="184"/>
                    <a:pt x="554" y="199"/>
                  </a:cubicBezTo>
                  <a:cubicBezTo>
                    <a:pt x="564" y="205"/>
                    <a:pt x="576" y="204"/>
                    <a:pt x="584" y="196"/>
                  </a:cubicBezTo>
                  <a:cubicBezTo>
                    <a:pt x="651" y="128"/>
                    <a:pt x="651" y="128"/>
                    <a:pt x="651" y="128"/>
                  </a:cubicBezTo>
                  <a:cubicBezTo>
                    <a:pt x="708" y="185"/>
                    <a:pt x="708" y="185"/>
                    <a:pt x="708" y="185"/>
                  </a:cubicBezTo>
                  <a:cubicBezTo>
                    <a:pt x="640" y="252"/>
                    <a:pt x="640" y="252"/>
                    <a:pt x="640" y="252"/>
                  </a:cubicBezTo>
                  <a:cubicBezTo>
                    <a:pt x="632" y="260"/>
                    <a:pt x="631" y="273"/>
                    <a:pt x="637" y="282"/>
                  </a:cubicBezTo>
                  <a:cubicBezTo>
                    <a:pt x="652" y="306"/>
                    <a:pt x="663" y="332"/>
                    <a:pt x="669" y="360"/>
                  </a:cubicBezTo>
                  <a:cubicBezTo>
                    <a:pt x="672" y="371"/>
                    <a:pt x="681" y="378"/>
                    <a:pt x="693" y="378"/>
                  </a:cubicBezTo>
                  <a:cubicBezTo>
                    <a:pt x="788" y="378"/>
                    <a:pt x="788" y="378"/>
                    <a:pt x="788" y="378"/>
                  </a:cubicBezTo>
                  <a:lnTo>
                    <a:pt x="788" y="458"/>
                  </a:lnTo>
                  <a:close/>
                  <a:moveTo>
                    <a:pt x="788" y="458"/>
                  </a:moveTo>
                  <a:cubicBezTo>
                    <a:pt x="788" y="458"/>
                    <a:pt x="788" y="458"/>
                    <a:pt x="788" y="4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</p:grpSp>
      <p:grpSp>
        <p:nvGrpSpPr>
          <p:cNvPr id="74" name="Group 4"/>
          <p:cNvGrpSpPr>
            <a:grpSpLocks noChangeAspect="1"/>
          </p:cNvGrpSpPr>
          <p:nvPr/>
        </p:nvGrpSpPr>
        <p:grpSpPr bwMode="auto">
          <a:xfrm>
            <a:off x="7781677" y="3737423"/>
            <a:ext cx="320306" cy="384031"/>
            <a:chOff x="3076" y="1247"/>
            <a:chExt cx="1523" cy="1826"/>
          </a:xfrm>
          <a:solidFill>
            <a:schemeClr val="accent3"/>
          </a:solidFill>
        </p:grpSpPr>
        <p:sp>
          <p:nvSpPr>
            <p:cNvPr id="75" name="Freeform 5"/>
            <p:cNvSpPr>
              <a:spLocks noEditPoints="1"/>
            </p:cNvSpPr>
            <p:nvPr/>
          </p:nvSpPr>
          <p:spPr bwMode="auto">
            <a:xfrm>
              <a:off x="3076" y="1247"/>
              <a:ext cx="1523" cy="1826"/>
            </a:xfrm>
            <a:custGeom>
              <a:avLst/>
              <a:gdLst>
                <a:gd name="T0" fmla="*/ 1249 w 1253"/>
                <a:gd name="T1" fmla="*/ 1339 h 1504"/>
                <a:gd name="T2" fmla="*/ 1050 w 1253"/>
                <a:gd name="T3" fmla="*/ 858 h 1504"/>
                <a:gd name="T4" fmla="*/ 1019 w 1253"/>
                <a:gd name="T5" fmla="*/ 845 h 1504"/>
                <a:gd name="T6" fmla="*/ 1006 w 1253"/>
                <a:gd name="T7" fmla="*/ 876 h 1504"/>
                <a:gd name="T8" fmla="*/ 1186 w 1253"/>
                <a:gd name="T9" fmla="*/ 1311 h 1504"/>
                <a:gd name="T10" fmla="*/ 1022 w 1253"/>
                <a:gd name="T11" fmla="*/ 1263 h 1504"/>
                <a:gd name="T12" fmla="*/ 994 w 1253"/>
                <a:gd name="T13" fmla="*/ 1275 h 1504"/>
                <a:gd name="T14" fmla="*/ 911 w 1253"/>
                <a:gd name="T15" fmla="*/ 1425 h 1504"/>
                <a:gd name="T16" fmla="*/ 718 w 1253"/>
                <a:gd name="T17" fmla="*/ 958 h 1504"/>
                <a:gd name="T18" fmla="*/ 1110 w 1253"/>
                <a:gd name="T19" fmla="*/ 484 h 1504"/>
                <a:gd name="T20" fmla="*/ 627 w 1253"/>
                <a:gd name="T21" fmla="*/ 0 h 1504"/>
                <a:gd name="T22" fmla="*/ 143 w 1253"/>
                <a:gd name="T23" fmla="*/ 484 h 1504"/>
                <a:gd name="T24" fmla="*/ 239 w 1253"/>
                <a:gd name="T25" fmla="*/ 772 h 1504"/>
                <a:gd name="T26" fmla="*/ 4 w 1253"/>
                <a:gd name="T27" fmla="*/ 1339 h 1504"/>
                <a:gd name="T28" fmla="*/ 8 w 1253"/>
                <a:gd name="T29" fmla="*/ 1364 h 1504"/>
                <a:gd name="T30" fmla="*/ 33 w 1253"/>
                <a:gd name="T31" fmla="*/ 1371 h 1504"/>
                <a:gd name="T32" fmla="*/ 226 w 1253"/>
                <a:gd name="T33" fmla="*/ 1315 h 1504"/>
                <a:gd name="T34" fmla="*/ 324 w 1253"/>
                <a:gd name="T35" fmla="*/ 1492 h 1504"/>
                <a:gd name="T36" fmla="*/ 345 w 1253"/>
                <a:gd name="T37" fmla="*/ 1504 h 1504"/>
                <a:gd name="T38" fmla="*/ 346 w 1253"/>
                <a:gd name="T39" fmla="*/ 1504 h 1504"/>
                <a:gd name="T40" fmla="*/ 367 w 1253"/>
                <a:gd name="T41" fmla="*/ 1489 h 1504"/>
                <a:gd name="T42" fmla="*/ 553 w 1253"/>
                <a:gd name="T43" fmla="*/ 1040 h 1504"/>
                <a:gd name="T44" fmla="*/ 540 w 1253"/>
                <a:gd name="T45" fmla="*/ 1009 h 1504"/>
                <a:gd name="T46" fmla="*/ 509 w 1253"/>
                <a:gd name="T47" fmla="*/ 1022 h 1504"/>
                <a:gd name="T48" fmla="*/ 342 w 1253"/>
                <a:gd name="T49" fmla="*/ 1425 h 1504"/>
                <a:gd name="T50" fmla="*/ 259 w 1253"/>
                <a:gd name="T51" fmla="*/ 1275 h 1504"/>
                <a:gd name="T52" fmla="*/ 231 w 1253"/>
                <a:gd name="T53" fmla="*/ 1263 h 1504"/>
                <a:gd name="T54" fmla="*/ 67 w 1253"/>
                <a:gd name="T55" fmla="*/ 1311 h 1504"/>
                <a:gd name="T56" fmla="*/ 273 w 1253"/>
                <a:gd name="T57" fmla="*/ 814 h 1504"/>
                <a:gd name="T58" fmla="*/ 627 w 1253"/>
                <a:gd name="T59" fmla="*/ 967 h 1504"/>
                <a:gd name="T60" fmla="*/ 669 w 1253"/>
                <a:gd name="T61" fmla="*/ 965 h 1504"/>
                <a:gd name="T62" fmla="*/ 886 w 1253"/>
                <a:gd name="T63" fmla="*/ 1489 h 1504"/>
                <a:gd name="T64" fmla="*/ 907 w 1253"/>
                <a:gd name="T65" fmla="*/ 1504 h 1504"/>
                <a:gd name="T66" fmla="*/ 908 w 1253"/>
                <a:gd name="T67" fmla="*/ 1504 h 1504"/>
                <a:gd name="T68" fmla="*/ 929 w 1253"/>
                <a:gd name="T69" fmla="*/ 1492 h 1504"/>
                <a:gd name="T70" fmla="*/ 1027 w 1253"/>
                <a:gd name="T71" fmla="*/ 1315 h 1504"/>
                <a:gd name="T72" fmla="*/ 1220 w 1253"/>
                <a:gd name="T73" fmla="*/ 1371 h 1504"/>
                <a:gd name="T74" fmla="*/ 1245 w 1253"/>
                <a:gd name="T75" fmla="*/ 1364 h 1504"/>
                <a:gd name="T76" fmla="*/ 1249 w 1253"/>
                <a:gd name="T77" fmla="*/ 1339 h 1504"/>
                <a:gd name="T78" fmla="*/ 191 w 1253"/>
                <a:gd name="T79" fmla="*/ 484 h 1504"/>
                <a:gd name="T80" fmla="*/ 627 w 1253"/>
                <a:gd name="T81" fmla="*/ 48 h 1504"/>
                <a:gd name="T82" fmla="*/ 1062 w 1253"/>
                <a:gd name="T83" fmla="*/ 484 h 1504"/>
                <a:gd name="T84" fmla="*/ 627 w 1253"/>
                <a:gd name="T85" fmla="*/ 919 h 1504"/>
                <a:gd name="T86" fmla="*/ 191 w 1253"/>
                <a:gd name="T87" fmla="*/ 484 h 1504"/>
                <a:gd name="T88" fmla="*/ 191 w 1253"/>
                <a:gd name="T89" fmla="*/ 484 h 1504"/>
                <a:gd name="T90" fmla="*/ 191 w 1253"/>
                <a:gd name="T91" fmla="*/ 484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53" h="1504">
                  <a:moveTo>
                    <a:pt x="1249" y="1339"/>
                  </a:moveTo>
                  <a:cubicBezTo>
                    <a:pt x="1050" y="858"/>
                    <a:pt x="1050" y="858"/>
                    <a:pt x="1050" y="858"/>
                  </a:cubicBezTo>
                  <a:cubicBezTo>
                    <a:pt x="1045" y="846"/>
                    <a:pt x="1031" y="840"/>
                    <a:pt x="1019" y="845"/>
                  </a:cubicBezTo>
                  <a:cubicBezTo>
                    <a:pt x="1007" y="850"/>
                    <a:pt x="1001" y="864"/>
                    <a:pt x="1006" y="876"/>
                  </a:cubicBezTo>
                  <a:cubicBezTo>
                    <a:pt x="1186" y="1311"/>
                    <a:pt x="1186" y="1311"/>
                    <a:pt x="1186" y="1311"/>
                  </a:cubicBezTo>
                  <a:cubicBezTo>
                    <a:pt x="1022" y="1263"/>
                    <a:pt x="1022" y="1263"/>
                    <a:pt x="1022" y="1263"/>
                  </a:cubicBezTo>
                  <a:cubicBezTo>
                    <a:pt x="1011" y="1260"/>
                    <a:pt x="999" y="1265"/>
                    <a:pt x="994" y="1275"/>
                  </a:cubicBezTo>
                  <a:cubicBezTo>
                    <a:pt x="911" y="1425"/>
                    <a:pt x="911" y="1425"/>
                    <a:pt x="911" y="1425"/>
                  </a:cubicBezTo>
                  <a:cubicBezTo>
                    <a:pt x="718" y="958"/>
                    <a:pt x="718" y="958"/>
                    <a:pt x="718" y="958"/>
                  </a:cubicBezTo>
                  <a:cubicBezTo>
                    <a:pt x="941" y="915"/>
                    <a:pt x="1110" y="719"/>
                    <a:pt x="1110" y="484"/>
                  </a:cubicBezTo>
                  <a:cubicBezTo>
                    <a:pt x="1110" y="217"/>
                    <a:pt x="893" y="0"/>
                    <a:pt x="627" y="0"/>
                  </a:cubicBezTo>
                  <a:cubicBezTo>
                    <a:pt x="360" y="0"/>
                    <a:pt x="143" y="217"/>
                    <a:pt x="143" y="484"/>
                  </a:cubicBezTo>
                  <a:cubicBezTo>
                    <a:pt x="143" y="592"/>
                    <a:pt x="179" y="691"/>
                    <a:pt x="239" y="772"/>
                  </a:cubicBezTo>
                  <a:cubicBezTo>
                    <a:pt x="4" y="1339"/>
                    <a:pt x="4" y="1339"/>
                    <a:pt x="4" y="1339"/>
                  </a:cubicBezTo>
                  <a:cubicBezTo>
                    <a:pt x="0" y="1347"/>
                    <a:pt x="2" y="1357"/>
                    <a:pt x="8" y="1364"/>
                  </a:cubicBezTo>
                  <a:cubicBezTo>
                    <a:pt x="14" y="1371"/>
                    <a:pt x="24" y="1374"/>
                    <a:pt x="33" y="1371"/>
                  </a:cubicBezTo>
                  <a:cubicBezTo>
                    <a:pt x="226" y="1315"/>
                    <a:pt x="226" y="1315"/>
                    <a:pt x="226" y="1315"/>
                  </a:cubicBezTo>
                  <a:cubicBezTo>
                    <a:pt x="324" y="1492"/>
                    <a:pt x="324" y="1492"/>
                    <a:pt x="324" y="1492"/>
                  </a:cubicBezTo>
                  <a:cubicBezTo>
                    <a:pt x="328" y="1499"/>
                    <a:pt x="336" y="1504"/>
                    <a:pt x="345" y="1504"/>
                  </a:cubicBezTo>
                  <a:cubicBezTo>
                    <a:pt x="345" y="1504"/>
                    <a:pt x="346" y="1504"/>
                    <a:pt x="346" y="1504"/>
                  </a:cubicBezTo>
                  <a:cubicBezTo>
                    <a:pt x="355" y="1503"/>
                    <a:pt x="363" y="1498"/>
                    <a:pt x="367" y="1489"/>
                  </a:cubicBezTo>
                  <a:cubicBezTo>
                    <a:pt x="553" y="1040"/>
                    <a:pt x="553" y="1040"/>
                    <a:pt x="553" y="1040"/>
                  </a:cubicBezTo>
                  <a:cubicBezTo>
                    <a:pt x="558" y="1028"/>
                    <a:pt x="552" y="1014"/>
                    <a:pt x="540" y="1009"/>
                  </a:cubicBezTo>
                  <a:cubicBezTo>
                    <a:pt x="528" y="1004"/>
                    <a:pt x="514" y="1009"/>
                    <a:pt x="509" y="1022"/>
                  </a:cubicBezTo>
                  <a:cubicBezTo>
                    <a:pt x="342" y="1425"/>
                    <a:pt x="342" y="1425"/>
                    <a:pt x="342" y="1425"/>
                  </a:cubicBezTo>
                  <a:cubicBezTo>
                    <a:pt x="259" y="1275"/>
                    <a:pt x="259" y="1275"/>
                    <a:pt x="259" y="1275"/>
                  </a:cubicBezTo>
                  <a:cubicBezTo>
                    <a:pt x="254" y="1265"/>
                    <a:pt x="242" y="1260"/>
                    <a:pt x="231" y="1263"/>
                  </a:cubicBezTo>
                  <a:cubicBezTo>
                    <a:pt x="67" y="1311"/>
                    <a:pt x="67" y="1311"/>
                    <a:pt x="67" y="1311"/>
                  </a:cubicBezTo>
                  <a:cubicBezTo>
                    <a:pt x="273" y="814"/>
                    <a:pt x="273" y="814"/>
                    <a:pt x="273" y="814"/>
                  </a:cubicBezTo>
                  <a:cubicBezTo>
                    <a:pt x="362" y="908"/>
                    <a:pt x="487" y="967"/>
                    <a:pt x="627" y="967"/>
                  </a:cubicBezTo>
                  <a:cubicBezTo>
                    <a:pt x="641" y="967"/>
                    <a:pt x="655" y="966"/>
                    <a:pt x="669" y="965"/>
                  </a:cubicBezTo>
                  <a:cubicBezTo>
                    <a:pt x="886" y="1489"/>
                    <a:pt x="886" y="1489"/>
                    <a:pt x="886" y="1489"/>
                  </a:cubicBezTo>
                  <a:cubicBezTo>
                    <a:pt x="890" y="1498"/>
                    <a:pt x="898" y="1503"/>
                    <a:pt x="907" y="1504"/>
                  </a:cubicBezTo>
                  <a:cubicBezTo>
                    <a:pt x="907" y="1504"/>
                    <a:pt x="908" y="1504"/>
                    <a:pt x="908" y="1504"/>
                  </a:cubicBezTo>
                  <a:cubicBezTo>
                    <a:pt x="917" y="1504"/>
                    <a:pt x="925" y="1499"/>
                    <a:pt x="929" y="1492"/>
                  </a:cubicBezTo>
                  <a:cubicBezTo>
                    <a:pt x="1027" y="1315"/>
                    <a:pt x="1027" y="1315"/>
                    <a:pt x="1027" y="1315"/>
                  </a:cubicBezTo>
                  <a:cubicBezTo>
                    <a:pt x="1220" y="1371"/>
                    <a:pt x="1220" y="1371"/>
                    <a:pt x="1220" y="1371"/>
                  </a:cubicBezTo>
                  <a:cubicBezTo>
                    <a:pt x="1229" y="1374"/>
                    <a:pt x="1239" y="1371"/>
                    <a:pt x="1245" y="1364"/>
                  </a:cubicBezTo>
                  <a:cubicBezTo>
                    <a:pt x="1251" y="1357"/>
                    <a:pt x="1253" y="1347"/>
                    <a:pt x="1249" y="1339"/>
                  </a:cubicBezTo>
                  <a:close/>
                  <a:moveTo>
                    <a:pt x="191" y="484"/>
                  </a:moveTo>
                  <a:cubicBezTo>
                    <a:pt x="191" y="243"/>
                    <a:pt x="386" y="48"/>
                    <a:pt x="627" y="48"/>
                  </a:cubicBezTo>
                  <a:cubicBezTo>
                    <a:pt x="867" y="48"/>
                    <a:pt x="1062" y="243"/>
                    <a:pt x="1062" y="484"/>
                  </a:cubicBezTo>
                  <a:cubicBezTo>
                    <a:pt x="1062" y="724"/>
                    <a:pt x="867" y="919"/>
                    <a:pt x="627" y="919"/>
                  </a:cubicBezTo>
                  <a:cubicBezTo>
                    <a:pt x="386" y="919"/>
                    <a:pt x="191" y="724"/>
                    <a:pt x="191" y="484"/>
                  </a:cubicBezTo>
                  <a:close/>
                  <a:moveTo>
                    <a:pt x="191" y="484"/>
                  </a:moveTo>
                  <a:cubicBezTo>
                    <a:pt x="191" y="484"/>
                    <a:pt x="191" y="484"/>
                    <a:pt x="191" y="48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76" name="Freeform 6"/>
            <p:cNvSpPr>
              <a:spLocks noEditPoints="1"/>
            </p:cNvSpPr>
            <p:nvPr/>
          </p:nvSpPr>
          <p:spPr bwMode="auto">
            <a:xfrm>
              <a:off x="3497" y="1480"/>
              <a:ext cx="681" cy="649"/>
            </a:xfrm>
            <a:custGeom>
              <a:avLst/>
              <a:gdLst>
                <a:gd name="T0" fmla="*/ 558 w 561"/>
                <a:gd name="T1" fmla="*/ 201 h 534"/>
                <a:gd name="T2" fmla="*/ 539 w 561"/>
                <a:gd name="T3" fmla="*/ 185 h 534"/>
                <a:gd name="T4" fmla="*/ 377 w 561"/>
                <a:gd name="T5" fmla="*/ 158 h 534"/>
                <a:gd name="T6" fmla="*/ 302 w 561"/>
                <a:gd name="T7" fmla="*/ 13 h 534"/>
                <a:gd name="T8" fmla="*/ 281 w 561"/>
                <a:gd name="T9" fmla="*/ 0 h 534"/>
                <a:gd name="T10" fmla="*/ 259 w 561"/>
                <a:gd name="T11" fmla="*/ 13 h 534"/>
                <a:gd name="T12" fmla="*/ 184 w 561"/>
                <a:gd name="T13" fmla="*/ 158 h 534"/>
                <a:gd name="T14" fmla="*/ 22 w 561"/>
                <a:gd name="T15" fmla="*/ 185 h 534"/>
                <a:gd name="T16" fmla="*/ 3 w 561"/>
                <a:gd name="T17" fmla="*/ 201 h 534"/>
                <a:gd name="T18" fmla="*/ 9 w 561"/>
                <a:gd name="T19" fmla="*/ 226 h 534"/>
                <a:gd name="T20" fmla="*/ 124 w 561"/>
                <a:gd name="T21" fmla="*/ 343 h 534"/>
                <a:gd name="T22" fmla="*/ 100 w 561"/>
                <a:gd name="T23" fmla="*/ 505 h 534"/>
                <a:gd name="T24" fmla="*/ 109 w 561"/>
                <a:gd name="T25" fmla="*/ 527 h 534"/>
                <a:gd name="T26" fmla="*/ 134 w 561"/>
                <a:gd name="T27" fmla="*/ 530 h 534"/>
                <a:gd name="T28" fmla="*/ 281 w 561"/>
                <a:gd name="T29" fmla="*/ 457 h 534"/>
                <a:gd name="T30" fmla="*/ 427 w 561"/>
                <a:gd name="T31" fmla="*/ 530 h 534"/>
                <a:gd name="T32" fmla="*/ 438 w 561"/>
                <a:gd name="T33" fmla="*/ 532 h 534"/>
                <a:gd name="T34" fmla="*/ 452 w 561"/>
                <a:gd name="T35" fmla="*/ 527 h 534"/>
                <a:gd name="T36" fmla="*/ 462 w 561"/>
                <a:gd name="T37" fmla="*/ 505 h 534"/>
                <a:gd name="T38" fmla="*/ 437 w 561"/>
                <a:gd name="T39" fmla="*/ 343 h 534"/>
                <a:gd name="T40" fmla="*/ 552 w 561"/>
                <a:gd name="T41" fmla="*/ 226 h 534"/>
                <a:gd name="T42" fmla="*/ 558 w 561"/>
                <a:gd name="T43" fmla="*/ 201 h 534"/>
                <a:gd name="T44" fmla="*/ 395 w 561"/>
                <a:gd name="T45" fmla="*/ 317 h 534"/>
                <a:gd name="T46" fmla="*/ 388 w 561"/>
                <a:gd name="T47" fmla="*/ 338 h 534"/>
                <a:gd name="T48" fmla="*/ 407 w 561"/>
                <a:gd name="T49" fmla="*/ 466 h 534"/>
                <a:gd name="T50" fmla="*/ 291 w 561"/>
                <a:gd name="T51" fmla="*/ 408 h 534"/>
                <a:gd name="T52" fmla="*/ 281 w 561"/>
                <a:gd name="T53" fmla="*/ 406 h 534"/>
                <a:gd name="T54" fmla="*/ 270 w 561"/>
                <a:gd name="T55" fmla="*/ 408 h 534"/>
                <a:gd name="T56" fmla="*/ 154 w 561"/>
                <a:gd name="T57" fmla="*/ 466 h 534"/>
                <a:gd name="T58" fmla="*/ 173 w 561"/>
                <a:gd name="T59" fmla="*/ 338 h 534"/>
                <a:gd name="T60" fmla="*/ 166 w 561"/>
                <a:gd name="T61" fmla="*/ 317 h 534"/>
                <a:gd name="T62" fmla="*/ 75 w 561"/>
                <a:gd name="T63" fmla="*/ 225 h 534"/>
                <a:gd name="T64" fmla="*/ 203 w 561"/>
                <a:gd name="T65" fmla="*/ 203 h 534"/>
                <a:gd name="T66" fmla="*/ 221 w 561"/>
                <a:gd name="T67" fmla="*/ 191 h 534"/>
                <a:gd name="T68" fmla="*/ 281 w 561"/>
                <a:gd name="T69" fmla="*/ 76 h 534"/>
                <a:gd name="T70" fmla="*/ 340 w 561"/>
                <a:gd name="T71" fmla="*/ 191 h 534"/>
                <a:gd name="T72" fmla="*/ 358 w 561"/>
                <a:gd name="T73" fmla="*/ 203 h 534"/>
                <a:gd name="T74" fmla="*/ 486 w 561"/>
                <a:gd name="T75" fmla="*/ 225 h 534"/>
                <a:gd name="T76" fmla="*/ 395 w 561"/>
                <a:gd name="T77" fmla="*/ 317 h 534"/>
                <a:gd name="T78" fmla="*/ 395 w 561"/>
                <a:gd name="T79" fmla="*/ 317 h 534"/>
                <a:gd name="T80" fmla="*/ 395 w 561"/>
                <a:gd name="T81" fmla="*/ 317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1" h="534">
                  <a:moveTo>
                    <a:pt x="558" y="201"/>
                  </a:moveTo>
                  <a:cubicBezTo>
                    <a:pt x="555" y="193"/>
                    <a:pt x="548" y="187"/>
                    <a:pt x="539" y="185"/>
                  </a:cubicBezTo>
                  <a:cubicBezTo>
                    <a:pt x="377" y="158"/>
                    <a:pt x="377" y="158"/>
                    <a:pt x="377" y="158"/>
                  </a:cubicBezTo>
                  <a:cubicBezTo>
                    <a:pt x="302" y="13"/>
                    <a:pt x="302" y="13"/>
                    <a:pt x="302" y="13"/>
                  </a:cubicBezTo>
                  <a:cubicBezTo>
                    <a:pt x="298" y="5"/>
                    <a:pt x="289" y="0"/>
                    <a:pt x="281" y="0"/>
                  </a:cubicBezTo>
                  <a:cubicBezTo>
                    <a:pt x="272" y="0"/>
                    <a:pt x="263" y="5"/>
                    <a:pt x="259" y="13"/>
                  </a:cubicBezTo>
                  <a:cubicBezTo>
                    <a:pt x="184" y="158"/>
                    <a:pt x="184" y="158"/>
                    <a:pt x="184" y="158"/>
                  </a:cubicBezTo>
                  <a:cubicBezTo>
                    <a:pt x="22" y="185"/>
                    <a:pt x="22" y="185"/>
                    <a:pt x="22" y="185"/>
                  </a:cubicBezTo>
                  <a:cubicBezTo>
                    <a:pt x="13" y="187"/>
                    <a:pt x="6" y="193"/>
                    <a:pt x="3" y="201"/>
                  </a:cubicBezTo>
                  <a:cubicBezTo>
                    <a:pt x="0" y="210"/>
                    <a:pt x="3" y="219"/>
                    <a:pt x="9" y="226"/>
                  </a:cubicBezTo>
                  <a:cubicBezTo>
                    <a:pt x="124" y="343"/>
                    <a:pt x="124" y="343"/>
                    <a:pt x="124" y="343"/>
                  </a:cubicBezTo>
                  <a:cubicBezTo>
                    <a:pt x="100" y="505"/>
                    <a:pt x="100" y="505"/>
                    <a:pt x="100" y="505"/>
                  </a:cubicBezTo>
                  <a:cubicBezTo>
                    <a:pt x="98" y="513"/>
                    <a:pt x="102" y="522"/>
                    <a:pt x="109" y="527"/>
                  </a:cubicBezTo>
                  <a:cubicBezTo>
                    <a:pt x="116" y="533"/>
                    <a:pt x="126" y="534"/>
                    <a:pt x="134" y="530"/>
                  </a:cubicBezTo>
                  <a:cubicBezTo>
                    <a:pt x="281" y="457"/>
                    <a:pt x="281" y="457"/>
                    <a:pt x="281" y="457"/>
                  </a:cubicBezTo>
                  <a:cubicBezTo>
                    <a:pt x="427" y="530"/>
                    <a:pt x="427" y="530"/>
                    <a:pt x="427" y="530"/>
                  </a:cubicBezTo>
                  <a:cubicBezTo>
                    <a:pt x="430" y="531"/>
                    <a:pt x="434" y="532"/>
                    <a:pt x="438" y="532"/>
                  </a:cubicBezTo>
                  <a:cubicBezTo>
                    <a:pt x="443" y="532"/>
                    <a:pt x="448" y="531"/>
                    <a:pt x="452" y="527"/>
                  </a:cubicBezTo>
                  <a:cubicBezTo>
                    <a:pt x="459" y="522"/>
                    <a:pt x="463" y="513"/>
                    <a:pt x="462" y="505"/>
                  </a:cubicBezTo>
                  <a:cubicBezTo>
                    <a:pt x="437" y="343"/>
                    <a:pt x="437" y="343"/>
                    <a:pt x="437" y="343"/>
                  </a:cubicBezTo>
                  <a:cubicBezTo>
                    <a:pt x="552" y="226"/>
                    <a:pt x="552" y="226"/>
                    <a:pt x="552" y="226"/>
                  </a:cubicBezTo>
                  <a:cubicBezTo>
                    <a:pt x="558" y="219"/>
                    <a:pt x="561" y="210"/>
                    <a:pt x="558" y="201"/>
                  </a:cubicBezTo>
                  <a:close/>
                  <a:moveTo>
                    <a:pt x="395" y="317"/>
                  </a:moveTo>
                  <a:cubicBezTo>
                    <a:pt x="390" y="323"/>
                    <a:pt x="387" y="330"/>
                    <a:pt x="388" y="338"/>
                  </a:cubicBezTo>
                  <a:cubicBezTo>
                    <a:pt x="407" y="466"/>
                    <a:pt x="407" y="466"/>
                    <a:pt x="407" y="466"/>
                  </a:cubicBezTo>
                  <a:cubicBezTo>
                    <a:pt x="291" y="408"/>
                    <a:pt x="291" y="408"/>
                    <a:pt x="291" y="408"/>
                  </a:cubicBezTo>
                  <a:cubicBezTo>
                    <a:pt x="288" y="407"/>
                    <a:pt x="284" y="406"/>
                    <a:pt x="281" y="406"/>
                  </a:cubicBezTo>
                  <a:cubicBezTo>
                    <a:pt x="277" y="406"/>
                    <a:pt x="273" y="407"/>
                    <a:pt x="270" y="408"/>
                  </a:cubicBezTo>
                  <a:cubicBezTo>
                    <a:pt x="154" y="466"/>
                    <a:pt x="154" y="466"/>
                    <a:pt x="154" y="466"/>
                  </a:cubicBezTo>
                  <a:cubicBezTo>
                    <a:pt x="173" y="338"/>
                    <a:pt x="173" y="338"/>
                    <a:pt x="173" y="338"/>
                  </a:cubicBezTo>
                  <a:cubicBezTo>
                    <a:pt x="174" y="330"/>
                    <a:pt x="172" y="323"/>
                    <a:pt x="166" y="317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203" y="203"/>
                    <a:pt x="203" y="203"/>
                    <a:pt x="203" y="203"/>
                  </a:cubicBezTo>
                  <a:cubicBezTo>
                    <a:pt x="211" y="202"/>
                    <a:pt x="217" y="198"/>
                    <a:pt x="221" y="191"/>
                  </a:cubicBezTo>
                  <a:cubicBezTo>
                    <a:pt x="281" y="76"/>
                    <a:pt x="281" y="76"/>
                    <a:pt x="281" y="76"/>
                  </a:cubicBezTo>
                  <a:cubicBezTo>
                    <a:pt x="340" y="191"/>
                    <a:pt x="340" y="191"/>
                    <a:pt x="340" y="191"/>
                  </a:cubicBezTo>
                  <a:cubicBezTo>
                    <a:pt x="344" y="198"/>
                    <a:pt x="350" y="202"/>
                    <a:pt x="358" y="203"/>
                  </a:cubicBezTo>
                  <a:cubicBezTo>
                    <a:pt x="486" y="225"/>
                    <a:pt x="486" y="225"/>
                    <a:pt x="486" y="225"/>
                  </a:cubicBezTo>
                  <a:lnTo>
                    <a:pt x="395" y="317"/>
                  </a:lnTo>
                  <a:close/>
                  <a:moveTo>
                    <a:pt x="395" y="317"/>
                  </a:moveTo>
                  <a:cubicBezTo>
                    <a:pt x="395" y="317"/>
                    <a:pt x="395" y="317"/>
                    <a:pt x="395" y="3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  <p:sp>
          <p:nvSpPr>
            <p:cNvPr id="77" name="Freeform 7"/>
            <p:cNvSpPr>
              <a:spLocks noEditPoints="1"/>
            </p:cNvSpPr>
            <p:nvPr/>
          </p:nvSpPr>
          <p:spPr bwMode="auto">
            <a:xfrm>
              <a:off x="3367" y="1364"/>
              <a:ext cx="939" cy="940"/>
            </a:xfrm>
            <a:custGeom>
              <a:avLst/>
              <a:gdLst>
                <a:gd name="T0" fmla="*/ 751 w 773"/>
                <a:gd name="T1" fmla="*/ 412 h 775"/>
                <a:gd name="T2" fmla="*/ 724 w 773"/>
                <a:gd name="T3" fmla="*/ 432 h 775"/>
                <a:gd name="T4" fmla="*/ 388 w 773"/>
                <a:gd name="T5" fmla="*/ 727 h 775"/>
                <a:gd name="T6" fmla="*/ 48 w 773"/>
                <a:gd name="T7" fmla="*/ 388 h 775"/>
                <a:gd name="T8" fmla="*/ 388 w 773"/>
                <a:gd name="T9" fmla="*/ 48 h 775"/>
                <a:gd name="T10" fmla="*/ 724 w 773"/>
                <a:gd name="T11" fmla="*/ 343 h 775"/>
                <a:gd name="T12" fmla="*/ 751 w 773"/>
                <a:gd name="T13" fmla="*/ 363 h 775"/>
                <a:gd name="T14" fmla="*/ 772 w 773"/>
                <a:gd name="T15" fmla="*/ 336 h 775"/>
                <a:gd name="T16" fmla="*/ 388 w 773"/>
                <a:gd name="T17" fmla="*/ 0 h 775"/>
                <a:gd name="T18" fmla="*/ 0 w 773"/>
                <a:gd name="T19" fmla="*/ 388 h 775"/>
                <a:gd name="T20" fmla="*/ 388 w 773"/>
                <a:gd name="T21" fmla="*/ 775 h 775"/>
                <a:gd name="T22" fmla="*/ 772 w 773"/>
                <a:gd name="T23" fmla="*/ 439 h 775"/>
                <a:gd name="T24" fmla="*/ 751 w 773"/>
                <a:gd name="T25" fmla="*/ 412 h 775"/>
                <a:gd name="T26" fmla="*/ 751 w 773"/>
                <a:gd name="T27" fmla="*/ 412 h 775"/>
                <a:gd name="T28" fmla="*/ 751 w 773"/>
                <a:gd name="T29" fmla="*/ 412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73" h="775">
                  <a:moveTo>
                    <a:pt x="751" y="412"/>
                  </a:moveTo>
                  <a:cubicBezTo>
                    <a:pt x="738" y="410"/>
                    <a:pt x="726" y="419"/>
                    <a:pt x="724" y="432"/>
                  </a:cubicBezTo>
                  <a:cubicBezTo>
                    <a:pt x="702" y="600"/>
                    <a:pt x="557" y="727"/>
                    <a:pt x="388" y="727"/>
                  </a:cubicBezTo>
                  <a:cubicBezTo>
                    <a:pt x="200" y="727"/>
                    <a:pt x="48" y="575"/>
                    <a:pt x="48" y="388"/>
                  </a:cubicBezTo>
                  <a:cubicBezTo>
                    <a:pt x="48" y="200"/>
                    <a:pt x="200" y="48"/>
                    <a:pt x="388" y="48"/>
                  </a:cubicBezTo>
                  <a:cubicBezTo>
                    <a:pt x="557" y="48"/>
                    <a:pt x="702" y="175"/>
                    <a:pt x="724" y="343"/>
                  </a:cubicBezTo>
                  <a:cubicBezTo>
                    <a:pt x="726" y="356"/>
                    <a:pt x="738" y="365"/>
                    <a:pt x="751" y="363"/>
                  </a:cubicBezTo>
                  <a:cubicBezTo>
                    <a:pt x="764" y="362"/>
                    <a:pt x="773" y="350"/>
                    <a:pt x="772" y="336"/>
                  </a:cubicBezTo>
                  <a:cubicBezTo>
                    <a:pt x="746" y="145"/>
                    <a:pt x="581" y="0"/>
                    <a:pt x="388" y="0"/>
                  </a:cubicBezTo>
                  <a:cubicBezTo>
                    <a:pt x="174" y="0"/>
                    <a:pt x="0" y="174"/>
                    <a:pt x="0" y="388"/>
                  </a:cubicBezTo>
                  <a:cubicBezTo>
                    <a:pt x="0" y="601"/>
                    <a:pt x="174" y="775"/>
                    <a:pt x="388" y="775"/>
                  </a:cubicBezTo>
                  <a:cubicBezTo>
                    <a:pt x="581" y="775"/>
                    <a:pt x="746" y="631"/>
                    <a:pt x="772" y="439"/>
                  </a:cubicBezTo>
                  <a:cubicBezTo>
                    <a:pt x="773" y="426"/>
                    <a:pt x="764" y="414"/>
                    <a:pt x="751" y="412"/>
                  </a:cubicBezTo>
                  <a:close/>
                  <a:moveTo>
                    <a:pt x="751" y="412"/>
                  </a:moveTo>
                  <a:cubicBezTo>
                    <a:pt x="751" y="412"/>
                    <a:pt x="751" y="412"/>
                    <a:pt x="751" y="4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sv-SE" sz="1350"/>
            </a:p>
          </p:txBody>
        </p:sp>
      </p:grpSp>
      <p:sp>
        <p:nvSpPr>
          <p:cNvPr id="78" name="Oval 77"/>
          <p:cNvSpPr/>
          <p:nvPr/>
        </p:nvSpPr>
        <p:spPr>
          <a:xfrm>
            <a:off x="120698" y="1146850"/>
            <a:ext cx="432819" cy="432819"/>
          </a:xfrm>
          <a:prstGeom prst="ellipse">
            <a:avLst/>
          </a:prstGeom>
          <a:solidFill>
            <a:schemeClr val="bg1"/>
          </a:solidFill>
          <a:ln w="88900">
            <a:solidFill>
              <a:srgbClr val="4A2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rgbClr val="4A206A"/>
                </a:solidFill>
                <a:latin typeface="KG HAPPY Solid" panose="02000000000000000000" pitchFamily="2" charset="0"/>
              </a:rPr>
              <a:t>1943</a:t>
            </a:r>
            <a:endParaRPr lang="id-ID" sz="1050" b="1" dirty="0">
              <a:solidFill>
                <a:srgbClr val="4A206A"/>
              </a:solidFill>
              <a:latin typeface="KG HAPPY Solid" panose="02000000000000000000" pitchFamily="2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168674" y="5272217"/>
            <a:ext cx="239604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spc="-113" dirty="0">
                <a:solidFill>
                  <a:srgbClr val="4A20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 Evolution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51824" y="1380018"/>
            <a:ext cx="2228877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lvl="1" indent="-85725" defTabSz="466725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McCulloch–Pitts “neuron”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lvl="1" indent="-85725" defTabSz="466725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the field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653181" y="1031908"/>
            <a:ext cx="8547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4A206A"/>
                </a:solidFill>
                <a:latin typeface="KG HAPPY Solid" panose="02000000000000000000" pitchFamily="2" charset="0"/>
              </a:rPr>
              <a:t>FIRST PASS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295355" y="1958431"/>
            <a:ext cx="2478749" cy="0"/>
          </a:xfrm>
          <a:prstGeom prst="line">
            <a:avLst/>
          </a:prstGeom>
          <a:ln w="31750" cap="rnd">
            <a:solidFill>
              <a:schemeClr val="accent3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120698" y="2118884"/>
            <a:ext cx="432054" cy="432054"/>
          </a:xfrm>
          <a:prstGeom prst="ellipse">
            <a:avLst/>
          </a:prstGeom>
          <a:solidFill>
            <a:schemeClr val="bg1"/>
          </a:solidFill>
          <a:ln w="88900">
            <a:solidFill>
              <a:srgbClr val="CC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dirty="0">
                <a:solidFill>
                  <a:srgbClr val="CC3399"/>
                </a:solidFill>
                <a:latin typeface="KG HAPPY Solid" panose="02000000000000000000" pitchFamily="2" charset="0"/>
              </a:rPr>
              <a:t>1962</a:t>
            </a:r>
            <a:endParaRPr lang="id-ID" sz="1050" dirty="0">
              <a:solidFill>
                <a:srgbClr val="CC3399"/>
              </a:solidFill>
              <a:latin typeface="KG HAPPY Solid" panose="02000000000000000000" pitchFamily="2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40108" y="2270248"/>
            <a:ext cx="2228877" cy="684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lvl="1" indent="-85725" defTabSz="466725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Rosenblatt’s perceptron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lvl="1" indent="-85725" defTabSz="466725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its own weight values; convergence proof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50542" y="2013288"/>
            <a:ext cx="18419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CC3399"/>
                </a:solidFill>
                <a:latin typeface="KG HAPPY Solid" panose="02000000000000000000" pitchFamily="2" charset="0"/>
              </a:rPr>
              <a:t>LEARNING IMPROVEMENT</a:t>
            </a:r>
          </a:p>
        </p:txBody>
      </p:sp>
      <p:cxnSp>
        <p:nvCxnSpPr>
          <p:cNvPr id="85" name="Straight Connector 84"/>
          <p:cNvCxnSpPr/>
          <p:nvPr/>
        </p:nvCxnSpPr>
        <p:spPr>
          <a:xfrm>
            <a:off x="295355" y="2905956"/>
            <a:ext cx="2478749" cy="0"/>
          </a:xfrm>
          <a:prstGeom prst="line">
            <a:avLst/>
          </a:prstGeom>
          <a:ln w="31750" cap="rnd">
            <a:solidFill>
              <a:schemeClr val="accent3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120698" y="3079382"/>
            <a:ext cx="432054" cy="432054"/>
          </a:xfrm>
          <a:prstGeom prst="ellipse">
            <a:avLst/>
          </a:prstGeom>
          <a:solidFill>
            <a:schemeClr val="bg1"/>
          </a:solidFill>
          <a:ln w="889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dirty="0">
                <a:solidFill>
                  <a:schemeClr val="accent3"/>
                </a:solidFill>
                <a:latin typeface="KG HAPPY Solid" panose="02000000000000000000" pitchFamily="2" charset="0"/>
              </a:rPr>
              <a:t>1969</a:t>
            </a:r>
            <a:endParaRPr lang="id-ID" sz="1050" dirty="0">
              <a:solidFill>
                <a:schemeClr val="accent3"/>
              </a:solidFill>
              <a:latin typeface="KG HAPPY Solid" panose="02000000000000000000" pitchFamily="2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616233" y="3170397"/>
            <a:ext cx="2228877" cy="653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lvl="1" indent="-85725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Minsky &amp; </a:t>
            </a:r>
            <a:r>
              <a:rPr lang="en-US" alt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Papert</a:t>
            </a: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Proved limitations of single-layer perceptron networks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60081" y="2962971"/>
            <a:ext cx="15546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KG HAPPY Solid" panose="02000000000000000000" pitchFamily="2" charset="0"/>
              </a:rPr>
              <a:t>HOW ABOUT LAYERS?</a:t>
            </a:r>
          </a:p>
        </p:txBody>
      </p:sp>
      <p:cxnSp>
        <p:nvCxnSpPr>
          <p:cNvPr id="89" name="Straight Connector 88"/>
          <p:cNvCxnSpPr/>
          <p:nvPr/>
        </p:nvCxnSpPr>
        <p:spPr>
          <a:xfrm>
            <a:off x="295355" y="3830900"/>
            <a:ext cx="2478749" cy="0"/>
          </a:xfrm>
          <a:prstGeom prst="line">
            <a:avLst/>
          </a:prstGeom>
          <a:ln w="31750" cap="rnd">
            <a:solidFill>
              <a:schemeClr val="accent3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120698" y="3963512"/>
            <a:ext cx="432054" cy="432054"/>
          </a:xfrm>
          <a:prstGeom prst="ellipse">
            <a:avLst/>
          </a:prstGeom>
          <a:solidFill>
            <a:schemeClr val="bg1"/>
          </a:solidFill>
          <a:ln w="88900">
            <a:solidFill>
              <a:srgbClr val="4A2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dirty="0">
                <a:solidFill>
                  <a:srgbClr val="4A206A"/>
                </a:solidFill>
                <a:latin typeface="KG HAPPY Solid" panose="02000000000000000000" pitchFamily="2" charset="0"/>
              </a:rPr>
              <a:t>1982</a:t>
            </a:r>
            <a:endParaRPr lang="id-ID" sz="1050" dirty="0">
              <a:solidFill>
                <a:srgbClr val="4A206A"/>
              </a:solidFill>
              <a:latin typeface="KG HAPPY Solid" panose="02000000000000000000" pitchFamily="2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27037" y="4117878"/>
            <a:ext cx="2228877" cy="466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lvl="1" indent="-85725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Hopfield and convergence in symmetric networks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58043" y="3873158"/>
            <a:ext cx="14257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4A206A"/>
                </a:solidFill>
                <a:latin typeface="KG HAPPY Solid" panose="02000000000000000000" pitchFamily="2" charset="0"/>
              </a:rPr>
              <a:t>ENERGY FUNCTION </a:t>
            </a:r>
          </a:p>
        </p:txBody>
      </p:sp>
      <p:cxnSp>
        <p:nvCxnSpPr>
          <p:cNvPr id="93" name="Straight Connector 92"/>
          <p:cNvCxnSpPr/>
          <p:nvPr/>
        </p:nvCxnSpPr>
        <p:spPr>
          <a:xfrm>
            <a:off x="295355" y="4775093"/>
            <a:ext cx="2478749" cy="0"/>
          </a:xfrm>
          <a:prstGeom prst="line">
            <a:avLst/>
          </a:prstGeom>
          <a:ln w="31750" cap="rnd">
            <a:solidFill>
              <a:schemeClr val="accent3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20698" y="4946844"/>
            <a:ext cx="432054" cy="432054"/>
          </a:xfrm>
          <a:prstGeom prst="ellipse">
            <a:avLst/>
          </a:prstGeom>
          <a:solidFill>
            <a:schemeClr val="bg1"/>
          </a:solidFill>
          <a:ln w="889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dirty="0">
                <a:solidFill>
                  <a:schemeClr val="accent3"/>
                </a:solidFill>
                <a:latin typeface="KG HAPPY Solid" panose="02000000000000000000" pitchFamily="2" charset="0"/>
              </a:rPr>
              <a:t>1986</a:t>
            </a:r>
            <a:endParaRPr lang="id-ID" sz="1050" dirty="0">
              <a:solidFill>
                <a:schemeClr val="accent3"/>
              </a:solidFill>
              <a:latin typeface="KG HAPPY Solid" panose="02000000000000000000" pitchFamily="2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51824" y="5153855"/>
            <a:ext cx="2228877" cy="684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lvl="1" indent="-85725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of errors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" lvl="1" indent="-85725" defTabSz="4000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for training multilayer networks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35130" y="4838296"/>
            <a:ext cx="12218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KG HAPPY Solid" panose="02000000000000000000" pitchFamily="2" charset="0"/>
              </a:rPr>
              <a:t>MORE TUNNING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-69350" y="-231169"/>
            <a:ext cx="3459822" cy="223463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Box 1"/>
          <p:cNvSpPr txBox="1"/>
          <p:nvPr/>
        </p:nvSpPr>
        <p:spPr>
          <a:xfrm>
            <a:off x="6089478" y="1144733"/>
            <a:ext cx="26555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interpretations, Bayesian and spiking networks</a:t>
            </a:r>
          </a:p>
        </p:txBody>
      </p:sp>
      <p:cxnSp>
        <p:nvCxnSpPr>
          <p:cNvPr id="7" name="Straight Arrow Connector 6"/>
          <p:cNvCxnSpPr>
            <a:endCxn id="71" idx="0"/>
          </p:cNvCxnSpPr>
          <p:nvPr/>
        </p:nvCxnSpPr>
        <p:spPr>
          <a:xfrm>
            <a:off x="8404890" y="1694995"/>
            <a:ext cx="572575" cy="38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9DC8-CD40-4122-B140-1E83BC0B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6512"/>
            <a:ext cx="6172200" cy="15779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human brain work?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DEE-65FE-EB40-A6D9-C8DBBB984046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98860" y="1599996"/>
            <a:ext cx="8461988" cy="2833217"/>
          </a:xfrm>
        </p:spPr>
        <p:txBody>
          <a:bodyPr>
            <a:normAutofit fontScale="92500" lnSpcReduction="20000"/>
          </a:bodyPr>
          <a:lstStyle/>
          <a:p>
            <a:pPr marL="428625" indent="-428625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human brain, a typical neuron collects signals from others through a host of fine structures called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dendrites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28625" indent="-428625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 sends out spikes of electrical activity through a long, thin stand known as an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splits into thousands of branches. </a:t>
            </a:r>
          </a:p>
          <a:p>
            <a:pPr marL="428625" indent="-428625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each branch, a structure called a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synapse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converts the activity from the axon into electrical effects that inhibit or excite activity in the connected neurons. </a:t>
            </a:r>
          </a:p>
          <a:p>
            <a:pPr marL="428625" indent="-428625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neuron receives excitatory input that is sufficiently large compared with its inhibitory input, it sends a spike of electrical activity down its axon. </a:t>
            </a:r>
          </a:p>
          <a:p>
            <a:pPr marL="428625" indent="-428625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occurs by changing the effectiveness of the synapses so that the influence of one neuron on another changes.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7B0EBC0-169C-4A85-8BB6-0C32F850A1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83" r="12942"/>
          <a:stretch/>
        </p:blipFill>
        <p:spPr>
          <a:xfrm>
            <a:off x="905580" y="4033632"/>
            <a:ext cx="2620859" cy="17989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 descr="A close up of a map&#10;&#10;Description generated with high confidence">
            <a:extLst>
              <a:ext uri="{FF2B5EF4-FFF2-40B4-BE49-F238E27FC236}">
                <a16:creationId xmlns:a16="http://schemas.microsoft.com/office/drawing/2014/main" id="{02A530CB-491B-4D0F-AAB7-9E8055DC0E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00" r="20747"/>
          <a:stretch/>
        </p:blipFill>
        <p:spPr>
          <a:xfrm>
            <a:off x="6399394" y="3888426"/>
            <a:ext cx="2292602" cy="19441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9528F9-B07E-4B59-A576-8BC4587E3D18}"/>
              </a:ext>
            </a:extLst>
          </p:cNvPr>
          <p:cNvSpPr/>
          <p:nvPr/>
        </p:nvSpPr>
        <p:spPr>
          <a:xfrm>
            <a:off x="4223905" y="5741281"/>
            <a:ext cx="46369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https://becominghuman.ai/making-a-simple-neural-network-2ea1de81ec20</a:t>
            </a:r>
          </a:p>
        </p:txBody>
      </p:sp>
    </p:spTree>
    <p:extLst>
      <p:ext uri="{BB962C8B-B14F-4D97-AF65-F5344CB8AC3E}">
        <p14:creationId xmlns:p14="http://schemas.microsoft.com/office/powerpoint/2010/main" val="2183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Perceptrons were developed in the 1950s and 1960s by the scientist Frank Rosenblatt, inspired by earlier work by Warren McCulloch and Walter Pitts.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How do perceptron work? </a:t>
                </a:r>
              </a:p>
              <a:p>
                <a:pPr lvl="1"/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perceptron takes several binary inputs,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 and produces a single binary output:</a:t>
                </a:r>
              </a:p>
              <a:p>
                <a:pPr lvl="1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Rosenblatt proposed a simple rule to compute the output. He introduced weights,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 real numbers expressing the importance of the respective inputs to the output.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  <a:blipFill>
                <a:blip r:embed="rId2"/>
                <a:stretch>
                  <a:fillRect l="-1034" t="-928" r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0"/>
            <a:ext cx="27146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1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neuron's output, 0 or 1, is determined by whether the weighted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less than or greater than some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 value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can be mathematically shown as: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output=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𝑡h𝑟𝑒𝑠h𝑜𝑙𝑑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&gt;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𝑡h𝑟𝑒𝑠h𝑜𝑙𝑑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There is a festival in your city. You want to see if it is a good idea to go to the festival or not? You have some considerations: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weather good?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 your friend accompany you?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festival near public transit?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  <a:blipFill>
                <a:blip r:embed="rId2"/>
                <a:stretch>
                  <a:fillRect l="-886" t="-3944" r="-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57600" y="4800600"/>
                <a:ext cx="47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800600"/>
                <a:ext cx="471989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9200" y="5257800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257800"/>
                <a:ext cx="477310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99561" y="5698127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561" y="5698127"/>
                <a:ext cx="477310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91200" y="4985266"/>
                <a:ext cx="845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4985266"/>
                <a:ext cx="8453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endCxn id="7" idx="3"/>
          </p:cNvCxnSpPr>
          <p:nvPr/>
        </p:nvCxnSpPr>
        <p:spPr>
          <a:xfrm flipH="1" flipV="1">
            <a:off x="4129589" y="4985266"/>
            <a:ext cx="1585411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3"/>
          </p:cNvCxnSpPr>
          <p:nvPr/>
        </p:nvCxnSpPr>
        <p:spPr>
          <a:xfrm flipH="1">
            <a:off x="5506510" y="5333260"/>
            <a:ext cx="554051" cy="109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371830" y="5375455"/>
            <a:ext cx="897222" cy="507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82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all these conditions have equal impact on your decision? Maybe not. How can you show this difference?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make the threshold 5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output=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𝑖𝑓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&gt;5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changing the weight and threshold, the decision will be different.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if the network is more complex?</a:t>
                </a:r>
              </a:p>
              <a:p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28" y="1295622"/>
                <a:ext cx="8251772" cy="5257577"/>
              </a:xfrm>
              <a:blipFill>
                <a:blip r:embed="rId2"/>
                <a:stretch>
                  <a:fillRect l="-1034"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27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DEE-65FE-EB40-A6D9-C8DBBB984046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09588" y="4668854"/>
            <a:ext cx="3320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V="1">
            <a:off x="931244" y="2393683"/>
            <a:ext cx="0" cy="22751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14563" y="4700800"/>
            <a:ext cx="10828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house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5366" y="2151307"/>
            <a:ext cx="10828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of the house</a:t>
            </a:r>
          </a:p>
        </p:txBody>
      </p:sp>
      <p:sp>
        <p:nvSpPr>
          <p:cNvPr id="10" name="Oval 9"/>
          <p:cNvSpPr/>
          <p:nvPr/>
        </p:nvSpPr>
        <p:spPr>
          <a:xfrm>
            <a:off x="1934678" y="4112996"/>
            <a:ext cx="115503" cy="11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5" name="Oval 94"/>
          <p:cNvSpPr/>
          <p:nvPr/>
        </p:nvSpPr>
        <p:spPr>
          <a:xfrm>
            <a:off x="2569945" y="3009700"/>
            <a:ext cx="115503" cy="11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Oval 95"/>
          <p:cNvSpPr/>
          <p:nvPr/>
        </p:nvSpPr>
        <p:spPr>
          <a:xfrm>
            <a:off x="3414563" y="2636056"/>
            <a:ext cx="115503" cy="11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7" name="Oval 96"/>
          <p:cNvSpPr/>
          <p:nvPr/>
        </p:nvSpPr>
        <p:spPr>
          <a:xfrm>
            <a:off x="2050181" y="3471041"/>
            <a:ext cx="115503" cy="11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8" name="Oval 97"/>
          <p:cNvSpPr/>
          <p:nvPr/>
        </p:nvSpPr>
        <p:spPr>
          <a:xfrm>
            <a:off x="2994659" y="3615952"/>
            <a:ext cx="115503" cy="11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6157762" y="2641394"/>
            <a:ext cx="974558" cy="9745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5277050" y="3067451"/>
            <a:ext cx="88071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7132320" y="3077077"/>
            <a:ext cx="6858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175986" y="2592328"/>
            <a:ext cx="10828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house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40604" y="2524951"/>
            <a:ext cx="10828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of the house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57347" y="2938577"/>
            <a:ext cx="4403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66134" y="3413700"/>
            <a:ext cx="6912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56909" y="4280198"/>
            <a:ext cx="30815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 can be SVR, linear regression, decision tree, ….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670307" y="3186169"/>
            <a:ext cx="660533" cy="545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727156" y="3698776"/>
            <a:ext cx="14961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385145172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4" grpId="0"/>
      <p:bldP spid="105" grpId="0"/>
      <p:bldP spid="106" grpId="0"/>
      <p:bldP spid="107" grpId="0"/>
      <p:bldP spid="108" grpId="0"/>
      <p:bldP spid="1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2FDEE-65FE-EB40-A6D9-C8DBBB984046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09879" y="399423"/>
            <a:ext cx="6589200" cy="128089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layers</a:t>
            </a:r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821885" y="2047091"/>
            <a:ext cx="57395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more parameters are involved in price of the house?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708" y="2861807"/>
            <a:ext cx="57195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709" y="3258673"/>
            <a:ext cx="1423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bedrooms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837" y="3869603"/>
            <a:ext cx="1423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709" y="4342549"/>
            <a:ext cx="1423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5870" y="3485124"/>
            <a:ext cx="14237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26" name="Oval 25"/>
          <p:cNvSpPr/>
          <p:nvPr/>
        </p:nvSpPr>
        <p:spPr>
          <a:xfrm>
            <a:off x="6123224" y="3589483"/>
            <a:ext cx="541077" cy="580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664301" y="3845955"/>
            <a:ext cx="5332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941840" y="2857882"/>
            <a:ext cx="541077" cy="580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Oval 29"/>
          <p:cNvSpPr/>
          <p:nvPr/>
        </p:nvSpPr>
        <p:spPr>
          <a:xfrm>
            <a:off x="2979824" y="4260932"/>
            <a:ext cx="541077" cy="580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Arrow Connector 6"/>
          <p:cNvCxnSpPr>
            <a:stCxn id="21" idx="3"/>
          </p:cNvCxnSpPr>
          <p:nvPr/>
        </p:nvCxnSpPr>
        <p:spPr>
          <a:xfrm>
            <a:off x="1241659" y="3011848"/>
            <a:ext cx="1700181" cy="688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940033" y="3354584"/>
            <a:ext cx="1027191" cy="78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302029" y="4085578"/>
            <a:ext cx="1665196" cy="3322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4" idx="2"/>
          </p:cNvCxnSpPr>
          <p:nvPr/>
        </p:nvCxnSpPr>
        <p:spPr>
          <a:xfrm>
            <a:off x="1381603" y="4642631"/>
            <a:ext cx="1560237" cy="403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979824" y="3555854"/>
            <a:ext cx="541077" cy="580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44" name="Straight Arrow Connector 43"/>
          <p:cNvCxnSpPr>
            <a:endCxn id="40" idx="2"/>
          </p:cNvCxnSpPr>
          <p:nvPr/>
        </p:nvCxnSpPr>
        <p:spPr>
          <a:xfrm flipV="1">
            <a:off x="1302029" y="3845955"/>
            <a:ext cx="1677796" cy="1419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481171" y="3150014"/>
            <a:ext cx="2642053" cy="6123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26" idx="2"/>
          </p:cNvCxnSpPr>
          <p:nvPr/>
        </p:nvCxnSpPr>
        <p:spPr>
          <a:xfrm flipV="1">
            <a:off x="3520902" y="3879584"/>
            <a:ext cx="2602322" cy="127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26" idx="3"/>
          </p:cNvCxnSpPr>
          <p:nvPr/>
        </p:nvCxnSpPr>
        <p:spPr>
          <a:xfrm flipV="1">
            <a:off x="3560632" y="4084716"/>
            <a:ext cx="2641831" cy="537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45075" y="2905460"/>
            <a:ext cx="10395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size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1961" y="3635165"/>
            <a:ext cx="10395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1643" y="4172255"/>
            <a:ext cx="1431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616" y="6510683"/>
            <a:ext cx="14221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Deep learning by Andrew 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160" y="4884678"/>
            <a:ext cx="10828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18350" y="4978630"/>
            <a:ext cx="14098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28471" y="4500181"/>
            <a:ext cx="14098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377839512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9" grpId="0" animBg="1"/>
      <p:bldP spid="30" grpId="0" animBg="1"/>
      <p:bldP spid="40" grpId="0" animBg="1"/>
      <p:bldP spid="52" grpId="0"/>
      <p:bldP spid="53" grpId="0"/>
      <p:bldP spid="54" grpId="0"/>
      <p:bldP spid="56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295622"/>
            <a:ext cx="8251772" cy="525757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still have input and output here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types of activation function. Let us for now focus on one type of it called Sigmoid.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have multiple layers, the output of each layer will be the input of the next layer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training the model, we use back propagation method (more in Deep learning course)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0BB9B0-9493-431C-5DC5-901512842581}"/>
                  </a:ext>
                </a:extLst>
              </p:cNvPr>
              <p:cNvSpPr txBox="1"/>
              <p:nvPr/>
            </p:nvSpPr>
            <p:spPr>
              <a:xfrm>
                <a:off x="1115699" y="2667000"/>
                <a:ext cx="27913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0BB9B0-9493-431C-5DC5-901512842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99" y="2667000"/>
                <a:ext cx="2791326" cy="369332"/>
              </a:xfrm>
              <a:prstGeom prst="rect">
                <a:avLst/>
              </a:prstGeom>
              <a:blipFill>
                <a:blip r:embed="rId2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Image result for sigmoid function">
            <a:extLst>
              <a:ext uri="{FF2B5EF4-FFF2-40B4-BE49-F238E27FC236}">
                <a16:creationId xmlns:a16="http://schemas.microsoft.com/office/drawing/2014/main" id="{84EF5802-EAD0-2B5D-5538-9A577771D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263865"/>
            <a:ext cx="3009705" cy="200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77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11</a:t>
            </a:fld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438400" y="1828800"/>
            <a:ext cx="1705865" cy="1705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>
            <a:stCxn id="25" idx="0"/>
            <a:endCxn id="25" idx="4"/>
          </p:cNvCxnSpPr>
          <p:nvPr/>
        </p:nvCxnSpPr>
        <p:spPr>
          <a:xfrm>
            <a:off x="3291333" y="1828800"/>
            <a:ext cx="0" cy="1705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359144" y="2381145"/>
                <a:ext cx="1070293" cy="531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lang="en-US" sz="1100" dirty="0"/>
                                <m:t> </m:t>
                              </m:r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lim>
                      </m:limLow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144" y="2381145"/>
                <a:ext cx="1070293" cy="5318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284560" y="2371418"/>
                <a:ext cx="696088" cy="559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lim>
                      </m:limLow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560" y="2371418"/>
                <a:ext cx="696088" cy="5599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>
            <a:stCxn id="36" idx="3"/>
            <a:endCxn id="29" idx="1"/>
          </p:cNvCxnSpPr>
          <p:nvPr/>
        </p:nvCxnSpPr>
        <p:spPr>
          <a:xfrm flipV="1">
            <a:off x="1254310" y="2647051"/>
            <a:ext cx="1104834" cy="51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204500" y="3043130"/>
            <a:ext cx="1297542" cy="806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41" idx="3"/>
            <a:endCxn id="25" idx="3"/>
          </p:cNvCxnSpPr>
          <p:nvPr/>
        </p:nvCxnSpPr>
        <p:spPr>
          <a:xfrm flipV="1">
            <a:off x="1308168" y="3284847"/>
            <a:ext cx="1380050" cy="145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32605" y="2544753"/>
                <a:ext cx="5217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05" y="2544753"/>
                <a:ext cx="52170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80561" y="3658636"/>
                <a:ext cx="5217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61" y="3658636"/>
                <a:ext cx="52170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86463" y="4581919"/>
                <a:ext cx="5217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63" y="4581919"/>
                <a:ext cx="52170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endCxn id="51" idx="1"/>
          </p:cNvCxnSpPr>
          <p:nvPr/>
        </p:nvCxnSpPr>
        <p:spPr>
          <a:xfrm>
            <a:off x="4144265" y="2645855"/>
            <a:ext cx="1200075" cy="501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495368" y="3655634"/>
            <a:ext cx="1705865" cy="1705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43" idx="0"/>
            <a:endCxn id="43" idx="4"/>
          </p:cNvCxnSpPr>
          <p:nvPr/>
        </p:nvCxnSpPr>
        <p:spPr>
          <a:xfrm>
            <a:off x="3348301" y="3655634"/>
            <a:ext cx="0" cy="1705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2416112" y="4207979"/>
                <a:ext cx="1070293" cy="5318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lang="en-US" sz="1100" dirty="0"/>
                                <m:t> </m:t>
                              </m:r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lim>
                      </m:limLow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112" y="4207979"/>
                <a:ext cx="1070293" cy="5318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3341528" y="4198252"/>
                <a:ext cx="696088" cy="559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b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lim>
                      </m:limLow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528" y="4198252"/>
                <a:ext cx="696088" cy="5599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>
            <a:off x="1229110" y="2782616"/>
            <a:ext cx="1299900" cy="1407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45" idx="1"/>
          </p:cNvCxnSpPr>
          <p:nvPr/>
        </p:nvCxnSpPr>
        <p:spPr>
          <a:xfrm>
            <a:off x="1177536" y="3927002"/>
            <a:ext cx="1238576" cy="54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231825" y="4851766"/>
            <a:ext cx="1348759" cy="3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4183701" y="4114800"/>
            <a:ext cx="967789" cy="479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094522" y="2897816"/>
            <a:ext cx="1705865" cy="17058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/>
          <p:nvPr/>
        </p:nvCxnSpPr>
        <p:spPr>
          <a:xfrm>
            <a:off x="6065328" y="2906458"/>
            <a:ext cx="0" cy="17058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5015266" y="3450161"/>
                <a:ext cx="1185902" cy="4091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1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(2)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sz="11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266" y="3450161"/>
                <a:ext cx="1185902" cy="4091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047333" y="3406452"/>
                <a:ext cx="696088" cy="453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(2)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333" y="3406452"/>
                <a:ext cx="696088" cy="4532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>
            <a:off x="6803317" y="3759391"/>
            <a:ext cx="724378" cy="1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443927" y="2520245"/>
                <a:ext cx="481799" cy="3229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927" y="2520245"/>
                <a:ext cx="481799" cy="3229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4254122" y="4065413"/>
                <a:ext cx="481799" cy="3229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122" y="4065413"/>
                <a:ext cx="481799" cy="32297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800387" y="3296881"/>
                <a:ext cx="1117550" cy="3808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387" y="3296881"/>
                <a:ext cx="1117550" cy="380810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402054" y="1568236"/>
                <a:ext cx="1498872" cy="8242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054" y="1568236"/>
                <a:ext cx="1498872" cy="8242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096206" y="1619445"/>
                <a:ext cx="1087926" cy="8242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06" y="1619445"/>
                <a:ext cx="1087926" cy="824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ontent Placeholder 2"/>
          <p:cNvSpPr txBox="1">
            <a:spLocks/>
          </p:cNvSpPr>
          <p:nvPr/>
        </p:nvSpPr>
        <p:spPr>
          <a:xfrm>
            <a:off x="1241212" y="5541972"/>
            <a:ext cx="6852766" cy="6855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Concepts: Neuron(node), Activation function, weight, bias</a:t>
            </a:r>
          </a:p>
        </p:txBody>
      </p:sp>
    </p:spTree>
    <p:extLst>
      <p:ext uri="{BB962C8B-B14F-4D97-AF65-F5344CB8AC3E}">
        <p14:creationId xmlns:p14="http://schemas.microsoft.com/office/powerpoint/2010/main" val="5540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28" y="1295622"/>
            <a:ext cx="8251772" cy="525757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 and Versatility: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can learn and adapt to a wide range of tasks, making them versatile for various applications such as image recognition, natural language processing, and time series forecasting.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deep architectures and large datasets, neural networks can achieve high accuracy in complex pattern recognition tasks, often outperforming traditional machine learning algorithms.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Learning: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can automatically learn relevant features from raw data, reducing the need for manual feature engineering and making them suitable for tasks with unstructured data.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can be implemented to take advantage of parallel processing on GPUs and specialized hardware, leading to faster training and inference times for large-scale datasets.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properly trained and regularized, neural networks can generalize well to new, unseen data, reducing overfitting and improving performance on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63" y="1584735"/>
            <a:ext cx="8251772" cy="525757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Requirements: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require a significant amount of data for effective training, and performance may suffer if the dataset is small or biased.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Intensive: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Training deep neural networks can be computationally intensive, especially for complex models and large datasets. This can lead to long training times and high hardware requirements.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 Box Nature: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networks are often seen as black boxes, making it challenging to interpret and understand their internal decision-making processes, especially in complex deep architectures.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Overfitting: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proper regularization and validation techniques, neural networks are prone to overfitting, leading to poor generalization and performance on unseen data.</a:t>
            </a: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their complex nature, neural networks lack interpretability, which may be a critical factor in some applications, such as healthcare or legal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7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BA486-B418-04D6-694C-B6F349112259}"/>
              </a:ext>
            </a:extLst>
          </p:cNvPr>
          <p:cNvSpPr txBox="1"/>
          <p:nvPr/>
        </p:nvSpPr>
        <p:spPr>
          <a:xfrm>
            <a:off x="763376" y="1752600"/>
            <a:ext cx="79655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pd </a:t>
            </a: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model_selection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neural_network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MLPClassifier</a:t>
            </a:r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metrics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endParaRPr lang="en-US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metrics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preprocessing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normalize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[[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0.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0.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1.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1.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]]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MLPClassifier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solver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lbfgs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alpha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1e-5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hidden_layer_sizes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Python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830AC-CD1A-2248-D188-0926EA812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84040"/>
            <a:ext cx="5181600" cy="7966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5C6B05-EFAF-A792-D344-B705F78579F2}"/>
              </a:ext>
            </a:extLst>
          </p:cNvPr>
          <p:cNvSpPr txBox="1"/>
          <p:nvPr/>
        </p:nvSpPr>
        <p:spPr>
          <a:xfrm>
            <a:off x="685800" y="5872772"/>
            <a:ext cx="6858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5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2.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2.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[-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1.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5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2.</a:t>
            </a:r>
            <a:r>
              <a:rPr lang="en-US" sz="15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]])</a:t>
            </a:r>
            <a:endParaRPr lang="en-US" sz="150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B0BFE7-6775-7993-39A4-FDF847E9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06" y="6324600"/>
            <a:ext cx="1733639" cy="28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9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BA486-B418-04D6-694C-B6F349112259}"/>
              </a:ext>
            </a:extLst>
          </p:cNvPr>
          <p:cNvSpPr txBox="1"/>
          <p:nvPr/>
        </p:nvSpPr>
        <p:spPr>
          <a:xfrm>
            <a:off x="763376" y="1752600"/>
            <a:ext cx="7965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read_csv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diabetes.csv’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head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C82120-33DD-A83F-C2BC-7EECA17A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83" y="2675930"/>
            <a:ext cx="7922176" cy="1845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7652B7-D32E-FFF9-2340-06AB48D61B1E}"/>
              </a:ext>
            </a:extLst>
          </p:cNvPr>
          <p:cNvSpPr txBox="1"/>
          <p:nvPr/>
        </p:nvSpPr>
        <p:spPr>
          <a:xfrm>
            <a:off x="1104900" y="4819549"/>
            <a:ext cx="693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drop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columns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=[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'Outcome'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]).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'Outcome'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normalize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496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C0589-A9B8-A027-88A2-2880E10E0D0E}"/>
              </a:ext>
            </a:extLst>
          </p:cNvPr>
          <p:cNvSpPr txBox="1"/>
          <p:nvPr/>
        </p:nvSpPr>
        <p:spPr>
          <a:xfrm>
            <a:off x="571500" y="1524000"/>
            <a:ext cx="8001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0.20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43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sz="1800" b="1" dirty="0">
              <a:solidFill>
                <a:srgbClr val="00008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MLPClassifier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hidden_layer_sizes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activation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'logistic'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solver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adam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max_iter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500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sz="1800" b="1" dirty="0">
              <a:solidFill>
                <a:srgbClr val="00008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sz="1800" b="1" dirty="0">
              <a:solidFill>
                <a:srgbClr val="00008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r>
              <a:rPr lang="en-US" sz="18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1D9084-780D-E69E-6B62-4BB6056D2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663321"/>
            <a:ext cx="4835168" cy="20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849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C0589-A9B8-A027-88A2-2880E10E0D0E}"/>
              </a:ext>
            </a:extLst>
          </p:cNvPr>
          <p:cNvSpPr txBox="1"/>
          <p:nvPr/>
        </p:nvSpPr>
        <p:spPr>
          <a:xfrm>
            <a:off x="571500" y="1524000"/>
            <a:ext cx="8001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MLPClassifier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hidden_layer_sizes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activation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solver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adam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max_iter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500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clf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confusion_matrix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classification_report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y_predict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US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A680D-1474-E411-517B-9ED56F80C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06" y="3898064"/>
            <a:ext cx="5867400" cy="243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33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DE310-A629-FF06-322C-B306E9DC6EC6}"/>
              </a:ext>
            </a:extLst>
          </p:cNvPr>
          <p:cNvSpPr txBox="1"/>
          <p:nvPr/>
        </p:nvSpPr>
        <p:spPr>
          <a:xfrm>
            <a:off x="803717" y="1152908"/>
            <a:ext cx="78191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ibrary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neuralnet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library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dplyr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 </a:t>
            </a:r>
            <a:r>
              <a:rPr lang="en-US" sz="1800" dirty="0">
                <a:solidFill>
                  <a:srgbClr val="804000"/>
                </a:solidFill>
                <a:effectLst/>
                <a:latin typeface="Courier New" panose="02070309020205020404" pitchFamily="49" charset="0"/>
              </a:rPr>
              <a:t>%&gt;%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mutate_if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is.character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as.factor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set.seed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245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data_rows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floor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0.80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nrow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train_indices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sample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c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nrow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data_rows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train_data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train_indices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test_data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iris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train_indices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neuralnet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Species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~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Sepal.Length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Sepal.Width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Petal.Length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Petal.Width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data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train_data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hidden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c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linear.output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plot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model,</a:t>
            </a:r>
            <a:r>
              <a:rPr lang="en-US" sz="18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rep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"best"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0335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FA5F7C-7904-6544-6F48-5A6E131B7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2174"/>
            <a:ext cx="7946972" cy="548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78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54DCC-3AE2-2C35-11E4-4B653EFF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A7AC25-6725-4FB7-9EB3-C0E49951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962" y="438484"/>
            <a:ext cx="6589199" cy="8236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23873-7B63-1E26-7B8C-BBF1FE5B513E}"/>
              </a:ext>
            </a:extLst>
          </p:cNvPr>
          <p:cNvSpPr txBox="1"/>
          <p:nvPr/>
        </p:nvSpPr>
        <p:spPr>
          <a:xfrm>
            <a:off x="511228" y="1447800"/>
            <a:ext cx="72035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test_data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labels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c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setosa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"versicolor"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virginca</a:t>
            </a:r>
            <a:r>
              <a:rPr lang="en-US" sz="1800" dirty="0">
                <a:solidFill>
                  <a:srgbClr val="808080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prediction_label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data.frame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max.col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4000"/>
                </a:solidFill>
                <a:effectLst/>
                <a:latin typeface="Courier New" panose="02070309020205020404" pitchFamily="49" charset="0"/>
              </a:rPr>
              <a:t>%&gt;%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mutate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labels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max.col.pred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4000"/>
                </a:solidFill>
                <a:effectLst/>
                <a:latin typeface="Courier New" panose="02070309020205020404" pitchFamily="49" charset="0"/>
              </a:rPr>
              <a:t>%&gt;%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select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804000"/>
                </a:solidFill>
                <a:effectLst/>
                <a:latin typeface="Courier New" panose="02070309020205020404" pitchFamily="49" charset="0"/>
              </a:rPr>
              <a:t>%&gt;%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unlist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test_data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$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Species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prediction_label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check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as.numeric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test_data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$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Species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max.col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check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)/</a:t>
            </a:r>
            <a:r>
              <a:rPr lang="en-US" sz="1800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nrow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test_data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))*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sz="1800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accuracy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1D47D-8B72-EB03-ABCF-4BAE48921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94" y="5159012"/>
            <a:ext cx="3200400" cy="8256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2A7480-1105-3EEA-5978-9751B37D47D3}"/>
              </a:ext>
            </a:extLst>
          </p:cNvPr>
          <p:cNvSpPr txBox="1"/>
          <p:nvPr/>
        </p:nvSpPr>
        <p:spPr>
          <a:xfrm rot="19713366">
            <a:off x="5181600" y="5410200"/>
            <a:ext cx="21336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Accuracy: 90%</a:t>
            </a:r>
          </a:p>
        </p:txBody>
      </p:sp>
    </p:spTree>
    <p:extLst>
      <p:ext uri="{BB962C8B-B14F-4D97-AF65-F5344CB8AC3E}">
        <p14:creationId xmlns:p14="http://schemas.microsoft.com/office/powerpoint/2010/main" val="37125490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167A7-6AD6-4783-AE46-F068B4D7D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169D9B-B8D9-436B-8527-D376E6DD519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993DC9D-F418-4417-A373-1544C18AAB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16715</TotalTime>
  <Words>1635</Words>
  <Application>Microsoft Office PowerPoint</Application>
  <PresentationFormat>On-screen Show (4:3)</PresentationFormat>
  <Paragraphs>219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Cambria Math</vt:lpstr>
      <vt:lpstr>Century Gothic</vt:lpstr>
      <vt:lpstr>Courier New</vt:lpstr>
      <vt:lpstr>KG HAPPY Solid</vt:lpstr>
      <vt:lpstr>Times New Roman</vt:lpstr>
      <vt:lpstr>Wingdings</vt:lpstr>
      <vt:lpstr>Wingdings 3</vt:lpstr>
      <vt:lpstr>Wisp</vt:lpstr>
      <vt:lpstr>Machine Learning</vt:lpstr>
      <vt:lpstr>Neural Networks</vt:lpstr>
      <vt:lpstr>PowerPoint Presentation</vt:lpstr>
      <vt:lpstr>How does human brain work?</vt:lpstr>
      <vt:lpstr>Perceptron</vt:lpstr>
      <vt:lpstr>Perceptron</vt:lpstr>
      <vt:lpstr>Perceptron- Example</vt:lpstr>
      <vt:lpstr>Example</vt:lpstr>
      <vt:lpstr>More layers</vt:lpstr>
      <vt:lpstr>How does it work?</vt:lpstr>
      <vt:lpstr>Sample NN</vt:lpstr>
      <vt:lpstr>Advantages</vt:lpstr>
      <vt:lpstr>Disadvantages</vt:lpstr>
      <vt:lpstr>Coding Python</vt:lpstr>
      <vt:lpstr>Coding Python</vt:lpstr>
      <vt:lpstr>Coding Python</vt:lpstr>
      <vt:lpstr>Coding Python</vt:lpstr>
      <vt:lpstr>Coding R</vt:lpstr>
      <vt:lpstr>Coding R</vt:lpstr>
      <vt:lpstr>Coding R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714</cp:revision>
  <cp:lastPrinted>2018-06-11T17:11:55Z</cp:lastPrinted>
  <dcterms:created xsi:type="dcterms:W3CDTF">2016-06-23T19:27:44Z</dcterms:created>
  <dcterms:modified xsi:type="dcterms:W3CDTF">2023-08-02T16:05:27Z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