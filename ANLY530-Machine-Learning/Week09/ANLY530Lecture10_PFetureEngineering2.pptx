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notesMasterIdLst>
    <p:notesMasterId r:id="rId48"/>
  </p:notesMasterIdLst>
  <p:handoutMasterIdLst>
    <p:handoutMasterId r:id="rId49"/>
  </p:handoutMasterIdLst>
  <p:sldIdLst>
    <p:sldId id="256" r:id="rId5"/>
    <p:sldId id="257" r:id="rId6"/>
    <p:sldId id="259" r:id="rId7"/>
    <p:sldId id="260" r:id="rId8"/>
    <p:sldId id="262" r:id="rId9"/>
    <p:sldId id="261" r:id="rId10"/>
    <p:sldId id="258" r:id="rId11"/>
    <p:sldId id="330" r:id="rId12"/>
    <p:sldId id="280" r:id="rId13"/>
    <p:sldId id="331" r:id="rId14"/>
    <p:sldId id="332" r:id="rId15"/>
    <p:sldId id="333" r:id="rId16"/>
    <p:sldId id="263" r:id="rId17"/>
    <p:sldId id="265" r:id="rId18"/>
    <p:sldId id="286" r:id="rId19"/>
    <p:sldId id="329" r:id="rId20"/>
    <p:sldId id="334" r:id="rId21"/>
    <p:sldId id="335" r:id="rId22"/>
    <p:sldId id="336" r:id="rId23"/>
    <p:sldId id="337" r:id="rId24"/>
    <p:sldId id="287" r:id="rId25"/>
    <p:sldId id="288" r:id="rId26"/>
    <p:sldId id="289" r:id="rId27"/>
    <p:sldId id="296" r:id="rId28"/>
    <p:sldId id="303" r:id="rId29"/>
    <p:sldId id="304" r:id="rId30"/>
    <p:sldId id="305" r:id="rId31"/>
    <p:sldId id="309" r:id="rId32"/>
    <p:sldId id="310" r:id="rId33"/>
    <p:sldId id="311" r:id="rId34"/>
    <p:sldId id="312" r:id="rId35"/>
    <p:sldId id="313" r:id="rId36"/>
    <p:sldId id="315" r:id="rId37"/>
    <p:sldId id="316" r:id="rId38"/>
    <p:sldId id="317" r:id="rId39"/>
    <p:sldId id="328" r:id="rId40"/>
    <p:sldId id="338" r:id="rId41"/>
    <p:sldId id="339" r:id="rId42"/>
    <p:sldId id="297" r:id="rId43"/>
    <p:sldId id="301" r:id="rId44"/>
    <p:sldId id="298" r:id="rId45"/>
    <p:sldId id="300" r:id="rId46"/>
    <p:sldId id="302" r:id="rId4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6" autoAdjust="0"/>
    <p:restoredTop sz="90233" autoAdjust="0"/>
  </p:normalViewPr>
  <p:slideViewPr>
    <p:cSldViewPr>
      <p:cViewPr varScale="1">
        <p:scale>
          <a:sx n="95" d="100"/>
          <a:sy n="95" d="100"/>
        </p:scale>
        <p:origin x="22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70" y="-77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116E695-EEC6-4836-B040-895557B78F57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7B6B2A4-95D1-4DB0-81E0-F4335691F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07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83F5D42-D8C1-4DAB-B388-35B930361576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2D4B71-1EF1-4D07-950D-945192FC5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5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5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610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71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933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670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914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4C6CD-949A-441E-9AE4-96D0CA63E7FD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379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7859-DB17-4429-8F7A-829326E85BB1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B889C-3934-4CE0-BFCE-67AE274D8C08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B99F-CD01-4ADC-93D5-08EC17C58E5B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4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D661-B915-4098-8E82-6CCD19CE895A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3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A355-047F-4CE2-9B16-E019B1D3FDF0}" type="datetime1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02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96D4-20E1-46C9-9B29-CB1B77BAA0B5}" type="datetime1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E303-926A-4DF4-9AB4-F4876BA90FDE}" type="datetime1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4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B1D71-7DF6-4B1A-B9B3-8B340648500E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4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E41F-5EDC-48A1-800D-C01F09938108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3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64F1-0C57-4D34-86B8-D09B01EF6894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8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950D-BF04-4634-B6AB-37AA0D07D41C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954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68D3-729E-4275-910F-5564270E0BD2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45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68D3-D7CA-4D12-85CF-C74F33532CB7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2890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47F-1D03-4642-97ED-AE47261B87C3}" type="datetime1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1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07E5-BB55-4FF5-94D4-BBE47E3E1370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19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7D93-4EC5-4FD5-B7AA-15400724051C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7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B1ECC-06F5-4A70-9B9C-82B540054A16}" type="datetime1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.png"/><Relationship Id="rId5" Type="http://schemas.openxmlformats.org/officeDocument/2006/relationships/image" Target="../media/image140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 10 – Feature Engineering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9947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Principal Component Analysis (PCA)?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Factor Analysis?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Linear Discriminant Analysis (LDA)?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Feature Selection?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5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7"/>
            <a:ext cx="8229600" cy="10656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Eigenvectors and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715000"/>
              </a:xfrm>
            </p:spPr>
            <p:txBody>
              <a:bodyPr>
                <a:normAutofit fontScale="92500" lnSpcReduction="20000"/>
              </a:bodyPr>
              <a:lstStyle/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1" i="1" smtClean="0">
                          <a:latin typeface="Cambria Math"/>
                          <a:ea typeface="Calibri"/>
                          <a:cs typeface="Times New Roman"/>
                        </a:rPr>
                        <m:t>𝑨</m:t>
                      </m:r>
                      <m:acc>
                        <m:accPr>
                          <m:chr m:val="⃗"/>
                          <m:ctrlPr>
                            <a:rPr lang="en-US" sz="34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400" b="1" i="1"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𝒗</m:t>
                          </m:r>
                        </m:e>
                      </m:acc>
                      <m:r>
                        <a:rPr lang="en-US" sz="3400" b="1" i="1"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US" sz="3400" b="1" i="1"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𝝀</m:t>
                      </m:r>
                      <m:r>
                        <a:rPr lang="en-US" sz="3400" b="1" i="1"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34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400" b="1" i="1"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sz="3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A is a square matrix, λ is a scalar,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eigenvector. </a:t>
                </a: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libri"/>
                          <a:cs typeface="Times New Roman"/>
                        </a:rPr>
                        <m:t>𝐴</m:t>
                      </m:r>
                      <m:r>
                        <a:rPr lang="en-US" b="0" i="1" smtClean="0">
                          <a:latin typeface="Cambria Math"/>
                          <a:ea typeface="Calibri"/>
                          <a:cs typeface="Times New Roman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  <a:cs typeface="Times New Roman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  <a:cs typeface="Times New Roman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l-G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the same as:</a:t>
                </a: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λ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λ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do some algebra and solve for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2 −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trick is that for this system to have a nonzero vector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determinant of the coefficient matrix </a:t>
                </a:r>
                <a:r>
                  <a:rPr lang="en-US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be zero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That is, </a:t>
                </a: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715000"/>
              </a:xfrm>
              <a:blipFill>
                <a:blip r:embed="rId3"/>
                <a:stretch>
                  <a:fillRect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Eigenvectors and Eigenvalues Cont’d.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166360"/>
              </a:xfrm>
            </p:spPr>
            <p:txBody>
              <a:bodyPr>
                <a:normAutofit lnSpcReduction="10000"/>
              </a:bodyPr>
              <a:lstStyle/>
              <a:p>
                <a:pPr marL="13716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2 −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/>
                                  </a:rPr>
                                  <m:t>λ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(2 −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/>
                                  </a:rPr>
                                  <m:t>λ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spcAft>
                    <a:spcPts val="600"/>
                  </a:spcAft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have a determinant equal to zero.  </a:t>
                </a: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2 −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/>
                                  </a:rPr>
                                  <m:t>λ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(2 −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/>
                                  </a:rPr>
                                  <m:t>λ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solve:</a:t>
                </a: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−1∗1=0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/>
                            </a:rPr>
                            <m:t>λ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−4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λ</m:t>
                      </m:r>
                      <m:r>
                        <a:rPr lang="en-US" b="0" i="1" smtClean="0">
                          <a:latin typeface="Cambria Math"/>
                        </a:rPr>
                        <m:t>+3=0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two values of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i.e. two eigenvalues that satisfy this equation: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=3,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=1. 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Plug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back into the original equations to find the corresponding eigenvectors.</a:t>
                </a:r>
              </a:p>
              <a:p>
                <a:pPr marL="13716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2−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dirty="0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2−3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therefore: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dirty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2−</m:t>
                        </m:r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therefore: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166360"/>
              </a:xfr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1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36464" y="1219200"/>
                <a:ext cx="5715000" cy="2362200"/>
              </a:xfrm>
            </p:spPr>
            <p:txBody>
              <a:bodyPr/>
              <a:lstStyle/>
              <a:p>
                <a:pPr marL="137160" lvl="0" indent="0"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/>
                  <a:ea typeface="Calibri"/>
                  <a:cs typeface="Times New Roman"/>
                </a:endParaRPr>
              </a:p>
              <a:p>
                <a:pPr marL="137160" lvl="0" indent="0"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𝑣</m:t>
                          </m:r>
                        </m:e>
                      </m:acc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𝜆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libri"/>
                          <a:cs typeface="Times New Roman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libri"/>
                              <a:cs typeface="Times New Roman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 lvl="0" indent="0">
                  <a:buClr>
                    <a:prstClr val="white">
                      <a:shade val="95000"/>
                    </a:prst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2000" i="1">
                          <a:solidFill>
                            <a:schemeClr val="tx1"/>
                          </a:solidFill>
                          <a:latin typeface="Cambria Math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6464" y="1219200"/>
                <a:ext cx="5715000" cy="236220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26864" y="3352800"/>
                <a:ext cx="2713179" cy="2656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λ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l-G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λ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chemeClr val="tx1"/>
                          </a:solidFill>
                        </a:rPr>
                        <m:t>0.7071068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chemeClr val="tx1"/>
                          </a:solidFill>
                        </a:rPr>
                        <m:t>0.7071068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spcBef>
                    <a:spcPct val="20000"/>
                  </a:spcBef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.7071068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0.7071068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864" y="3352800"/>
                <a:ext cx="2713179" cy="26568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70264" y="3352800"/>
                <a:ext cx="2719142" cy="33339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λ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λ</m:t>
                          </m:r>
                        </m:e>
                        <m:sub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−0.7071068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chemeClr val="tx1"/>
                          </a:solidFill>
                        </a:rPr>
                        <m:t>0.7071068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0.7071068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0.7071068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137160">
                  <a:lnSpc>
                    <a:spcPct val="15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prstClr val="white">
                      <a:shade val="95000"/>
                    </a:prstClr>
                  </a:buClr>
                  <a:buSzPct val="65000"/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264" y="3352800"/>
                <a:ext cx="2719142" cy="33339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45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" y="152400"/>
            <a:ext cx="8458200" cy="8794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Eigenvalues and Eigenvectors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694232"/>
            <a:ext cx="4114800" cy="4191000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A=matrix(c(2,1,1,2),ncol=2)</a:t>
            </a:r>
          </a:p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</a:t>
            </a:r>
          </a:p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[,1] [,2]</a:t>
            </a:r>
          </a:p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[1,]    2    1</a:t>
            </a:r>
          </a:p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[2,]    1    2</a:t>
            </a:r>
          </a:p>
          <a:p>
            <a:pPr marL="13716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ea=eigen(A)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G=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ea$vectors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[,1]       [,2]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[1,] 0.7071068 -0.7071068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[2,] 0.7071068  0.7071068</a:t>
            </a:r>
          </a:p>
          <a:p>
            <a:pPr marL="13716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11228" y="1694232"/>
            <a:ext cx="4114800" cy="4554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np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matrix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'2 1;1 2'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eigen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linalg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eig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eigen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[0]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eigen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[1]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137160" indent="0">
              <a:buFont typeface="Wingdings 3" charset="2"/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71600" y="1134435"/>
            <a:ext cx="12954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Font typeface="Wingdings 3" charset="2"/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791200" y="1237032"/>
            <a:ext cx="12954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Font typeface="Wingdings 3" charset="2"/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18288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27" y="4538004"/>
            <a:ext cx="1257300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91" y="5409528"/>
            <a:ext cx="3456583" cy="4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Conducting a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45915"/>
              </a:xfrm>
            </p:spPr>
            <p:txBody>
              <a:bodyPr>
                <a:normAutofit/>
              </a:bodyPr>
              <a:lstStyle/>
              <a:p>
                <a:pPr marL="651510" lvl="0" indent="-51435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Standardize the data</a:t>
                </a:r>
              </a:p>
              <a:p>
                <a:pPr marL="651510" lvl="0" indent="-51435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the eigenvalues and corresponding eigenvectors</a:t>
                </a:r>
              </a:p>
              <a:p>
                <a:pPr marL="651510" lvl="0" indent="-51435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eigenvalues in descending order and select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𝒌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use.  Choose the corresponding eigenvectors.</a:t>
                </a:r>
              </a:p>
              <a:p>
                <a:pPr marL="651510" lvl="0" indent="-51435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the project matrix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𝑾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selected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𝒌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eigenvectors.</a:t>
                </a:r>
              </a:p>
              <a:p>
                <a:pPr marL="651510" lvl="0" indent="-514350">
                  <a:buFont typeface="+mj-lt"/>
                  <a:buAutoNum type="arabi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 the original dataset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𝑿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via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𝑾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obtain a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𝒌</m:t>
                    </m:r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</a:rPr>
                      <m:t>𝑑𝑖𝑚𝑒𝑛𝑠𝑖𝑜𝑛𝑎𝑙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subspace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𝒀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45915"/>
              </a:xfrm>
              <a:blipFill>
                <a:blip r:embed="rId2"/>
                <a:stretch>
                  <a:fillRect t="-1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6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Graphically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676401"/>
            <a:ext cx="2865359" cy="2895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79" y="4724400"/>
            <a:ext cx="2667000" cy="616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39800" y="6581001"/>
            <a:ext cx="3886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http://setosa.io/ev/principal-component-analysis/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423" y="1667165"/>
            <a:ext cx="2865359" cy="2850118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4419600" y="2817941"/>
            <a:ext cx="820200" cy="306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707" y="4830979"/>
            <a:ext cx="2567821" cy="4979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23982" y="5460853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lose much by dropping PC2 since it contributes the least to the variation in the data set.</a:t>
            </a:r>
          </a:p>
        </p:txBody>
      </p:sp>
    </p:spTree>
    <p:extLst>
      <p:ext uri="{BB962C8B-B14F-4D97-AF65-F5344CB8AC3E}">
        <p14:creationId xmlns:p14="http://schemas.microsoft.com/office/powerpoint/2010/main" val="426674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463989"/>
            <a:ext cx="7789120" cy="377762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Dissects and ranks the correlational structure of multivariable data.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reduce the dimensionality of a dataset while preserving all or most of the variance in the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components derived are independent and orthogonal.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19" y="3276600"/>
            <a:ext cx="8374098" cy="330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5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1796"/>
            <a:ext cx="7086600" cy="8794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in Python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96790" y="1447800"/>
            <a:ext cx="7032572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6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endParaRPr lang="en-US" sz="16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73699" y="3810000"/>
            <a:ext cx="703257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preprocessing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scale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scale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137160" indent="0">
              <a:buFont typeface="Wingdings 3" charset="2"/>
              <a:buNone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03717" y="5181600"/>
            <a:ext cx="7032572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decomposition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PCA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pca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n_components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PC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pca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137160" indent="0">
              <a:buFont typeface="Wingdings 3" charset="2"/>
              <a:buNone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3"/>
          <p:cNvSpPr>
            <a:spLocks noGrp="1"/>
          </p:cNvSpPr>
          <p:nvPr>
            <p:ph idx="1"/>
          </p:nvPr>
        </p:nvSpPr>
        <p:spPr>
          <a:xfrm>
            <a:off x="821480" y="3352801"/>
            <a:ext cx="7789120" cy="4572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data</a:t>
            </a:r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828407" y="4629727"/>
            <a:ext cx="778912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PCA</a:t>
            </a:r>
          </a:p>
        </p:txBody>
      </p:sp>
    </p:spTree>
    <p:extLst>
      <p:ext uri="{BB962C8B-B14F-4D97-AF65-F5344CB8AC3E}">
        <p14:creationId xmlns:p14="http://schemas.microsoft.com/office/powerpoint/2010/main" val="341930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build="p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1796"/>
            <a:ext cx="7086600" cy="8794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96790" y="1447800"/>
            <a:ext cx="7032572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Content Placeholder 3"/>
          <p:cNvSpPr>
            <a:spLocks noGrp="1"/>
          </p:cNvSpPr>
          <p:nvPr>
            <p:ph idx="1"/>
          </p:nvPr>
        </p:nvSpPr>
        <p:spPr>
          <a:xfrm>
            <a:off x="773699" y="1229108"/>
            <a:ext cx="7789120" cy="4572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Components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7539"/>
            <a:ext cx="19127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components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endParaRPr lang="en-US" sz="1600" dirty="0"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9810" y="3611859"/>
            <a:ext cx="36407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explained_variance_ratio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endParaRPr lang="en-US" sz="1600" dirty="0">
              <a:effectLst/>
            </a:endParaRPr>
          </a:p>
        </p:txBody>
      </p:sp>
      <p:sp>
        <p:nvSpPr>
          <p:cNvPr id="16" name="Content Placeholder 3"/>
          <p:cNvSpPr txBox="1">
            <a:spLocks/>
          </p:cNvSpPr>
          <p:nvPr/>
        </p:nvSpPr>
        <p:spPr>
          <a:xfrm>
            <a:off x="914400" y="3025130"/>
            <a:ext cx="778912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in components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55" y="4099187"/>
            <a:ext cx="3459045" cy="484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755" y="2203185"/>
            <a:ext cx="5091967" cy="471236"/>
          </a:xfrm>
          <a:prstGeom prst="rect">
            <a:avLst/>
          </a:prstGeom>
        </p:spPr>
      </p:pic>
      <p:sp>
        <p:nvSpPr>
          <p:cNvPr id="17" name="Content Placeholder 3"/>
          <p:cNvSpPr txBox="1">
            <a:spLocks/>
          </p:cNvSpPr>
          <p:nvPr/>
        </p:nvSpPr>
        <p:spPr>
          <a:xfrm>
            <a:off x="945148" y="4959026"/>
            <a:ext cx="778912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 for all the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3735" y="5514353"/>
            <a:ext cx="41344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New_feats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pca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fit_transform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206531"/>
            <a:ext cx="25527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0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1796"/>
            <a:ext cx="7086600" cy="8794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96790" y="1447800"/>
            <a:ext cx="7032572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5867400" y="6537317"/>
            <a:ext cx="31486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https://towardsdatascience.com/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5577" y="1447800"/>
            <a:ext cx="81534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pyplot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principalDf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data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principalComponents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columns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1'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2'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finalDf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concat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([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principalDf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IRIS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'Species'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]]],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axis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fig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8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8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ax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add_subplot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set_xlabel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1'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15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set_ylabel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2'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15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set_title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'2 component PCA'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targets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colors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'r'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'g'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'b'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target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color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zip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colors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indicesToKeep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finalDf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'Species'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target </a:t>
            </a:r>
          </a:p>
          <a:p>
            <a:pPr lvl="1"/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scatter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finalDf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indicesToKeep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1'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finalDf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indicesToKeep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'principal component 2'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color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50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setosa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'versicolor'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virginica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grid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sz="1400" dirty="0">
              <a:effectLst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1621392"/>
            <a:ext cx="4140200" cy="408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0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879" y="1981200"/>
            <a:ext cx="2895600" cy="52879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in 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57053" y="1139053"/>
            <a:ext cx="586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#Load data</a:t>
            </a:r>
          </a:p>
          <a:p>
            <a:r>
              <a:rPr lang="en-US" dirty="0"/>
              <a:t>data(iris)</a:t>
            </a:r>
          </a:p>
          <a:p>
            <a:r>
              <a:rPr lang="en-US" dirty="0"/>
              <a:t>head(iris)</a:t>
            </a:r>
          </a:p>
          <a:p>
            <a:endParaRPr lang="en-US" dirty="0"/>
          </a:p>
          <a:p>
            <a:r>
              <a:rPr lang="en-US" dirty="0"/>
              <a:t>log.ir &lt;- iris[,1:4]       # All but target</a:t>
            </a:r>
          </a:p>
          <a:p>
            <a:r>
              <a:rPr lang="en-US" dirty="0" err="1"/>
              <a:t>ir.species</a:t>
            </a:r>
            <a:r>
              <a:rPr lang="en-US" dirty="0"/>
              <a:t> &lt;- iris[, 5]   # target</a:t>
            </a:r>
          </a:p>
          <a:p>
            <a:endParaRPr lang="en-US" dirty="0"/>
          </a:p>
          <a:p>
            <a:r>
              <a:rPr lang="en-US" dirty="0"/>
              <a:t>#apply PCA - scale. = TRUE is highly</a:t>
            </a:r>
          </a:p>
          <a:p>
            <a:r>
              <a:rPr lang="en-US" dirty="0"/>
              <a:t>#advisable, but default is FALSE.</a:t>
            </a:r>
          </a:p>
          <a:p>
            <a:r>
              <a:rPr lang="en-US" dirty="0" err="1"/>
              <a:t>ir.pca</a:t>
            </a:r>
            <a:r>
              <a:rPr lang="en-US" dirty="0"/>
              <a:t> </a:t>
            </a:r>
            <a:r>
              <a:rPr lang="en-US" u="sng" dirty="0"/>
              <a:t>&lt;- </a:t>
            </a:r>
            <a:r>
              <a:rPr lang="en-US" u="sng" dirty="0" err="1"/>
              <a:t>prcomp</a:t>
            </a:r>
            <a:r>
              <a:rPr lang="en-US" u="sng" dirty="0"/>
              <a:t>(log.ir</a:t>
            </a:r>
            <a:r>
              <a:rPr lang="en-US" dirty="0"/>
              <a:t>, center=TRUE, scale. = TRUE)</a:t>
            </a:r>
          </a:p>
          <a:p>
            <a:endParaRPr lang="en-US" dirty="0"/>
          </a:p>
          <a:p>
            <a:r>
              <a:rPr lang="en-US" dirty="0"/>
              <a:t>#print method</a:t>
            </a:r>
          </a:p>
          <a:p>
            <a:r>
              <a:rPr lang="en-US" dirty="0"/>
              <a:t>print(</a:t>
            </a:r>
            <a:r>
              <a:rPr lang="en-US" dirty="0" err="1"/>
              <a:t>ir.pca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#summary method</a:t>
            </a:r>
          </a:p>
          <a:p>
            <a:r>
              <a:rPr lang="en-US" dirty="0"/>
              <a:t>summary(</a:t>
            </a:r>
            <a:r>
              <a:rPr lang="en-US" dirty="0" err="1"/>
              <a:t>ir.pca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6461819"/>
            <a:ext cx="492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https://www.r-bloggers.com/computing-and-visualizing-pca-in-r/</a:t>
            </a:r>
          </a:p>
        </p:txBody>
      </p:sp>
    </p:spTree>
    <p:extLst>
      <p:ext uri="{BB962C8B-B14F-4D97-AF65-F5344CB8AC3E}">
        <p14:creationId xmlns:p14="http://schemas.microsoft.com/office/powerpoint/2010/main" val="3685427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524000"/>
            <a:ext cx="624081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#Alternative - Use PCA on caret package</a:t>
            </a:r>
          </a:p>
          <a:p>
            <a:r>
              <a:rPr lang="en-US" dirty="0"/>
              <a:t>require(caret)</a:t>
            </a:r>
          </a:p>
          <a:p>
            <a:endParaRPr lang="en-US" dirty="0"/>
          </a:p>
          <a:p>
            <a:r>
              <a:rPr lang="en-US" dirty="0"/>
              <a:t>#use </a:t>
            </a:r>
            <a:r>
              <a:rPr lang="en-US" dirty="0" err="1"/>
              <a:t>preProcess</a:t>
            </a:r>
            <a:r>
              <a:rPr lang="en-US" dirty="0"/>
              <a:t>() to center, scale and transform data</a:t>
            </a:r>
          </a:p>
          <a:p>
            <a:r>
              <a:rPr lang="en-US" dirty="0"/>
              <a:t>trans = </a:t>
            </a:r>
            <a:r>
              <a:rPr lang="en-US" dirty="0" err="1"/>
              <a:t>preProcess</a:t>
            </a:r>
            <a:r>
              <a:rPr lang="en-US" dirty="0"/>
              <a:t>(iris[,1:4], method="</a:t>
            </a:r>
            <a:r>
              <a:rPr lang="en-US" dirty="0" err="1"/>
              <a:t>pca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PC = predict(trans, iris[,1:4])</a:t>
            </a:r>
          </a:p>
          <a:p>
            <a:endParaRPr lang="en-US" dirty="0"/>
          </a:p>
          <a:p>
            <a:r>
              <a:rPr lang="en-US" dirty="0"/>
              <a:t>#Retained PCs</a:t>
            </a:r>
          </a:p>
          <a:p>
            <a:r>
              <a:rPr lang="en-US" dirty="0"/>
              <a:t>head(PC)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76399" y="231436"/>
            <a:ext cx="5250211" cy="762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in R- Method 2</a:t>
            </a:r>
          </a:p>
        </p:txBody>
      </p:sp>
    </p:spTree>
    <p:extLst>
      <p:ext uri="{BB962C8B-B14F-4D97-AF65-F5344CB8AC3E}">
        <p14:creationId xmlns:p14="http://schemas.microsoft.com/office/powerpoint/2010/main" val="248343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92174"/>
            <a:ext cx="7399717" cy="377762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examining the variable relationships within complex concepts or constructs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Collapses a number of variables down into interpretable, underlying factors, i.e. latent variables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variables arise from multiple observed variables that have similar patterns of response because of their relationship through the latent variable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analysis is a model of the measurement of a latent variable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4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373" y="309684"/>
            <a:ext cx="6589199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72" y="1676400"/>
            <a:ext cx="7742228" cy="377762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features are going to be represented by just two features: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91588" y="2728690"/>
            <a:ext cx="126599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14782" y="2728690"/>
            <a:ext cx="126599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37976" y="2728690"/>
            <a:ext cx="126599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61170" y="2728690"/>
            <a:ext cx="126599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5101" y="2750662"/>
            <a:ext cx="121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Insomnia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295" y="2754868"/>
            <a:ext cx="121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Suicidal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754868"/>
            <a:ext cx="135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Hypervent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344089" y="2750662"/>
            <a:ext cx="135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Nausea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357582" y="3933380"/>
            <a:ext cx="1444989" cy="457200"/>
            <a:chOff x="2357582" y="3933380"/>
            <a:chExt cx="1444989" cy="457200"/>
          </a:xfrm>
        </p:grpSpPr>
        <p:sp>
          <p:nvSpPr>
            <p:cNvPr id="14" name="Rectangle 13"/>
            <p:cNvSpPr/>
            <p:nvPr/>
          </p:nvSpPr>
          <p:spPr>
            <a:xfrm>
              <a:off x="2387698" y="3933380"/>
              <a:ext cx="1265994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57582" y="3977314"/>
              <a:ext cx="1444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Depression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63286" y="3893601"/>
            <a:ext cx="1569080" cy="457200"/>
            <a:chOff x="4663286" y="3893601"/>
            <a:chExt cx="1569080" cy="457200"/>
          </a:xfrm>
        </p:grpSpPr>
        <p:sp>
          <p:nvSpPr>
            <p:cNvPr id="13" name="Rectangle 12"/>
            <p:cNvSpPr/>
            <p:nvPr/>
          </p:nvSpPr>
          <p:spPr>
            <a:xfrm>
              <a:off x="4663286" y="3893601"/>
              <a:ext cx="1265994" cy="457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87377" y="3937535"/>
              <a:ext cx="1444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Anxiety</a:t>
              </a:r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 flipH="1" flipV="1">
            <a:off x="5029200" y="3185890"/>
            <a:ext cx="141773" cy="707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893233" y="3212068"/>
            <a:ext cx="473943" cy="71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1784100" y="3198979"/>
            <a:ext cx="1084195" cy="73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226773" y="3207864"/>
            <a:ext cx="1496817" cy="677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41200" y="237078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200" y="2370783"/>
                <a:ext cx="685800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80076" y="237078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076" y="2370783"/>
                <a:ext cx="685800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18952" y="237078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952" y="2370783"/>
                <a:ext cx="68580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574773" y="237078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773" y="2370783"/>
                <a:ext cx="68580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809038" y="334623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038" y="3346236"/>
                <a:ext cx="68580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84908" y="3364319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908" y="3364319"/>
                <a:ext cx="685800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982130" y="3415315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30" y="3415315"/>
                <a:ext cx="685800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523794" y="337977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794" y="3379773"/>
                <a:ext cx="685800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895919" y="398761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919" y="3987618"/>
                <a:ext cx="685800" cy="369332"/>
              </a:xfrm>
              <a:prstGeom prst="rect">
                <a:avLst/>
              </a:prstGeom>
              <a:blipFill>
                <a:blip r:embed="rId10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04928" y="388549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928" y="3885498"/>
                <a:ext cx="685800" cy="369332"/>
              </a:xfrm>
              <a:prstGeom prst="rect">
                <a:avLst/>
              </a:prstGeom>
              <a:blipFill>
                <a:blip r:embed="rId1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572792" y="4771532"/>
                <a:ext cx="28958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92" y="4771532"/>
                <a:ext cx="2895806" cy="369332"/>
              </a:xfrm>
              <a:prstGeom prst="rect">
                <a:avLst/>
              </a:prstGeom>
              <a:blipFill>
                <a:blip r:embed="rId1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 flipV="1">
            <a:off x="2021784" y="3207864"/>
            <a:ext cx="3007416" cy="677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3422976" y="3192026"/>
            <a:ext cx="1747997" cy="709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2924095" y="3205898"/>
            <a:ext cx="2400935" cy="710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4" idx="0"/>
          </p:cNvCxnSpPr>
          <p:nvPr/>
        </p:nvCxnSpPr>
        <p:spPr>
          <a:xfrm flipV="1">
            <a:off x="3020695" y="3208121"/>
            <a:ext cx="3554078" cy="725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70823" y="344024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23" y="3440243"/>
                <a:ext cx="685800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509799" y="3731677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799" y="3731677"/>
                <a:ext cx="685800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525542" y="342958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542" y="3429586"/>
                <a:ext cx="685800" cy="369332"/>
              </a:xfrm>
              <a:prstGeom prst="rect">
                <a:avLst/>
              </a:prstGeom>
              <a:blipFill>
                <a:blip r:embed="rId1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078824" y="363883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824" y="3638833"/>
                <a:ext cx="685800" cy="369332"/>
              </a:xfrm>
              <a:prstGeom prst="rect">
                <a:avLst/>
              </a:prstGeom>
              <a:blipFill>
                <a:blip r:embed="rId1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572792" y="5206263"/>
                <a:ext cx="28958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92" y="5206263"/>
                <a:ext cx="2895806" cy="369332"/>
              </a:xfrm>
              <a:prstGeom prst="rect">
                <a:avLst/>
              </a:prstGeom>
              <a:blipFill>
                <a:blip r:embed="rId1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572792" y="5640994"/>
                <a:ext cx="28958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92" y="5640994"/>
                <a:ext cx="2895806" cy="369332"/>
              </a:xfrm>
              <a:prstGeom prst="rect">
                <a:avLst/>
              </a:prstGeom>
              <a:blipFill>
                <a:blip r:embed="rId1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572792" y="6075726"/>
                <a:ext cx="28958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92" y="6075726"/>
                <a:ext cx="2895806" cy="369332"/>
              </a:xfrm>
              <a:prstGeom prst="rect">
                <a:avLst/>
              </a:prstGeom>
              <a:blipFill>
                <a:blip r:embed="rId1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74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6373" y="309684"/>
            <a:ext cx="6589199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 code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172" y="1282797"/>
            <a:ext cx="75782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read_csv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'path/to/file/personality0.txt'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" "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730" y="1590574"/>
            <a:ext cx="75782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endParaRPr lang="en-US" sz="1400" dirty="0"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9" y="1898351"/>
            <a:ext cx="5511994" cy="41976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19200" y="6219111"/>
            <a:ext cx="2029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Helvetica Neue"/>
              </a:rPr>
              <a:t>240 rows × 32 columns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4391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6373" y="309684"/>
            <a:ext cx="6589199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 code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05342"/>
            <a:ext cx="7924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corr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corr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fig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ax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add_subplot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111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cax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matshow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corr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cmap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coolwarm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vmin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=-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vmax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colorbar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cax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set_size_inches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16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16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ticks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arange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set_xticks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ticks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xticks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rotation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90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set_yticks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ticks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set_xticklabels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set_yticklabels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show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43672"/>
            <a:ext cx="5591227" cy="558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6373" y="309684"/>
            <a:ext cx="6589199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 code in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626" y="1524000"/>
            <a:ext cx="7315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preprocessing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scale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decomposition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FactorAnalysis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data_normal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scale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fa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FactorAnalysis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n_components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fa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data_normal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400" dirty="0">
              <a:effectLst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64462" y="3124200"/>
            <a:ext cx="6848527" cy="457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features and factors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3833550"/>
            <a:ext cx="8534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feature_names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factor_names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'Factor'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)]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transpose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components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index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feature_names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columns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factor_names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990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6373" y="309684"/>
            <a:ext cx="6589199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and features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57526"/>
            <a:ext cx="5081902" cy="548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4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1219200"/>
            <a:ext cx="9312165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dat</a:t>
            </a:r>
            <a:r>
              <a:rPr lang="en-US" sz="1400" dirty="0">
                <a:solidFill>
                  <a:srgbClr val="0000FF"/>
                </a:solidFill>
              </a:rPr>
              <a:t> &lt;- </a:t>
            </a:r>
            <a:r>
              <a:rPr lang="en-US" sz="1400" dirty="0" err="1">
                <a:solidFill>
                  <a:srgbClr val="0000FF"/>
                </a:solidFill>
              </a:rPr>
              <a:t>read.table</a:t>
            </a:r>
            <a:r>
              <a:rPr lang="en-US" sz="1400" dirty="0">
                <a:solidFill>
                  <a:srgbClr val="0000FF"/>
                </a:solidFill>
              </a:rPr>
              <a:t>(personality0.txt')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head(d)</a:t>
            </a:r>
          </a:p>
          <a:p>
            <a:r>
              <a:rPr lang="en-US" sz="1400" dirty="0"/>
              <a:t>  distant </a:t>
            </a:r>
            <a:r>
              <a:rPr lang="en-US" sz="1400" dirty="0" err="1"/>
              <a:t>talkatv</a:t>
            </a:r>
            <a:r>
              <a:rPr lang="en-US" sz="1400" dirty="0"/>
              <a:t> </a:t>
            </a:r>
            <a:r>
              <a:rPr lang="en-US" sz="1400" dirty="0" err="1"/>
              <a:t>carelss</a:t>
            </a:r>
            <a:r>
              <a:rPr lang="en-US" sz="1400" dirty="0"/>
              <a:t> </a:t>
            </a:r>
            <a:r>
              <a:rPr lang="en-US" sz="1400" dirty="0" err="1"/>
              <a:t>hardwrk</a:t>
            </a:r>
            <a:r>
              <a:rPr lang="en-US" sz="1400" dirty="0"/>
              <a:t> anxious </a:t>
            </a:r>
            <a:r>
              <a:rPr lang="en-US" sz="1400" dirty="0" err="1"/>
              <a:t>agreebl</a:t>
            </a:r>
            <a:r>
              <a:rPr lang="en-US" sz="1400" dirty="0"/>
              <a:t> tense kind </a:t>
            </a:r>
            <a:r>
              <a:rPr lang="en-US" sz="1400" dirty="0" err="1"/>
              <a:t>opposng</a:t>
            </a:r>
            <a:r>
              <a:rPr lang="en-US" sz="1400" dirty="0"/>
              <a:t> relaxed </a:t>
            </a:r>
            <a:r>
              <a:rPr lang="en-US" sz="1200" dirty="0" err="1"/>
              <a:t>disorgn</a:t>
            </a:r>
            <a:r>
              <a:rPr lang="en-US" sz="1400" dirty="0"/>
              <a:t> </a:t>
            </a:r>
            <a:r>
              <a:rPr lang="en-US" sz="1400" dirty="0" err="1"/>
              <a:t>outgoin</a:t>
            </a:r>
            <a:r>
              <a:rPr lang="en-US" sz="1400" dirty="0"/>
              <a:t> </a:t>
            </a:r>
            <a:r>
              <a:rPr lang="en-US" sz="1400" dirty="0" err="1"/>
              <a:t>approvn</a:t>
            </a:r>
            <a:r>
              <a:rPr lang="en-US" sz="1400" dirty="0"/>
              <a:t> shy</a:t>
            </a:r>
          </a:p>
          <a:p>
            <a:r>
              <a:rPr lang="en-US" sz="1400" dirty="0"/>
              <a:t>1       2       7       1       4       7       8     5    9       5       6       3       2       7   9</a:t>
            </a:r>
          </a:p>
          <a:p>
            <a:r>
              <a:rPr lang="en-US" sz="1400" dirty="0"/>
              <a:t>2       3       8       2       7       5       8     4    8       5       7       5       8       7   6</a:t>
            </a:r>
          </a:p>
          <a:p>
            <a:r>
              <a:rPr lang="en-US" sz="1400" dirty="0"/>
              <a:t>3       6       6       2       5       1       8     2    9       2       8       7       6       7   5</a:t>
            </a:r>
          </a:p>
          <a:p>
            <a:r>
              <a:rPr lang="en-US" sz="1400" dirty="0"/>
              <a:t>4       3       7       6       7       8       8     2    8       3       7       2       5       6   4</a:t>
            </a:r>
          </a:p>
          <a:p>
            <a:r>
              <a:rPr lang="en-US" sz="1400" dirty="0"/>
              <a:t>5       7       3       3       5       8       6     7    2       3       3       5       2       5   8</a:t>
            </a:r>
          </a:p>
          <a:p>
            <a:r>
              <a:rPr lang="en-US" sz="1400" dirty="0"/>
              <a:t>6       7       6       7       6       7       8     7    8       5       5       6       5       6   8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discipl</a:t>
            </a:r>
            <a:r>
              <a:rPr lang="en-US" sz="1400" dirty="0"/>
              <a:t> harsh </a:t>
            </a:r>
            <a:r>
              <a:rPr lang="en-US" sz="1400" dirty="0" err="1"/>
              <a:t>persevr</a:t>
            </a:r>
            <a:r>
              <a:rPr lang="en-US" sz="1400" dirty="0"/>
              <a:t> </a:t>
            </a:r>
            <a:r>
              <a:rPr lang="en-US" sz="1400" dirty="0" err="1"/>
              <a:t>friendl</a:t>
            </a:r>
            <a:r>
              <a:rPr lang="en-US" sz="1400" dirty="0"/>
              <a:t> </a:t>
            </a:r>
            <a:r>
              <a:rPr lang="en-US" sz="1400" dirty="0" err="1"/>
              <a:t>worryin</a:t>
            </a:r>
            <a:r>
              <a:rPr lang="en-US" sz="1400" dirty="0"/>
              <a:t> </a:t>
            </a:r>
            <a:r>
              <a:rPr lang="en-US" sz="1400" dirty="0" err="1"/>
              <a:t>respnsi</a:t>
            </a:r>
            <a:r>
              <a:rPr lang="en-US" sz="1400" dirty="0"/>
              <a:t> </a:t>
            </a:r>
            <a:r>
              <a:rPr lang="en-US" sz="1400" dirty="0" err="1"/>
              <a:t>contrar</a:t>
            </a:r>
            <a:r>
              <a:rPr lang="en-US" sz="1400" dirty="0"/>
              <a:t> </a:t>
            </a:r>
            <a:r>
              <a:rPr lang="en-US" sz="1400" dirty="0" err="1"/>
              <a:t>sociabl</a:t>
            </a:r>
            <a:r>
              <a:rPr lang="en-US" sz="1400" dirty="0"/>
              <a:t> lazy </a:t>
            </a:r>
            <a:r>
              <a:rPr lang="en-US" sz="1400" dirty="0" err="1"/>
              <a:t>coopera</a:t>
            </a:r>
            <a:r>
              <a:rPr lang="en-US" sz="1400" dirty="0"/>
              <a:t> quiet </a:t>
            </a:r>
            <a:r>
              <a:rPr lang="en-US" sz="1400" dirty="0" err="1"/>
              <a:t>organiz</a:t>
            </a:r>
            <a:r>
              <a:rPr lang="en-US" sz="1400" dirty="0"/>
              <a:t> </a:t>
            </a:r>
            <a:r>
              <a:rPr lang="en-US" sz="1400" dirty="0" err="1"/>
              <a:t>criticl</a:t>
            </a:r>
            <a:r>
              <a:rPr lang="en-US" sz="1400" dirty="0"/>
              <a:t> lax</a:t>
            </a:r>
          </a:p>
          <a:p>
            <a:r>
              <a:rPr lang="en-US" sz="1400" dirty="0"/>
              <a:t>1       5     5       8       9       9       9       5       9    7       9     9       5       5   5</a:t>
            </a:r>
          </a:p>
          <a:p>
            <a:r>
              <a:rPr lang="en-US" sz="1400" dirty="0"/>
              <a:t>2       7     3       7       7       5       7       5       8    2       7     6       6       4   3</a:t>
            </a:r>
          </a:p>
          <a:p>
            <a:r>
              <a:rPr lang="en-US" sz="1400" dirty="0"/>
              <a:t>3       5     2       5       8       3       9       2       8    5       8     7       4       5   5</a:t>
            </a:r>
          </a:p>
          <a:p>
            <a:r>
              <a:rPr lang="en-US" sz="1400" dirty="0"/>
              <a:t>4       6     2       8       8       3       8       2       6    3       8     4       7       6   6</a:t>
            </a:r>
          </a:p>
          <a:p>
            <a:r>
              <a:rPr lang="en-US" sz="1400" dirty="0"/>
              <a:t>5       7     5       6       2       8       7       3       2    6       6     7       5       5   3</a:t>
            </a:r>
          </a:p>
          <a:p>
            <a:r>
              <a:rPr lang="en-US" sz="1400" dirty="0"/>
              <a:t>6       5     3       6       7       7       7       5       4    5       7     8       6       6   4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laidbck</a:t>
            </a:r>
            <a:r>
              <a:rPr lang="en-US" sz="1400" dirty="0"/>
              <a:t> </a:t>
            </a:r>
            <a:r>
              <a:rPr lang="en-US" sz="1400" dirty="0" err="1"/>
              <a:t>withdrw</a:t>
            </a:r>
            <a:r>
              <a:rPr lang="en-US" sz="1400" dirty="0"/>
              <a:t> </a:t>
            </a:r>
            <a:r>
              <a:rPr lang="en-US" sz="1400" dirty="0" err="1"/>
              <a:t>givinup</a:t>
            </a:r>
            <a:r>
              <a:rPr lang="en-US" sz="1400" dirty="0"/>
              <a:t> </a:t>
            </a:r>
            <a:r>
              <a:rPr lang="en-US" sz="1400" dirty="0" err="1"/>
              <a:t>easygon</a:t>
            </a:r>
            <a:endParaRPr lang="en-US" sz="1400" dirty="0"/>
          </a:p>
          <a:p>
            <a:r>
              <a:rPr lang="en-US" sz="1400" dirty="0"/>
              <a:t>1       7       5       5       8</a:t>
            </a:r>
          </a:p>
          <a:p>
            <a:r>
              <a:rPr lang="en-US" sz="1400" dirty="0"/>
              <a:t>2       7       2       2       7</a:t>
            </a:r>
          </a:p>
          <a:p>
            <a:r>
              <a:rPr lang="en-US" sz="1400" dirty="0"/>
              <a:t>3       7       6       2       8</a:t>
            </a:r>
          </a:p>
          <a:p>
            <a:r>
              <a:rPr lang="en-US" sz="1400" dirty="0"/>
              <a:t>4       6       4       3       7</a:t>
            </a:r>
          </a:p>
          <a:p>
            <a:r>
              <a:rPr lang="en-US" sz="1400" dirty="0"/>
              <a:t>5       3       7       5       5</a:t>
            </a:r>
          </a:p>
          <a:p>
            <a:r>
              <a:rPr lang="en-US" sz="1400" dirty="0"/>
              <a:t>6       4       6       4       7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81600" y="4800600"/>
            <a:ext cx="337784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&gt; </a:t>
            </a:r>
            <a:r>
              <a:rPr lang="en-US" sz="1200" dirty="0" err="1">
                <a:solidFill>
                  <a:srgbClr val="0000FF"/>
                </a:solidFill>
              </a:rPr>
              <a:t>str</a:t>
            </a:r>
            <a:r>
              <a:rPr lang="en-US" sz="1200" dirty="0">
                <a:solidFill>
                  <a:srgbClr val="0000FF"/>
                </a:solidFill>
              </a:rPr>
              <a:t>(d)</a:t>
            </a:r>
          </a:p>
          <a:p>
            <a:r>
              <a:rPr lang="en-US" sz="1200" dirty="0"/>
              <a:t>'</a:t>
            </a:r>
            <a:r>
              <a:rPr lang="en-US" sz="1200" dirty="0" err="1"/>
              <a:t>data.frame</a:t>
            </a:r>
            <a:r>
              <a:rPr lang="en-US" sz="1200" dirty="0"/>
              <a:t>':	240 obs. of  32 variables:</a:t>
            </a:r>
          </a:p>
          <a:p>
            <a:r>
              <a:rPr lang="en-US" sz="1200" dirty="0"/>
              <a:t> $ distant: </a:t>
            </a:r>
            <a:r>
              <a:rPr lang="en-US" sz="1200" dirty="0" err="1"/>
              <a:t>int</a:t>
            </a:r>
            <a:r>
              <a:rPr lang="en-US" sz="1200" dirty="0"/>
              <a:t>  2 3 6 3 7 7 3 7 2 4 ...</a:t>
            </a:r>
          </a:p>
          <a:p>
            <a:r>
              <a:rPr lang="en-US" sz="1200" dirty="0"/>
              <a:t> $ </a:t>
            </a:r>
            <a:r>
              <a:rPr lang="en-US" sz="1200" dirty="0" err="1"/>
              <a:t>talkatv</a:t>
            </a:r>
            <a:r>
              <a:rPr lang="en-US" sz="1200" dirty="0"/>
              <a:t>: </a:t>
            </a:r>
            <a:r>
              <a:rPr lang="en-US" sz="1200" dirty="0" err="1"/>
              <a:t>int</a:t>
            </a:r>
            <a:r>
              <a:rPr lang="en-US" sz="1200" dirty="0"/>
              <a:t>  7 8 6 7 3 6 6 6 6 7 ...</a:t>
            </a:r>
          </a:p>
          <a:p>
            <a:r>
              <a:rPr lang="en-US" sz="1200" dirty="0"/>
              <a:t> $ </a:t>
            </a:r>
            <a:r>
              <a:rPr lang="en-US" sz="1200" dirty="0" err="1"/>
              <a:t>carelss</a:t>
            </a:r>
            <a:r>
              <a:rPr lang="en-US" sz="1200" dirty="0"/>
              <a:t>: </a:t>
            </a:r>
            <a:r>
              <a:rPr lang="en-US" sz="1200" dirty="0" err="1"/>
              <a:t>int</a:t>
            </a:r>
            <a:r>
              <a:rPr lang="en-US" sz="1200" dirty="0"/>
              <a:t>  1 2 2 6 3 7 8 2 2 3 ...</a:t>
            </a:r>
          </a:p>
          <a:p>
            <a:r>
              <a:rPr lang="en-US" sz="1200" dirty="0"/>
              <a:t> $ </a:t>
            </a:r>
            <a:r>
              <a:rPr lang="en-US" sz="1200" dirty="0" err="1"/>
              <a:t>hardwrk</a:t>
            </a:r>
            <a:r>
              <a:rPr lang="en-US" sz="1200" dirty="0"/>
              <a:t>: </a:t>
            </a:r>
            <a:r>
              <a:rPr lang="en-US" sz="1200" dirty="0" err="1"/>
              <a:t>int</a:t>
            </a:r>
            <a:r>
              <a:rPr lang="en-US" sz="1200" dirty="0"/>
              <a:t>  4 7 5 7 5 6 6 9 8 6 ...</a:t>
            </a:r>
          </a:p>
          <a:p>
            <a:r>
              <a:rPr lang="en-US" sz="1200" dirty="0"/>
              <a:t> $ anxious: </a:t>
            </a:r>
            <a:r>
              <a:rPr lang="en-US" sz="1200" dirty="0" err="1"/>
              <a:t>int</a:t>
            </a:r>
            <a:r>
              <a:rPr lang="en-US" sz="1200" dirty="0"/>
              <a:t>  7 5 1 8 8 7 6 7 2 3 ...</a:t>
            </a:r>
          </a:p>
          <a:p>
            <a:r>
              <a:rPr lang="en-US" sz="1200" dirty="0"/>
              <a:t> $ </a:t>
            </a:r>
            <a:r>
              <a:rPr lang="en-US" sz="1200" dirty="0" err="1"/>
              <a:t>respnsi</a:t>
            </a:r>
            <a:r>
              <a:rPr lang="en-US" sz="1200" dirty="0"/>
              <a:t>: </a:t>
            </a:r>
            <a:r>
              <a:rPr lang="en-US" sz="1200" dirty="0" err="1"/>
              <a:t>int</a:t>
            </a:r>
            <a:r>
              <a:rPr lang="en-US" sz="1200" dirty="0"/>
              <a:t>  9 7 9 8 7 7 2 8 8 7 ...</a:t>
            </a:r>
          </a:p>
          <a:p>
            <a:r>
              <a:rPr lang="en-US" sz="1200" dirty="0"/>
              <a:t> $ </a:t>
            </a:r>
            <a:r>
              <a:rPr lang="en-US" sz="1200" dirty="0" err="1"/>
              <a:t>contrar</a:t>
            </a:r>
            <a:r>
              <a:rPr lang="en-US" sz="1200" dirty="0"/>
              <a:t>: </a:t>
            </a:r>
            <a:r>
              <a:rPr lang="en-US" sz="1200" dirty="0" err="1"/>
              <a:t>int</a:t>
            </a:r>
            <a:r>
              <a:rPr lang="en-US" sz="1200" dirty="0"/>
              <a:t>  5 5 2 2 3 5 2 5 3 4 ...</a:t>
            </a:r>
          </a:p>
          <a:p>
            <a:r>
              <a:rPr lang="en-US" sz="1200" b="1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6373" y="309684"/>
            <a:ext cx="6589199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 code in R</a:t>
            </a:r>
          </a:p>
        </p:txBody>
      </p:sp>
    </p:spTree>
    <p:extLst>
      <p:ext uri="{BB962C8B-B14F-4D97-AF65-F5344CB8AC3E}">
        <p14:creationId xmlns:p14="http://schemas.microsoft.com/office/powerpoint/2010/main" val="3095973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47800" y="381000"/>
            <a:ext cx="7239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&gt; #For </a:t>
            </a:r>
            <a:r>
              <a:rPr lang="en-US" sz="1600" dirty="0" err="1"/>
              <a:t>dataframes</a:t>
            </a:r>
            <a:r>
              <a:rPr lang="en-US" sz="1600" dirty="0"/>
              <a:t> with many columns, </a:t>
            </a:r>
            <a:r>
              <a:rPr lang="en-US" sz="1600" dirty="0" err="1"/>
              <a:t>corrplot</a:t>
            </a:r>
            <a:r>
              <a:rPr lang="en-US" sz="1600" dirty="0"/>
              <a:t> can be useful to get a sense of the </a:t>
            </a:r>
          </a:p>
          <a:p>
            <a:r>
              <a:rPr lang="en-US" sz="1600" dirty="0"/>
              <a:t>	structure in the data (including larger scale organization)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library(</a:t>
            </a:r>
            <a:r>
              <a:rPr lang="en-US" sz="1600" dirty="0" err="1">
                <a:solidFill>
                  <a:srgbClr val="0000FF"/>
                </a:solidFill>
              </a:rPr>
              <a:t>corrplot</a:t>
            </a:r>
            <a:r>
              <a:rPr lang="en-US" sz="1600" dirty="0">
                <a:solidFill>
                  <a:srgbClr val="0000FF"/>
                </a:solidFill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</a:t>
            </a:r>
            <a:r>
              <a:rPr lang="en-US" sz="1600" dirty="0" err="1">
                <a:solidFill>
                  <a:srgbClr val="0000FF"/>
                </a:solidFill>
              </a:rPr>
              <a:t>corrplot</a:t>
            </a:r>
            <a:r>
              <a:rPr lang="en-US" sz="1600" dirty="0">
                <a:solidFill>
                  <a:srgbClr val="0000FF"/>
                </a:solidFill>
              </a:rPr>
              <a:t>(</a:t>
            </a:r>
            <a:r>
              <a:rPr lang="en-US" sz="1600" dirty="0" err="1">
                <a:solidFill>
                  <a:srgbClr val="0000FF"/>
                </a:solidFill>
              </a:rPr>
              <a:t>cor</a:t>
            </a:r>
            <a:r>
              <a:rPr lang="en-US" sz="1600" dirty="0">
                <a:solidFill>
                  <a:srgbClr val="0000FF"/>
                </a:solidFill>
              </a:rPr>
              <a:t>(d), order = "</a:t>
            </a:r>
            <a:r>
              <a:rPr lang="en-US" sz="1600" dirty="0" err="1">
                <a:solidFill>
                  <a:srgbClr val="0000FF"/>
                </a:solidFill>
              </a:rPr>
              <a:t>hclust</a:t>
            </a:r>
            <a:r>
              <a:rPr lang="en-US" sz="1600" dirty="0">
                <a:solidFill>
                  <a:srgbClr val="0000FF"/>
                </a:solidFill>
              </a:rPr>
              <a:t>", </a:t>
            </a:r>
            <a:r>
              <a:rPr lang="en-US" sz="1600" dirty="0" err="1">
                <a:solidFill>
                  <a:srgbClr val="0000FF"/>
                </a:solidFill>
              </a:rPr>
              <a:t>tl.col</a:t>
            </a:r>
            <a:r>
              <a:rPr lang="en-US" sz="1600" dirty="0">
                <a:solidFill>
                  <a:srgbClr val="0000FF"/>
                </a:solidFill>
              </a:rPr>
              <a:t> = 'black', </a:t>
            </a:r>
            <a:r>
              <a:rPr lang="en-US" sz="1600" dirty="0" err="1">
                <a:solidFill>
                  <a:srgbClr val="0000FF"/>
                </a:solidFill>
              </a:rPr>
              <a:t>tl.cex</a:t>
            </a:r>
            <a:r>
              <a:rPr lang="en-US" sz="1600" dirty="0">
                <a:solidFill>
                  <a:srgbClr val="0000FF"/>
                </a:solidFill>
              </a:rPr>
              <a:t> = .75)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77" y="1752600"/>
            <a:ext cx="5733137" cy="489414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99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88934"/>
            <a:ext cx="7919156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&gt; </a:t>
            </a:r>
            <a:r>
              <a:rPr lang="en-US" sz="1200" dirty="0" err="1">
                <a:solidFill>
                  <a:srgbClr val="0000FF"/>
                </a:solidFill>
              </a:rPr>
              <a:t>d_stan</a:t>
            </a:r>
            <a:r>
              <a:rPr lang="en-US" sz="1200" dirty="0">
                <a:solidFill>
                  <a:srgbClr val="0000FF"/>
                </a:solidFill>
              </a:rPr>
              <a:t> = </a:t>
            </a:r>
            <a:r>
              <a:rPr lang="en-US" sz="1200" dirty="0" err="1">
                <a:solidFill>
                  <a:srgbClr val="0000FF"/>
                </a:solidFill>
              </a:rPr>
              <a:t>as.data.frame</a:t>
            </a:r>
            <a:r>
              <a:rPr lang="en-US" sz="1200" dirty="0">
                <a:solidFill>
                  <a:srgbClr val="0000FF"/>
                </a:solidFill>
              </a:rPr>
              <a:t>(scale(d))</a:t>
            </a:r>
          </a:p>
          <a:p>
            <a:r>
              <a:rPr lang="en-US" sz="1200" dirty="0"/>
              <a:t>&gt; ### Factor analysis with no rotation</a:t>
            </a:r>
          </a:p>
          <a:p>
            <a:r>
              <a:rPr lang="en-US" sz="1200" dirty="0">
                <a:solidFill>
                  <a:srgbClr val="0000FF"/>
                </a:solidFill>
              </a:rPr>
              <a:t>&gt; res1b = </a:t>
            </a:r>
            <a:r>
              <a:rPr lang="en-US" sz="1200" dirty="0" err="1">
                <a:solidFill>
                  <a:srgbClr val="0000FF"/>
                </a:solidFill>
              </a:rPr>
              <a:t>factanal</a:t>
            </a:r>
            <a:r>
              <a:rPr lang="en-US" sz="1200" dirty="0">
                <a:solidFill>
                  <a:srgbClr val="0000FF"/>
                </a:solidFill>
              </a:rPr>
              <a:t>(</a:t>
            </a:r>
            <a:r>
              <a:rPr lang="en-US" sz="1200" dirty="0" err="1">
                <a:solidFill>
                  <a:srgbClr val="0000FF"/>
                </a:solidFill>
              </a:rPr>
              <a:t>d_stan</a:t>
            </a:r>
            <a:r>
              <a:rPr lang="en-US" sz="1200" dirty="0">
                <a:solidFill>
                  <a:srgbClr val="0000FF"/>
                </a:solidFill>
              </a:rPr>
              <a:t>, factors = 10, rotation = "none", </a:t>
            </a:r>
            <a:r>
              <a:rPr lang="en-US" sz="1200" dirty="0" err="1">
                <a:solidFill>
                  <a:srgbClr val="0000FF"/>
                </a:solidFill>
              </a:rPr>
              <a:t>na.action</a:t>
            </a:r>
            <a:r>
              <a:rPr lang="en-US" sz="1200" dirty="0">
                <a:solidFill>
                  <a:srgbClr val="0000FF"/>
                </a:solidFill>
              </a:rPr>
              <a:t> = </a:t>
            </a:r>
            <a:r>
              <a:rPr lang="en-US" sz="1200" dirty="0" err="1">
                <a:solidFill>
                  <a:srgbClr val="0000FF"/>
                </a:solidFill>
              </a:rPr>
              <a:t>na.omit</a:t>
            </a:r>
            <a:r>
              <a:rPr lang="en-US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sz="1200" dirty="0">
                <a:solidFill>
                  <a:srgbClr val="0000FF"/>
                </a:solidFill>
              </a:rPr>
              <a:t>&gt; res1b$loadings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                        Factor1  Factor2  Factor3  Factor4  Factor5  Factor6  Factor7  Factor8  Factor9  Factor10</a:t>
            </a:r>
          </a:p>
          <a:p>
            <a:r>
              <a:rPr lang="en-US" sz="1200" dirty="0"/>
              <a:t>SS loadings          6.706      3.071     2.554     2.283     1.979      1.105     0.867     0.689      0.393      0.382</a:t>
            </a:r>
          </a:p>
          <a:p>
            <a:r>
              <a:rPr lang="en-US" sz="1200" dirty="0"/>
              <a:t>Proportion </a:t>
            </a:r>
            <a:r>
              <a:rPr lang="en-US" sz="1200" dirty="0" err="1"/>
              <a:t>Var</a:t>
            </a:r>
            <a:r>
              <a:rPr lang="en-US" sz="1200" dirty="0"/>
              <a:t>    0.210      0.096     0.080     0.071     0.062      0.035     0.027     0.022      0.012      0.012</a:t>
            </a:r>
          </a:p>
          <a:p>
            <a:r>
              <a:rPr lang="en-US" sz="1200" dirty="0"/>
              <a:t>Cumulative </a:t>
            </a:r>
            <a:r>
              <a:rPr lang="en-US" sz="1200" dirty="0" err="1"/>
              <a:t>Var</a:t>
            </a:r>
            <a:r>
              <a:rPr lang="en-US" sz="1200" dirty="0"/>
              <a:t>   0.210      0.306     0.385     0.457     0.519      0.553     0.580     0.602      0.614      0.626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828021"/>
              </p:ext>
            </p:extLst>
          </p:nvPr>
        </p:nvGraphicFramePr>
        <p:xfrm>
          <a:off x="2587977" y="967327"/>
          <a:ext cx="5334001" cy="490728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2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81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Factor2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Factor10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distant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0.593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0.269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0.207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-0.221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0.214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talkatv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-0.505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-0.513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0.270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-0.114                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carelss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0.460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-0.474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0.141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0.167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-0.115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0.183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hardwrk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-0.457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0.326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-0.136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0.348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-0.166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-0.315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0.170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anxious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0.289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-0.277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0.599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0.231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-0.252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-0.104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agreebl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-0.325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0.201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0.818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-0.136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tense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0.319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-0.391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0.628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-0.244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-0.142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kind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-0.488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0.222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0.376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0.327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opposing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0.290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-0.168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0.404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-0.217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0.330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-0.230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-0.166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relaxed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-0.177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0.602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-0.311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0.176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disorgn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0.462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-0.640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0.251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-0.302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outgoin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-0.690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-0.435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0.233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0.194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approvn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-0.468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0.267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0.109  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shy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0.612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0.345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-0.155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-0.187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0.175          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disciple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-0.303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0.451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-0.127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0.214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-0.329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0.148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harsh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0.376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-0.125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0.354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-0.218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0.446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0.244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persevr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-0.398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0.250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-0.115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0.277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-0.371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0.187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friendl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-0.642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0.220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-0.193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0.313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worryin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0.296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-0.401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0.484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-0.376        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respnsi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-0.463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0.478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-0.209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0.172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0.146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0.172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-0.121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contrar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0.389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-0.154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0.437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-0.231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0.312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0.166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0.172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sociabl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-0.619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-0.408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-0.119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0.158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lazy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0.529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-0.318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0.135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0.323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0.120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coopera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-0.464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0.459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0.196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quiet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0.574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0.461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0.346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0.187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organiz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-0.522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0.588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-0.261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0.211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criticl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0.112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0.400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-0.257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0.276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0.154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0.185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-0.147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lax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0.210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-0.242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0.383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0.165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0.166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0.124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laidbck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0.997                                                        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withdrw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0.726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0.344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0.138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0.306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givinup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0.600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0.135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0.255  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39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easygon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-0.220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0.542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0.143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0.104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0.208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-0.105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0.117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089" marR="52089" marT="0" marB="0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2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Discriminant Analysis (LDA)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2133600"/>
            <a:ext cx="6591985" cy="377762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is used to find linear combinations of variables that characterize or separate classes of objects or events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seeks to reduce dimensionality while preserving class discriminatory information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is a generalization of Fisher’s linear discriminant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59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905000"/>
            <a:ext cx="6591985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We’ve got a cancer drug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great for some people</a:t>
            </a:r>
            <a:r>
              <a:rPr lang="is-I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is-I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but it makes other people feel worse.  </a:t>
            </a:r>
            <a:r>
              <a:rPr lang="is-I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:(</a:t>
            </a:r>
            <a:endParaRPr lang="is-I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is-I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s-I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decide who to give the drug to?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is-I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Maybe gene expression can help us decide.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06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one gene to decide</a:t>
            </a:r>
            <a:r>
              <a:rPr lang="is-I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107741" y="3319887"/>
            <a:ext cx="6928518" cy="357217"/>
            <a:chOff x="1107741" y="3424746"/>
            <a:chExt cx="6928518" cy="35721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107741" y="3600520"/>
              <a:ext cx="6928518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266497" y="3424746"/>
              <a:ext cx="6611007" cy="357217"/>
              <a:chOff x="1270039" y="3424746"/>
              <a:chExt cx="6611007" cy="357217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270039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742254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21446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68668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315889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63111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10332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57554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504775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51997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99218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46440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93661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740883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7881046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Oval 26"/>
          <p:cNvSpPr/>
          <p:nvPr/>
        </p:nvSpPr>
        <p:spPr>
          <a:xfrm>
            <a:off x="7405292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69493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167148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044217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869575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73772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50056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44499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972783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823255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572002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397360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819368" y="3708911"/>
            <a:ext cx="7505265" cy="369332"/>
            <a:chOff x="897213" y="3965233"/>
            <a:chExt cx="7505265" cy="369332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5044217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651353" y="3965233"/>
              <a:ext cx="1751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transcripts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2683142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897213" y="3965233"/>
              <a:ext cx="1853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Fewer Transcripts</a:t>
              </a:r>
            </a:p>
          </p:txBody>
        </p:sp>
      </p:grpSp>
      <p:sp>
        <p:nvSpPr>
          <p:cNvPr id="46" name="Oval 45"/>
          <p:cNvSpPr/>
          <p:nvPr/>
        </p:nvSpPr>
        <p:spPr>
          <a:xfrm>
            <a:off x="1500568" y="461332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774836" y="4547733"/>
            <a:ext cx="190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works!</a:t>
            </a:r>
          </a:p>
        </p:txBody>
      </p:sp>
      <p:sp>
        <p:nvSpPr>
          <p:cNvPr id="48" name="Oval 47"/>
          <p:cNvSpPr/>
          <p:nvPr/>
        </p:nvSpPr>
        <p:spPr>
          <a:xfrm>
            <a:off x="1500568" y="504743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1774836" y="4981843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drug does not work </a:t>
            </a:r>
            <a:r>
              <a:rPr lang="is-IS" dirty="0">
                <a:sym typeface="Wingdings"/>
              </a:rPr>
              <a:t>:(</a:t>
            </a:r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8108223" y="3495661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16454" y="3496063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08204" y="2444931"/>
            <a:ext cx="2527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for Gene X</a:t>
            </a:r>
          </a:p>
        </p:txBody>
      </p:sp>
      <p:sp>
        <p:nvSpPr>
          <p:cNvPr id="50" name="Oval 49"/>
          <p:cNvSpPr/>
          <p:nvPr/>
        </p:nvSpPr>
        <p:spPr>
          <a:xfrm>
            <a:off x="978778" y="2814263"/>
            <a:ext cx="2528510" cy="1079314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766674" y="1487544"/>
            <a:ext cx="3417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most part, the drug works in people with low transcription of gene X.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774836" y="2260271"/>
            <a:ext cx="101155" cy="4660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5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one gene to decide</a:t>
            </a:r>
            <a:r>
              <a:rPr lang="is-I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107741" y="3319887"/>
            <a:ext cx="6928518" cy="357217"/>
            <a:chOff x="1107741" y="3424746"/>
            <a:chExt cx="6928518" cy="35721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107741" y="3600520"/>
              <a:ext cx="6928518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266497" y="3424746"/>
              <a:ext cx="6611007" cy="357217"/>
              <a:chOff x="1270039" y="3424746"/>
              <a:chExt cx="6611007" cy="357217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270039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742254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21446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68668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315889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63111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10332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57554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504775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51997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99218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46440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93661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740883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7881046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Oval 26"/>
          <p:cNvSpPr/>
          <p:nvPr/>
        </p:nvSpPr>
        <p:spPr>
          <a:xfrm>
            <a:off x="7405292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69493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167148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044217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869575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73772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50056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44499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972783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823255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572002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397360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819368" y="3708911"/>
            <a:ext cx="7505265" cy="369332"/>
            <a:chOff x="897213" y="3965233"/>
            <a:chExt cx="7505265" cy="369332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5044217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651353" y="3965233"/>
              <a:ext cx="1751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transcripts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2683142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897213" y="3965233"/>
              <a:ext cx="1853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Fewer Transcripts</a:t>
              </a:r>
            </a:p>
          </p:txBody>
        </p:sp>
      </p:grpSp>
      <p:sp>
        <p:nvSpPr>
          <p:cNvPr id="46" name="Oval 45"/>
          <p:cNvSpPr/>
          <p:nvPr/>
        </p:nvSpPr>
        <p:spPr>
          <a:xfrm>
            <a:off x="1500568" y="461332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774836" y="4547733"/>
            <a:ext cx="190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works!</a:t>
            </a:r>
          </a:p>
        </p:txBody>
      </p:sp>
      <p:sp>
        <p:nvSpPr>
          <p:cNvPr id="48" name="Oval 47"/>
          <p:cNvSpPr/>
          <p:nvPr/>
        </p:nvSpPr>
        <p:spPr>
          <a:xfrm>
            <a:off x="1500568" y="504743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1774836" y="4981843"/>
            <a:ext cx="276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does not work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:(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8108223" y="3495661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16454" y="3496063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08204" y="2444931"/>
            <a:ext cx="2527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for Gene X</a:t>
            </a:r>
          </a:p>
        </p:txBody>
      </p:sp>
      <p:sp>
        <p:nvSpPr>
          <p:cNvPr id="2" name="Oval 1"/>
          <p:cNvSpPr/>
          <p:nvPr/>
        </p:nvSpPr>
        <p:spPr>
          <a:xfrm>
            <a:off x="978778" y="2814263"/>
            <a:ext cx="2528510" cy="1079314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6674" y="1487544"/>
            <a:ext cx="3417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most part, the drug works in people with low transcription of gene X.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774836" y="2260271"/>
            <a:ext cx="101155" cy="4660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659331" y="2814263"/>
            <a:ext cx="2528510" cy="1079314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5434863" y="1487544"/>
            <a:ext cx="3417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for the most part, the drug does not work in people with high transcription of gene X.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6398901" y="2410874"/>
            <a:ext cx="123921" cy="3029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266865" y="2814263"/>
            <a:ext cx="2528510" cy="1079314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277873" y="1487544"/>
            <a:ext cx="3417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there is overlap and no obvious “cutoff” for who to give the drug to.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3975867" y="2410874"/>
            <a:ext cx="123921" cy="3029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7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54" grpId="0"/>
      <p:bldP spid="55" grpId="0" animBg="1"/>
      <p:bldP spid="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one gene to decide</a:t>
            </a:r>
            <a:r>
              <a:rPr lang="is-I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107741" y="3319887"/>
            <a:ext cx="6928518" cy="357217"/>
            <a:chOff x="1107741" y="3424746"/>
            <a:chExt cx="6928518" cy="357217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107741" y="3600520"/>
              <a:ext cx="6928518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266497" y="3424746"/>
              <a:ext cx="6611007" cy="357217"/>
              <a:chOff x="1270039" y="3424746"/>
              <a:chExt cx="6611007" cy="357217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270039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742254" y="3424747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21446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68668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315889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63111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410332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4575544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5047759" y="343041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51997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99218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46440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936619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7408834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7881046" y="3424746"/>
                <a:ext cx="0" cy="351547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Oval 26"/>
          <p:cNvSpPr/>
          <p:nvPr/>
        </p:nvSpPr>
        <p:spPr>
          <a:xfrm>
            <a:off x="7405292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69493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167148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044217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869575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737723" y="325751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50056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444998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972783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2823255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572002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397360" y="325751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819368" y="3708911"/>
            <a:ext cx="7505265" cy="369332"/>
            <a:chOff x="897213" y="3965233"/>
            <a:chExt cx="7505265" cy="369332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5044217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651353" y="3965233"/>
              <a:ext cx="1751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transcripts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2683142" y="4149899"/>
              <a:ext cx="1650716" cy="0"/>
            </a:xfrm>
            <a:prstGeom prst="straightConnector1">
              <a:avLst/>
            </a:prstGeom>
            <a:ln w="38100" cmpd="sng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897213" y="3965233"/>
              <a:ext cx="1853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Fewer Transcripts</a:t>
              </a:r>
            </a:p>
          </p:txBody>
        </p:sp>
      </p:grpSp>
      <p:sp>
        <p:nvSpPr>
          <p:cNvPr id="46" name="Oval 45"/>
          <p:cNvSpPr/>
          <p:nvPr/>
        </p:nvSpPr>
        <p:spPr>
          <a:xfrm>
            <a:off x="1500568" y="4613327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774836" y="4547733"/>
            <a:ext cx="190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works!</a:t>
            </a:r>
          </a:p>
        </p:txBody>
      </p:sp>
      <p:sp>
        <p:nvSpPr>
          <p:cNvPr id="48" name="Oval 47"/>
          <p:cNvSpPr/>
          <p:nvPr/>
        </p:nvSpPr>
        <p:spPr>
          <a:xfrm>
            <a:off x="1500568" y="5047437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1774836" y="4981843"/>
            <a:ext cx="276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does not work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:(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8108223" y="3495661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16454" y="3496063"/>
            <a:ext cx="591287" cy="0"/>
          </a:xfrm>
          <a:prstGeom prst="line">
            <a:avLst/>
          </a:prstGeom>
          <a:ln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663733" y="1456358"/>
            <a:ext cx="5816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summary, Gene X does an OK job at telling us who should take the drug (and who shouldn’t).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do better?     What if we used more than one gene?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89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two genes to decide</a:t>
            </a:r>
            <a:r>
              <a:rPr lang="is-I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017900" y="1980650"/>
            <a:ext cx="3122767" cy="2644751"/>
            <a:chOff x="2027469" y="1619472"/>
            <a:chExt cx="3122767" cy="264475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6140667" y="4457632"/>
            <a:ext cx="1536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X transcripts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6390" y="1656567"/>
            <a:ext cx="1571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Y 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4076" y="2970974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153" y="464870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20" name="Oval 19"/>
          <p:cNvSpPr/>
          <p:nvPr/>
        </p:nvSpPr>
        <p:spPr>
          <a:xfrm>
            <a:off x="1559085" y="5213111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833353" y="5147517"/>
            <a:ext cx="190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works!</a:t>
            </a:r>
          </a:p>
        </p:txBody>
      </p:sp>
      <p:sp>
        <p:nvSpPr>
          <p:cNvPr id="22" name="Oval 21"/>
          <p:cNvSpPr/>
          <p:nvPr/>
        </p:nvSpPr>
        <p:spPr>
          <a:xfrm>
            <a:off x="1559085" y="5647221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833353" y="5581627"/>
            <a:ext cx="276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does not work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:(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390765" y="2199699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23778" y="4231608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748268" y="3933341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961703" y="320049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21799" y="3653720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169826" y="2691352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760414" y="226260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49610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40667" y="2045899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86161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931482" y="372012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276310" y="2087847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3740285" y="2092502"/>
            <a:ext cx="2307704" cy="2271922"/>
          </a:xfrm>
          <a:prstGeom prst="line">
            <a:avLst/>
          </a:prstGeom>
          <a:ln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5496100" y="2970974"/>
            <a:ext cx="784378" cy="454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2057" y="2339510"/>
            <a:ext cx="220225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genes do a better job separating the two categories.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three genes be even better?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0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/>
        </p:nvSpPr>
        <p:spPr>
          <a:xfrm>
            <a:off x="5760414" y="226260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49610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486161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931482" y="372012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276310" y="2087847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2" idx="3"/>
          </p:cNvCxnSpPr>
          <p:nvPr/>
        </p:nvCxnSpPr>
        <p:spPr>
          <a:xfrm>
            <a:off x="2189519" y="3963050"/>
            <a:ext cx="1150916" cy="371080"/>
          </a:xfrm>
          <a:prstGeom prst="straightConnector1">
            <a:avLst/>
          </a:prstGeom>
          <a:ln w="9525" cmpd="sng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three genes to decide</a:t>
            </a:r>
            <a:r>
              <a:rPr lang="is-I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017900" y="1980650"/>
            <a:ext cx="3122767" cy="2644751"/>
            <a:chOff x="2027469" y="1619472"/>
            <a:chExt cx="3122767" cy="264475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 flipV="1">
            <a:off x="3017900" y="3926348"/>
            <a:ext cx="2004165" cy="699053"/>
          </a:xfrm>
          <a:prstGeom prst="line">
            <a:avLst/>
          </a:prstGeom>
          <a:ln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40667" y="4457632"/>
            <a:ext cx="1536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X transcripts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6390" y="1656567"/>
            <a:ext cx="1571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Y transcripts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4076" y="2970974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8153" y="464870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7973" y="377838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Z</a:t>
            </a:r>
          </a:p>
        </p:txBody>
      </p:sp>
      <p:sp>
        <p:nvSpPr>
          <p:cNvPr id="15" name="Oval 14"/>
          <p:cNvSpPr/>
          <p:nvPr/>
        </p:nvSpPr>
        <p:spPr>
          <a:xfrm>
            <a:off x="3390765" y="2199699"/>
            <a:ext cx="233013" cy="23301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623778" y="4231608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591562" y="3776635"/>
            <a:ext cx="296518" cy="296518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961703" y="320049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721799" y="3653720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169826" y="2691352"/>
            <a:ext cx="326274" cy="32627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140667" y="2045899"/>
            <a:ext cx="291302" cy="29130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90990" y="5160209"/>
            <a:ext cx="238144" cy="238144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265258" y="5094615"/>
            <a:ext cx="190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works!</a:t>
            </a:r>
          </a:p>
        </p:txBody>
      </p:sp>
      <p:sp>
        <p:nvSpPr>
          <p:cNvPr id="31" name="Oval 30"/>
          <p:cNvSpPr/>
          <p:nvPr/>
        </p:nvSpPr>
        <p:spPr>
          <a:xfrm>
            <a:off x="990990" y="5594319"/>
            <a:ext cx="238144" cy="238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265258" y="5528725"/>
            <a:ext cx="276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drug does not work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:(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3926764" y="1374804"/>
            <a:ext cx="2749900" cy="2959324"/>
          </a:xfrm>
          <a:custGeom>
            <a:avLst/>
            <a:gdLst>
              <a:gd name="connsiteX0" fmla="*/ 0 w 2749900"/>
              <a:gd name="connsiteY0" fmla="*/ 780609 h 2959324"/>
              <a:gd name="connsiteX1" fmla="*/ 1677905 w 2749900"/>
              <a:gd name="connsiteY1" fmla="*/ 0 h 2959324"/>
              <a:gd name="connsiteX2" fmla="*/ 2749900 w 2749900"/>
              <a:gd name="connsiteY2" fmla="*/ 2784561 h 2959324"/>
              <a:gd name="connsiteX3" fmla="*/ 978778 w 2749900"/>
              <a:gd name="connsiteY3" fmla="*/ 2959324 h 2959324"/>
              <a:gd name="connsiteX4" fmla="*/ 0 w 2749900"/>
              <a:gd name="connsiteY4" fmla="*/ 780609 h 295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900" h="2959324">
                <a:moveTo>
                  <a:pt x="0" y="780609"/>
                </a:moveTo>
                <a:lnTo>
                  <a:pt x="1677905" y="0"/>
                </a:lnTo>
                <a:lnTo>
                  <a:pt x="2749900" y="2784561"/>
                </a:lnTo>
                <a:lnTo>
                  <a:pt x="978778" y="2959324"/>
                </a:lnTo>
                <a:lnTo>
                  <a:pt x="0" y="78060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9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9000"/>
                </a:schemeClr>
              </a:gs>
            </a:gsLst>
            <a:lin ang="16200000" scaled="0"/>
            <a:tileRect/>
          </a:gradFill>
          <a:ln w="19050" cmpd="sng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59819" y="1487682"/>
            <a:ext cx="2435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3 dimensions, we use a plane to try and separate the two categories.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459820" y="2402419"/>
            <a:ext cx="578060" cy="79807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6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or more genes</a:t>
            </a:r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981200"/>
            <a:ext cx="6591985" cy="377762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can’t draw a 4-D graph</a:t>
            </a:r>
            <a:r>
              <a:rPr lang="is-I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 :(</a:t>
            </a:r>
          </a:p>
          <a:p>
            <a:r>
              <a:rPr lang="is-I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Discriminant Analsys (LDA) is like PCA, but it focuses on maximzing the seperatibility among known categories.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02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 simple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3365" y="1374798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 2-D graph to a 1-D graph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25386" y="2922046"/>
            <a:ext cx="3122767" cy="2644751"/>
            <a:chOff x="2027469" y="1619472"/>
            <a:chExt cx="3122767" cy="2644751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190475" y="3912370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5639" y="5590099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12" name="Oval 11"/>
          <p:cNvSpPr/>
          <p:nvPr/>
        </p:nvSpPr>
        <p:spPr>
          <a:xfrm>
            <a:off x="1398251" y="314109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631264" y="5173004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755754" y="4874737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969189" y="4141891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729285" y="4595116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177312" y="3632748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767900" y="3204004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03586" y="3273909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148153" y="2987295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69096" y="3273909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938968" y="4661524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283796" y="302924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/>
          <p:cNvSpPr/>
          <p:nvPr/>
        </p:nvSpPr>
        <p:spPr>
          <a:xfrm rot="16200000">
            <a:off x="2623986" y="1258066"/>
            <a:ext cx="291303" cy="3036655"/>
          </a:xfrm>
          <a:prstGeom prst="rightBrac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367066" y="2157161"/>
            <a:ext cx="29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2-D graph (aka X/Y Graph)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404501" y="3996252"/>
            <a:ext cx="710779" cy="0"/>
          </a:xfrm>
          <a:prstGeom prst="straightConnector1">
            <a:avLst/>
          </a:prstGeom>
          <a:ln w="762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5201777" y="3912370"/>
            <a:ext cx="3757954" cy="139811"/>
            <a:chOff x="4928846" y="4560756"/>
            <a:chExt cx="3757954" cy="139811"/>
          </a:xfrm>
        </p:grpSpPr>
        <p:cxnSp>
          <p:nvCxnSpPr>
            <p:cNvPr id="52" name="Straight Connector 51"/>
            <p:cNvCxnSpPr/>
            <p:nvPr/>
          </p:nvCxnSpPr>
          <p:spPr>
            <a:xfrm flipH="1">
              <a:off x="4928846" y="4676672"/>
              <a:ext cx="3757954" cy="0"/>
            </a:xfrm>
            <a:prstGeom prst="line">
              <a:avLst/>
            </a:prstGeom>
            <a:ln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5301693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534706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822324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965847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793142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6120039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714278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917626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7115728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7671342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7842410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8051595" y="4560756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ight Brace 55"/>
          <p:cNvSpPr/>
          <p:nvPr/>
        </p:nvSpPr>
        <p:spPr>
          <a:xfrm rot="16200000">
            <a:off x="6873672" y="1968769"/>
            <a:ext cx="291303" cy="3036655"/>
          </a:xfrm>
          <a:prstGeom prst="rightBrac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5581796" y="2867864"/>
            <a:ext cx="303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1-D graph (aka number 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91341" y="4551571"/>
            <a:ext cx="3393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provides a way to do this.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what it does, then we’ll go over the details.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4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 2-D graph to a 1-D graph with LDA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17900" y="1980650"/>
            <a:ext cx="3122767" cy="2644751"/>
            <a:chOff x="2027469" y="1619472"/>
            <a:chExt cx="3122767" cy="264475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6140667" y="4457632"/>
            <a:ext cx="1536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X transcripts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6390" y="1656567"/>
            <a:ext cx="1571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Y 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4076" y="2970974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153" y="464870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24" name="Oval 23"/>
          <p:cNvSpPr/>
          <p:nvPr/>
        </p:nvSpPr>
        <p:spPr>
          <a:xfrm>
            <a:off x="3390765" y="2199699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23778" y="4231608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748268" y="3933341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961703" y="320049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21799" y="3653720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169826" y="2691352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760414" y="226260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49610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40667" y="2045899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86161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931482" y="372012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276310" y="2087847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433847" y="5406008"/>
            <a:ext cx="4276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uses both genes to create a new axis...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2645031" y="1747632"/>
            <a:ext cx="3635448" cy="28777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5001421" y="3200495"/>
            <a:ext cx="898804" cy="2205513"/>
          </a:xfrm>
          <a:prstGeom prst="straightConnector1">
            <a:avLst/>
          </a:prstGeom>
          <a:ln w="5715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2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42"/>
          <p:cNvCxnSpPr/>
          <p:nvPr/>
        </p:nvCxnSpPr>
        <p:spPr>
          <a:xfrm flipH="1" flipV="1">
            <a:off x="3687384" y="3845411"/>
            <a:ext cx="121741" cy="150846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a 2-D graph to a 1-D graph with LDA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17900" y="1980650"/>
            <a:ext cx="3122767" cy="2644751"/>
            <a:chOff x="2027469" y="1619472"/>
            <a:chExt cx="3122767" cy="264475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6140667" y="4457632"/>
            <a:ext cx="1536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X transcripts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6390" y="1656567"/>
            <a:ext cx="1571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Y 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4076" y="2970974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153" y="464870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24" name="Oval 23"/>
          <p:cNvSpPr/>
          <p:nvPr/>
        </p:nvSpPr>
        <p:spPr>
          <a:xfrm>
            <a:off x="3390765" y="2199699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23778" y="4231608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748268" y="3933341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961703" y="320049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721799" y="3653720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169826" y="2691352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760414" y="226260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49610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931482" y="372012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276310" y="2087847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645031" y="1747632"/>
            <a:ext cx="3635448" cy="28777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556064" y="2390525"/>
            <a:ext cx="611264" cy="757401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500565" y="2332513"/>
            <a:ext cx="289679" cy="358934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4509289" y="3391021"/>
            <a:ext cx="212013" cy="262699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5202570" y="2831163"/>
            <a:ext cx="663851" cy="822558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486167" y="4043478"/>
            <a:ext cx="121741" cy="150846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4948096" y="2423382"/>
            <a:ext cx="103507" cy="128253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861610" y="2332513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 flipV="1">
            <a:off x="6079796" y="1960303"/>
            <a:ext cx="121741" cy="150846"/>
          </a:xfrm>
          <a:prstGeom prst="straightConnector1">
            <a:avLst/>
          </a:prstGeom>
          <a:ln>
            <a:solidFill>
              <a:srgbClr val="000000"/>
            </a:solidFill>
            <a:prstDash val="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140667" y="2045899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1629090" y="5235619"/>
            <a:ext cx="6184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uses both genes to create a new axis...</a:t>
            </a:r>
          </a:p>
          <a:p>
            <a:pPr algn="ctr"/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projects the data onto this new axis in a way to maximize the separation of the two categories.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19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017900" y="1980650"/>
            <a:ext cx="3122767" cy="2644751"/>
            <a:chOff x="2027469" y="1619472"/>
            <a:chExt cx="3122767" cy="264475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027469" y="1619472"/>
              <a:ext cx="0" cy="2644751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2027471" y="4264223"/>
              <a:ext cx="3122765" cy="0"/>
            </a:xfrm>
            <a:prstGeom prst="line">
              <a:avLst/>
            </a:prstGeom>
            <a:ln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/>
        </p:nvCxnSpPr>
        <p:spPr>
          <a:xfrm flipH="1">
            <a:off x="2645031" y="1747632"/>
            <a:ext cx="3635448" cy="28777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Reducing a 2-D graph to a 1-D graph with LDA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0667" y="4457632"/>
            <a:ext cx="1536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X transcripts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6390" y="1656567"/>
            <a:ext cx="1571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Y 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4076" y="2970974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153" y="464870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X</a:t>
            </a:r>
          </a:p>
        </p:txBody>
      </p:sp>
      <p:sp>
        <p:nvSpPr>
          <p:cNvPr id="24" name="Oval 23"/>
          <p:cNvSpPr/>
          <p:nvPr/>
        </p:nvSpPr>
        <p:spPr>
          <a:xfrm>
            <a:off x="4237209" y="3214483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097398" y="332111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346215" y="3132926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169826" y="2481729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601507" y="2145854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422487" y="2285665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4948096" y="2691447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831564" y="2782828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13929" y="2645111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939985" y="1866480"/>
            <a:ext cx="139811" cy="13981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358008" y="391765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606790" y="3723625"/>
            <a:ext cx="139811" cy="13981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479789" y="5406008"/>
            <a:ext cx="6184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uses both genes to create a new axis...</a:t>
            </a:r>
          </a:p>
          <a:p>
            <a:pPr algn="ctr"/>
            <a:r>
              <a:rPr lang="is-I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projects the data onto this new axis in a way to maximize the separation of the two categories.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37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LDA creates a new axis</a:t>
            </a:r>
            <a:r>
              <a:rPr lang="is-I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68793" y="1264534"/>
            <a:ext cx="4206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axis is created according to two criteria (considered simultaneously):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573491" y="3943639"/>
            <a:ext cx="3950068" cy="139811"/>
            <a:chOff x="2784857" y="3127439"/>
            <a:chExt cx="3950068" cy="139811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784857" y="3197344"/>
              <a:ext cx="39500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 rot="2280000">
              <a:off x="4209947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 rot="2280000">
              <a:off x="4034125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 rot="2280000">
              <a:off x="4346056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 rot="2280000">
              <a:off x="5395988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 rot="2280000">
              <a:off x="5942942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2280000">
              <a:off x="5715796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 rot="2280000">
              <a:off x="5092147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2280000">
              <a:off x="4944059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2280000">
              <a:off x="5172551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 rot="2280000">
              <a:off x="6381666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 rot="2280000">
              <a:off x="3084211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 rot="2280000">
              <a:off x="3399711" y="3127439"/>
              <a:ext cx="139811" cy="139811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1998825" y="3597802"/>
            <a:ext cx="0" cy="645054"/>
          </a:xfrm>
          <a:prstGeom prst="line">
            <a:avLst/>
          </a:prstGeom>
          <a:ln w="57150" cmpd="sng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568856" y="3597802"/>
            <a:ext cx="0" cy="645054"/>
          </a:xfrm>
          <a:prstGeom prst="line">
            <a:avLst/>
          </a:prstGeom>
          <a:ln w="5715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Brace 20"/>
          <p:cNvSpPr/>
          <p:nvPr/>
        </p:nvSpPr>
        <p:spPr>
          <a:xfrm rot="16200000" flipV="1">
            <a:off x="2698208" y="2301004"/>
            <a:ext cx="185229" cy="1591070"/>
          </a:xfrm>
          <a:prstGeom prst="rightBrac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123466" y="2223653"/>
            <a:ext cx="3408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Maximize the distance between means.</a:t>
            </a:r>
          </a:p>
        </p:txBody>
      </p:sp>
      <p:sp>
        <p:nvSpPr>
          <p:cNvPr id="53" name="Right Brace 52"/>
          <p:cNvSpPr/>
          <p:nvPr/>
        </p:nvSpPr>
        <p:spPr>
          <a:xfrm rot="5400000">
            <a:off x="2006025" y="3081458"/>
            <a:ext cx="185229" cy="2508028"/>
          </a:xfrm>
          <a:prstGeom prst="rightBrac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/>
          <p:cNvSpPr/>
          <p:nvPr/>
        </p:nvSpPr>
        <p:spPr>
          <a:xfrm rot="5400000">
            <a:off x="3428786" y="3763561"/>
            <a:ext cx="185231" cy="16338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34839" y="5174737"/>
            <a:ext cx="4385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Minimize the variation (which LDA calls “scatter” and is represented by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within each category.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06951" y="3965635"/>
            <a:ext cx="12282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819002" y="3048936"/>
            <a:ext cx="473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i="1" dirty="0">
                <a:solidFill>
                  <a:srgbClr val="008000"/>
                </a:solidFill>
              </a:rPr>
              <a:t>μ</a:t>
            </a:r>
            <a:endParaRPr lang="en-US" sz="2800" i="1" dirty="0"/>
          </a:p>
        </p:txBody>
      </p:sp>
      <p:sp>
        <p:nvSpPr>
          <p:cNvPr id="60" name="Rectangle 59"/>
          <p:cNvSpPr/>
          <p:nvPr/>
        </p:nvSpPr>
        <p:spPr>
          <a:xfrm>
            <a:off x="3377269" y="3048936"/>
            <a:ext cx="473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i="1" dirty="0">
                <a:solidFill>
                  <a:srgbClr val="FF0000"/>
                </a:solidFill>
              </a:rPr>
              <a:t>μ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904690" y="4347533"/>
            <a:ext cx="4680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008000"/>
                </a:solidFill>
              </a:rPr>
              <a:t>s</a:t>
            </a:r>
            <a:r>
              <a:rPr lang="en-US" sz="2800" baseline="30000" dirty="0">
                <a:solidFill>
                  <a:srgbClr val="008000"/>
                </a:solidFill>
              </a:rPr>
              <a:t>2</a:t>
            </a:r>
            <a:endParaRPr lang="en-US" sz="2800" dirty="0">
              <a:solidFill>
                <a:srgbClr val="008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339885" y="4589208"/>
            <a:ext cx="4680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s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32546" y="3937335"/>
            <a:ext cx="1070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s</a:t>
            </a:r>
            <a:r>
              <a:rPr lang="en-US" sz="2800" baseline="30000" dirty="0">
                <a:solidFill>
                  <a:srgbClr val="008000"/>
                </a:solidFill>
              </a:rPr>
              <a:t>2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+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s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4338330" y="2721567"/>
            <a:ext cx="945406" cy="6173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4889261" y="4589208"/>
            <a:ext cx="581090" cy="585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36755" y="3503145"/>
            <a:ext cx="134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 large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15435" y="4013544"/>
            <a:ext cx="1383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 small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7010998" y="3965635"/>
            <a:ext cx="12282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260763" y="3951292"/>
            <a:ext cx="619040" cy="0"/>
          </a:xfrm>
          <a:prstGeom prst="straightConnector1">
            <a:avLst/>
          </a:prstGeom>
          <a:ln w="5715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859751" y="3350869"/>
            <a:ext cx="15700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</a:t>
            </a:r>
            <a:r>
              <a:rPr lang="el-GR" sz="3200" b="1" i="1" dirty="0">
                <a:solidFill>
                  <a:srgbClr val="008000"/>
                </a:solidFill>
              </a:rPr>
              <a:t>μ</a:t>
            </a:r>
            <a:r>
              <a:rPr lang="el-GR" sz="3200" dirty="0"/>
              <a:t> – </a:t>
            </a:r>
            <a:r>
              <a:rPr lang="el-GR" sz="3200" b="1" i="1" dirty="0">
                <a:solidFill>
                  <a:srgbClr val="FF0000"/>
                </a:solidFill>
              </a:rPr>
              <a:t>μ</a:t>
            </a:r>
            <a:r>
              <a:rPr lang="el-GR" sz="3200" dirty="0"/>
              <a:t>)</a:t>
            </a:r>
            <a:r>
              <a:rPr lang="el-GR" sz="3200" baseline="30000" dirty="0"/>
              <a:t>2</a:t>
            </a:r>
            <a:r>
              <a:rPr lang="el-GR" sz="3200" dirty="0"/>
              <a:t> </a:t>
            </a:r>
            <a:r>
              <a:rPr lang="en-US" sz="3200" dirty="0"/>
              <a:t> </a:t>
            </a:r>
          </a:p>
          <a:p>
            <a:r>
              <a:rPr lang="el-GR" sz="3200" dirty="0"/>
              <a:t> </a:t>
            </a:r>
            <a:r>
              <a:rPr lang="en-US" sz="3200" dirty="0"/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6921" y="2248803"/>
            <a:ext cx="1936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call (</a:t>
            </a:r>
            <a:r>
              <a:rPr lang="el-GR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l-G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istance.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5595945" y="2721567"/>
            <a:ext cx="300976" cy="6173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53" grpId="0" animBg="1"/>
      <p:bldP spid="54" grpId="0" animBg="1"/>
      <p:bldP spid="55" grpId="0"/>
      <p:bldP spid="59" grpId="0"/>
      <p:bldP spid="60" grpId="0"/>
      <p:bldP spid="61" grpId="0"/>
      <p:bldP spid="62" grpId="0"/>
      <p:bldP spid="64" grpId="0"/>
      <p:bldP spid="73" grpId="0"/>
      <p:bldP spid="74" grpId="0"/>
      <p:bldP spid="52" grpId="0"/>
      <p:bldP spid="5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08345"/>
            <a:ext cx="6248400" cy="76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and PCA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95600" y="6581001"/>
            <a:ext cx="6370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https://scikit-learn.org/stable/auto_examples/decomposition/plot_pca_vs_lda.html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1219200"/>
            <a:ext cx="7772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discriminant_analysis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LinearDiscriminantAnalysis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pyplot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decomposition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PCA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2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2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pca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n_components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X_r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pca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).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transform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lda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LinearDiscriminantAnalysis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n_components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X_r2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lda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).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transform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urier New" panose="02070309020205020404" pitchFamily="49" charset="0"/>
              </a:rPr>
              <a:t># Percentage of variance explained for each components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colors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'navy'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'turquoise'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dirty="0" err="1">
                <a:solidFill>
                  <a:srgbClr val="808080"/>
                </a:solidFill>
                <a:latin typeface="Courier New" panose="02070309020205020404" pitchFamily="49" charset="0"/>
              </a:rPr>
              <a:t>darkorange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lw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zip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colors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scatter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alpha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.8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lw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lw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label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'best'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shadow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False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scatterpoints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'PCA of IRIS dataset'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zip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colors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scatter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X_r2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X_r2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alpha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.8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color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label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target_name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legend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loc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'best'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shadow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False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scatterpoints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'LDA of IRIS dataset'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show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5190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08345"/>
            <a:ext cx="6248400" cy="76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and PCA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95600" y="6581001"/>
            <a:ext cx="6370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https://scikit-learn.org/stable/auto_examples/decomposition/plot_pca_vs_lda.html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47800"/>
            <a:ext cx="3581400" cy="25547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964432"/>
            <a:ext cx="3505200" cy="250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23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2286000" cy="388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with the Iris Dataset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84996" y="533400"/>
            <a:ext cx="5221301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&gt; library(MASS)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data("iris")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r &lt;- </a:t>
            </a:r>
            <a:r>
              <a:rPr lang="en-US" sz="1400" dirty="0" err="1">
                <a:solidFill>
                  <a:srgbClr val="0000FF"/>
                </a:solidFill>
              </a:rPr>
              <a:t>lda</a:t>
            </a:r>
            <a:r>
              <a:rPr lang="en-US" sz="1400" dirty="0">
                <a:solidFill>
                  <a:srgbClr val="0000FF"/>
                </a:solidFill>
              </a:rPr>
              <a:t>(formula = Species ~ ., data = iris, prior=c(1,1,1)/3)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r$prior</a:t>
            </a:r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/>
              <a:t>    </a:t>
            </a:r>
            <a:r>
              <a:rPr lang="en-US" sz="1400" dirty="0" err="1"/>
              <a:t>setosa</a:t>
            </a:r>
            <a:r>
              <a:rPr lang="en-US" sz="1400" dirty="0"/>
              <a:t> versicolor  </a:t>
            </a:r>
            <a:r>
              <a:rPr lang="en-US" sz="1400" dirty="0" err="1"/>
              <a:t>virginica</a:t>
            </a:r>
            <a:r>
              <a:rPr lang="en-US" sz="1400" dirty="0"/>
              <a:t> </a:t>
            </a:r>
          </a:p>
          <a:p>
            <a:r>
              <a:rPr lang="en-US" sz="1400" dirty="0"/>
              <a:t> 0.3333333  0.3333333  0.3333333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r$counts</a:t>
            </a:r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/>
              <a:t>    </a:t>
            </a:r>
            <a:r>
              <a:rPr lang="en-US" sz="1400" dirty="0" err="1"/>
              <a:t>setosa</a:t>
            </a:r>
            <a:r>
              <a:rPr lang="en-US" sz="1400" dirty="0"/>
              <a:t> versicolor  </a:t>
            </a:r>
            <a:r>
              <a:rPr lang="en-US" sz="1400" dirty="0" err="1"/>
              <a:t>virginica</a:t>
            </a:r>
            <a:r>
              <a:rPr lang="en-US" sz="1400" dirty="0"/>
              <a:t> </a:t>
            </a:r>
          </a:p>
          <a:p>
            <a:r>
              <a:rPr lang="en-US" sz="1400" dirty="0"/>
              <a:t>        50         50         50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r$means</a:t>
            </a:r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/>
              <a:t>           </a:t>
            </a:r>
            <a:r>
              <a:rPr lang="en-US" sz="1400" dirty="0" err="1"/>
              <a:t>Sepal.Length</a:t>
            </a:r>
            <a:r>
              <a:rPr lang="en-US" sz="1400" dirty="0"/>
              <a:t> </a:t>
            </a:r>
            <a:r>
              <a:rPr lang="en-US" sz="1400" dirty="0" err="1"/>
              <a:t>Sepal.Width</a:t>
            </a:r>
            <a:r>
              <a:rPr lang="en-US" sz="1400" dirty="0"/>
              <a:t> </a:t>
            </a:r>
            <a:r>
              <a:rPr lang="en-US" sz="1400" dirty="0" err="1"/>
              <a:t>Petal.Length</a:t>
            </a:r>
            <a:r>
              <a:rPr lang="en-US" sz="1400" dirty="0"/>
              <a:t> </a:t>
            </a:r>
            <a:r>
              <a:rPr lang="en-US" sz="1400" dirty="0" err="1"/>
              <a:t>Petal.Width</a:t>
            </a:r>
            <a:endParaRPr lang="en-US" sz="1400" dirty="0"/>
          </a:p>
          <a:p>
            <a:r>
              <a:rPr lang="en-US" sz="1400" dirty="0" err="1"/>
              <a:t>setosa</a:t>
            </a:r>
            <a:r>
              <a:rPr lang="en-US" sz="1400" dirty="0"/>
              <a:t>            5.006       3.428        1.462       0.246</a:t>
            </a:r>
          </a:p>
          <a:p>
            <a:r>
              <a:rPr lang="en-US" sz="1400" dirty="0"/>
              <a:t>versicolor        5.936       2.770        4.260       1.326</a:t>
            </a:r>
          </a:p>
          <a:p>
            <a:r>
              <a:rPr lang="en-US" sz="1400" dirty="0" err="1"/>
              <a:t>virginica</a:t>
            </a:r>
            <a:r>
              <a:rPr lang="en-US" sz="1400" dirty="0"/>
              <a:t>         6.588       2.974        5.552       2.026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r$scaling</a:t>
            </a:r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/>
              <a:t>                    LD1         LD2</a:t>
            </a:r>
          </a:p>
          <a:p>
            <a:r>
              <a:rPr lang="en-US" sz="1400" dirty="0" err="1"/>
              <a:t>Sepal.Length</a:t>
            </a:r>
            <a:r>
              <a:rPr lang="en-US" sz="1400" dirty="0"/>
              <a:t>  0.8293776  0.02410215</a:t>
            </a:r>
          </a:p>
          <a:p>
            <a:r>
              <a:rPr lang="en-US" sz="1400" dirty="0" err="1"/>
              <a:t>Sepal.Width</a:t>
            </a:r>
            <a:r>
              <a:rPr lang="en-US" sz="1400" dirty="0"/>
              <a:t>   1.5344731  2.16452123</a:t>
            </a:r>
          </a:p>
          <a:p>
            <a:r>
              <a:rPr lang="en-US" sz="1400" dirty="0" err="1"/>
              <a:t>Petal.Length</a:t>
            </a:r>
            <a:r>
              <a:rPr lang="en-US" sz="1400" dirty="0"/>
              <a:t> -2.2012117 -0.93192121</a:t>
            </a:r>
          </a:p>
          <a:p>
            <a:r>
              <a:rPr lang="en-US" sz="1400" dirty="0" err="1"/>
              <a:t>Petal.Width</a:t>
            </a:r>
            <a:r>
              <a:rPr lang="en-US" sz="1400" dirty="0"/>
              <a:t>  -2.8104603  2.83918785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</a:t>
            </a:r>
            <a:r>
              <a:rPr lang="en-US" sz="1400" dirty="0" err="1">
                <a:solidFill>
                  <a:srgbClr val="0000FF"/>
                </a:solidFill>
              </a:rPr>
              <a:t>r$svd</a:t>
            </a:r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/>
              <a:t>[1] 48.642644  4.579983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prop = r$svd^2/sum(r$svd^2)</a:t>
            </a:r>
          </a:p>
          <a:p>
            <a:r>
              <a:rPr lang="en-US" sz="1400" dirty="0">
                <a:solidFill>
                  <a:srgbClr val="0000FF"/>
                </a:solidFill>
              </a:rPr>
              <a:t>&gt; prop</a:t>
            </a:r>
          </a:p>
          <a:p>
            <a:r>
              <a:rPr lang="en-US" sz="1400" dirty="0"/>
              <a:t>[1] 0.991212605 0.008787395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4459" y="6400264"/>
            <a:ext cx="4897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https://www.r-bloggers.com/computing-and-visualizing-lda-in-r/</a:t>
            </a:r>
          </a:p>
        </p:txBody>
      </p:sp>
    </p:spTree>
    <p:extLst>
      <p:ext uri="{BB962C8B-B14F-4D97-AF65-F5344CB8AC3E}">
        <p14:creationId xmlns:p14="http://schemas.microsoft.com/office/powerpoint/2010/main" val="3190217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304800"/>
            <a:ext cx="5869812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&gt; r2 &lt;- </a:t>
            </a:r>
            <a:r>
              <a:rPr lang="en-US" sz="1600" dirty="0" err="1">
                <a:solidFill>
                  <a:srgbClr val="0000FF"/>
                </a:solidFill>
              </a:rPr>
              <a:t>lda</a:t>
            </a:r>
            <a:r>
              <a:rPr lang="en-US" sz="1600" dirty="0">
                <a:solidFill>
                  <a:srgbClr val="0000FF"/>
                </a:solidFill>
              </a:rPr>
              <a:t>(formula=Species ~ ., data=iris, prior=c(1,1,1)/3, CV=TRUE)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head(r2$class)</a:t>
            </a:r>
          </a:p>
          <a:p>
            <a:r>
              <a:rPr lang="en-US" sz="1600" dirty="0"/>
              <a:t>[1]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endParaRPr lang="en-US" sz="1600" dirty="0"/>
          </a:p>
          <a:p>
            <a:r>
              <a:rPr lang="en-US" sz="1600" dirty="0"/>
              <a:t>Levels: </a:t>
            </a:r>
            <a:r>
              <a:rPr lang="en-US" sz="1600" dirty="0" err="1"/>
              <a:t>setosa</a:t>
            </a:r>
            <a:r>
              <a:rPr lang="en-US" sz="1600" dirty="0"/>
              <a:t> versicolor </a:t>
            </a:r>
            <a:r>
              <a:rPr lang="en-US" sz="1600" dirty="0" err="1"/>
              <a:t>virginica</a:t>
            </a:r>
            <a:endParaRPr lang="en-US" sz="1600" dirty="0"/>
          </a:p>
          <a:p>
            <a:r>
              <a:rPr lang="en-US" sz="1600" dirty="0">
                <a:solidFill>
                  <a:srgbClr val="0000FF"/>
                </a:solidFill>
              </a:rPr>
              <a:t>&gt; head(r2$posterior, 3)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setosa</a:t>
            </a:r>
            <a:r>
              <a:rPr lang="en-US" sz="1600" dirty="0"/>
              <a:t>   versicolor    </a:t>
            </a:r>
            <a:r>
              <a:rPr lang="en-US" sz="1600" dirty="0" err="1"/>
              <a:t>virginica</a:t>
            </a:r>
            <a:endParaRPr lang="en-US" sz="1600" dirty="0"/>
          </a:p>
          <a:p>
            <a:r>
              <a:rPr lang="en-US" sz="1600" dirty="0"/>
              <a:t>1      1 5.087494e-22 4.385241e-42</a:t>
            </a:r>
          </a:p>
          <a:p>
            <a:r>
              <a:rPr lang="en-US" sz="1600" dirty="0"/>
              <a:t>2      1 9.588256e-18 8.888069e-37</a:t>
            </a:r>
          </a:p>
          <a:p>
            <a:r>
              <a:rPr lang="en-US" sz="1600" dirty="0"/>
              <a:t>3      1 1.983745e-19 8.606982e-39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train &lt;- sample(1:150, 75)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r3 &lt;- </a:t>
            </a:r>
            <a:r>
              <a:rPr lang="en-US" sz="1600" dirty="0" err="1">
                <a:solidFill>
                  <a:srgbClr val="0000FF"/>
                </a:solidFill>
              </a:rPr>
              <a:t>lda</a:t>
            </a:r>
            <a:r>
              <a:rPr lang="en-US" sz="1600" dirty="0">
                <a:solidFill>
                  <a:srgbClr val="0000FF"/>
                </a:solidFill>
              </a:rPr>
              <a:t>(Species ~ ., iris, prior = c(1,1,1)/3, subset=train)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</a:t>
            </a:r>
            <a:r>
              <a:rPr lang="en-US" sz="1600" dirty="0" err="1">
                <a:solidFill>
                  <a:srgbClr val="0000FF"/>
                </a:solidFill>
              </a:rPr>
              <a:t>plda</a:t>
            </a:r>
            <a:r>
              <a:rPr lang="en-US" sz="1600" dirty="0">
                <a:solidFill>
                  <a:srgbClr val="0000FF"/>
                </a:solidFill>
              </a:rPr>
              <a:t> = predict(object=r, </a:t>
            </a:r>
            <a:r>
              <a:rPr lang="en-US" sz="1600" dirty="0" err="1">
                <a:solidFill>
                  <a:srgbClr val="0000FF"/>
                </a:solidFill>
              </a:rPr>
              <a:t>newdata</a:t>
            </a:r>
            <a:r>
              <a:rPr lang="en-US" sz="1600" dirty="0">
                <a:solidFill>
                  <a:srgbClr val="0000FF"/>
                </a:solidFill>
              </a:rPr>
              <a:t>=iris[-train, ])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head(</a:t>
            </a:r>
            <a:r>
              <a:rPr lang="en-US" sz="1600" dirty="0" err="1">
                <a:solidFill>
                  <a:srgbClr val="0000FF"/>
                </a:solidFill>
              </a:rPr>
              <a:t>plda$class</a:t>
            </a:r>
            <a:r>
              <a:rPr lang="en-US" sz="1600" dirty="0">
                <a:solidFill>
                  <a:srgbClr val="0000FF"/>
                </a:solidFill>
              </a:rPr>
              <a:t>) </a:t>
            </a:r>
            <a:r>
              <a:rPr lang="en-US" sz="1600" dirty="0"/>
              <a:t>#classification result</a:t>
            </a:r>
          </a:p>
          <a:p>
            <a:r>
              <a:rPr lang="en-US" sz="1600" dirty="0"/>
              <a:t>[1]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r>
              <a:rPr lang="en-US" sz="1600" dirty="0"/>
              <a:t> </a:t>
            </a:r>
            <a:r>
              <a:rPr lang="en-US" sz="1600" dirty="0" err="1"/>
              <a:t>setosa</a:t>
            </a:r>
            <a:endParaRPr lang="en-US" sz="1600" dirty="0"/>
          </a:p>
          <a:p>
            <a:r>
              <a:rPr lang="en-US" sz="1600" dirty="0"/>
              <a:t>Levels: </a:t>
            </a:r>
            <a:r>
              <a:rPr lang="en-US" sz="1600" dirty="0" err="1"/>
              <a:t>setosa</a:t>
            </a:r>
            <a:r>
              <a:rPr lang="en-US" sz="1600" dirty="0"/>
              <a:t> versicolor </a:t>
            </a:r>
            <a:r>
              <a:rPr lang="en-US" sz="1600" dirty="0" err="1"/>
              <a:t>virginica</a:t>
            </a:r>
            <a:endParaRPr lang="en-US" sz="1600" dirty="0"/>
          </a:p>
          <a:p>
            <a:r>
              <a:rPr lang="en-US" sz="1600" dirty="0">
                <a:solidFill>
                  <a:srgbClr val="0000FF"/>
                </a:solidFill>
              </a:rPr>
              <a:t>&gt; head(</a:t>
            </a:r>
            <a:r>
              <a:rPr lang="en-US" sz="1600" dirty="0" err="1">
                <a:solidFill>
                  <a:srgbClr val="0000FF"/>
                </a:solidFill>
              </a:rPr>
              <a:t>plda$posterior</a:t>
            </a:r>
            <a:r>
              <a:rPr lang="en-US" sz="1600" dirty="0">
                <a:solidFill>
                  <a:srgbClr val="0000FF"/>
                </a:solidFill>
              </a:rPr>
              <a:t>, 3)</a:t>
            </a:r>
            <a:r>
              <a:rPr lang="en-US" sz="1600" dirty="0"/>
              <a:t> #posterior prob.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setosa</a:t>
            </a:r>
            <a:r>
              <a:rPr lang="en-US" sz="1600" dirty="0"/>
              <a:t>   versicolor    </a:t>
            </a:r>
            <a:r>
              <a:rPr lang="en-US" sz="1600" dirty="0" err="1"/>
              <a:t>virginica</a:t>
            </a:r>
            <a:endParaRPr lang="en-US" sz="1600" dirty="0"/>
          </a:p>
          <a:p>
            <a:r>
              <a:rPr lang="en-US" sz="1600" dirty="0"/>
              <a:t>1      1 3.896358e-22 2.611168e-42</a:t>
            </a:r>
          </a:p>
          <a:p>
            <a:r>
              <a:rPr lang="en-US" sz="1600" dirty="0"/>
              <a:t>2      1 7.217970e-18 5.042143e-37</a:t>
            </a:r>
          </a:p>
          <a:p>
            <a:r>
              <a:rPr lang="en-US" sz="1600" dirty="0"/>
              <a:t>3      1 1.463849e-19 4.675932e-39</a:t>
            </a:r>
          </a:p>
          <a:p>
            <a:r>
              <a:rPr lang="en-US" sz="1600" dirty="0">
                <a:solidFill>
                  <a:srgbClr val="0000FF"/>
                </a:solidFill>
              </a:rPr>
              <a:t>&gt; head(</a:t>
            </a:r>
            <a:r>
              <a:rPr lang="en-US" sz="1600" dirty="0" err="1">
                <a:solidFill>
                  <a:srgbClr val="0000FF"/>
                </a:solidFill>
              </a:rPr>
              <a:t>plda$x</a:t>
            </a:r>
            <a:r>
              <a:rPr lang="en-US" sz="1600" dirty="0">
                <a:solidFill>
                  <a:srgbClr val="0000FF"/>
                </a:solidFill>
              </a:rPr>
              <a:t>, 3) </a:t>
            </a:r>
            <a:r>
              <a:rPr lang="en-US" sz="1600" dirty="0"/>
              <a:t>#LD projections</a:t>
            </a:r>
          </a:p>
          <a:p>
            <a:r>
              <a:rPr lang="en-US" sz="1600" dirty="0"/>
              <a:t>       LD1        LD2</a:t>
            </a:r>
          </a:p>
          <a:p>
            <a:r>
              <a:rPr lang="en-US" sz="1600" dirty="0"/>
              <a:t>1 8.061800  0.3004206</a:t>
            </a:r>
          </a:p>
          <a:p>
            <a:r>
              <a:rPr lang="en-US" sz="1600" dirty="0"/>
              <a:t>2 7.128688 -0.7866604</a:t>
            </a:r>
          </a:p>
          <a:p>
            <a:r>
              <a:rPr lang="en-US" sz="1600" dirty="0"/>
              <a:t>3 7.489828 -0.2653845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23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8155" y="228600"/>
            <a:ext cx="4653518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echa</a:t>
            </a:r>
            <a:r>
              <a:rPr lang="en-US" sz="1500" dirty="0">
                <a:solidFill>
                  <a:srgbClr val="0000FF"/>
                </a:solidFill>
              </a:rPr>
              <a:t> &lt;- sample(1:150, 50)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tabref</a:t>
            </a:r>
            <a:r>
              <a:rPr lang="en-US" sz="1500" dirty="0">
                <a:solidFill>
                  <a:srgbClr val="0000FF"/>
                </a:solidFill>
              </a:rPr>
              <a:t> &lt;- iris[</a:t>
            </a:r>
            <a:r>
              <a:rPr lang="en-US" sz="1500" dirty="0" err="1">
                <a:solidFill>
                  <a:srgbClr val="0000FF"/>
                </a:solidFill>
              </a:rPr>
              <a:t>echa</a:t>
            </a:r>
            <a:r>
              <a:rPr lang="en-US" sz="1500" dirty="0">
                <a:solidFill>
                  <a:srgbClr val="0000FF"/>
                </a:solidFill>
              </a:rPr>
              <a:t>, 1:4]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espref</a:t>
            </a:r>
            <a:r>
              <a:rPr lang="en-US" sz="1500" dirty="0">
                <a:solidFill>
                  <a:srgbClr val="0000FF"/>
                </a:solidFill>
              </a:rPr>
              <a:t> &lt;- iris[</a:t>
            </a:r>
            <a:r>
              <a:rPr lang="en-US" sz="1500" dirty="0" err="1">
                <a:solidFill>
                  <a:srgbClr val="0000FF"/>
                </a:solidFill>
              </a:rPr>
              <a:t>echa</a:t>
            </a:r>
            <a:r>
              <a:rPr lang="en-US" sz="1500" dirty="0">
                <a:solidFill>
                  <a:srgbClr val="0000FF"/>
                </a:solidFill>
              </a:rPr>
              <a:t>, 5]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tabsup</a:t>
            </a:r>
            <a:r>
              <a:rPr lang="en-US" sz="1500" dirty="0">
                <a:solidFill>
                  <a:srgbClr val="0000FF"/>
                </a:solidFill>
              </a:rPr>
              <a:t> &lt;- iris[-</a:t>
            </a:r>
            <a:r>
              <a:rPr lang="en-US" sz="1500" dirty="0" err="1">
                <a:solidFill>
                  <a:srgbClr val="0000FF"/>
                </a:solidFill>
              </a:rPr>
              <a:t>echa</a:t>
            </a:r>
            <a:r>
              <a:rPr lang="en-US" sz="1500" dirty="0">
                <a:solidFill>
                  <a:srgbClr val="0000FF"/>
                </a:solidFill>
              </a:rPr>
              <a:t>, 1:4]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espsup</a:t>
            </a:r>
            <a:r>
              <a:rPr lang="en-US" sz="1500" dirty="0">
                <a:solidFill>
                  <a:srgbClr val="0000FF"/>
                </a:solidFill>
              </a:rPr>
              <a:t> &lt;- iris[-</a:t>
            </a:r>
            <a:r>
              <a:rPr lang="en-US" sz="1500" dirty="0" err="1">
                <a:solidFill>
                  <a:srgbClr val="0000FF"/>
                </a:solidFill>
              </a:rPr>
              <a:t>echa</a:t>
            </a:r>
            <a:r>
              <a:rPr lang="en-US" sz="1500" dirty="0">
                <a:solidFill>
                  <a:srgbClr val="0000FF"/>
                </a:solidFill>
              </a:rPr>
              <a:t>, 5]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lda0 &lt;- </a:t>
            </a:r>
            <a:r>
              <a:rPr lang="en-US" sz="1500" dirty="0" err="1">
                <a:solidFill>
                  <a:srgbClr val="0000FF"/>
                </a:solidFill>
              </a:rPr>
              <a:t>lda</a:t>
            </a:r>
            <a:r>
              <a:rPr lang="en-US" sz="1500" dirty="0">
                <a:solidFill>
                  <a:srgbClr val="0000FF"/>
                </a:solidFill>
              </a:rPr>
              <a:t>(</a:t>
            </a:r>
            <a:r>
              <a:rPr lang="en-US" sz="1500" dirty="0" err="1">
                <a:solidFill>
                  <a:srgbClr val="0000FF"/>
                </a:solidFill>
              </a:rPr>
              <a:t>tabref</a:t>
            </a:r>
            <a:r>
              <a:rPr lang="en-US" sz="1500" dirty="0">
                <a:solidFill>
                  <a:srgbClr val="0000FF"/>
                </a:solidFill>
              </a:rPr>
              <a:t>, </a:t>
            </a:r>
            <a:r>
              <a:rPr lang="en-US" sz="1500" dirty="0" err="1">
                <a:solidFill>
                  <a:srgbClr val="0000FF"/>
                </a:solidFill>
              </a:rPr>
              <a:t>espref</a:t>
            </a:r>
            <a:r>
              <a:rPr lang="en-US" sz="1500" dirty="0">
                <a:solidFill>
                  <a:srgbClr val="0000FF"/>
                </a:solidFill>
              </a:rPr>
              <a:t>)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lda0</a:t>
            </a:r>
          </a:p>
          <a:p>
            <a:r>
              <a:rPr lang="en-US" sz="1500" dirty="0"/>
              <a:t>Call:</a:t>
            </a:r>
          </a:p>
          <a:p>
            <a:r>
              <a:rPr lang="en-US" sz="1500" dirty="0" err="1"/>
              <a:t>lda</a:t>
            </a:r>
            <a:r>
              <a:rPr lang="en-US" sz="1500" dirty="0"/>
              <a:t>(</a:t>
            </a:r>
            <a:r>
              <a:rPr lang="en-US" sz="1500" dirty="0" err="1"/>
              <a:t>tabref</a:t>
            </a:r>
            <a:r>
              <a:rPr lang="en-US" sz="1500" dirty="0"/>
              <a:t>, </a:t>
            </a:r>
            <a:r>
              <a:rPr lang="en-US" sz="1500" dirty="0" err="1"/>
              <a:t>espref</a:t>
            </a:r>
            <a:r>
              <a:rPr lang="en-US" sz="1500" dirty="0"/>
              <a:t>)</a:t>
            </a:r>
          </a:p>
          <a:p>
            <a:endParaRPr lang="en-US" sz="1500" dirty="0"/>
          </a:p>
          <a:p>
            <a:r>
              <a:rPr lang="en-US" sz="1500" dirty="0"/>
              <a:t>Prior probabilities of groups:</a:t>
            </a:r>
          </a:p>
          <a:p>
            <a:r>
              <a:rPr lang="en-US" sz="1500" dirty="0"/>
              <a:t>    </a:t>
            </a:r>
            <a:r>
              <a:rPr lang="en-US" sz="1500" dirty="0" err="1"/>
              <a:t>setosa</a:t>
            </a:r>
            <a:r>
              <a:rPr lang="en-US" sz="1500" dirty="0"/>
              <a:t> versicolor  </a:t>
            </a:r>
            <a:r>
              <a:rPr lang="en-US" sz="1500" dirty="0" err="1"/>
              <a:t>virginica</a:t>
            </a:r>
            <a:r>
              <a:rPr lang="en-US" sz="1500" dirty="0"/>
              <a:t> </a:t>
            </a:r>
          </a:p>
          <a:p>
            <a:r>
              <a:rPr lang="en-US" sz="1500" dirty="0"/>
              <a:t>      0.32       0.32       0.36 </a:t>
            </a:r>
          </a:p>
          <a:p>
            <a:endParaRPr lang="en-US" sz="1500" dirty="0"/>
          </a:p>
          <a:p>
            <a:r>
              <a:rPr lang="en-US" sz="1500" dirty="0"/>
              <a:t>Group means:</a:t>
            </a:r>
          </a:p>
          <a:p>
            <a:r>
              <a:rPr lang="en-US" sz="1500" dirty="0"/>
              <a:t>           </a:t>
            </a:r>
            <a:r>
              <a:rPr lang="en-US" sz="1500" dirty="0" err="1"/>
              <a:t>Sepal.Length</a:t>
            </a:r>
            <a:r>
              <a:rPr lang="en-US" sz="1500" dirty="0"/>
              <a:t> </a:t>
            </a:r>
            <a:r>
              <a:rPr lang="en-US" sz="1500" dirty="0" err="1"/>
              <a:t>Sepal.Width</a:t>
            </a:r>
            <a:r>
              <a:rPr lang="en-US" sz="1500" dirty="0"/>
              <a:t> </a:t>
            </a:r>
            <a:r>
              <a:rPr lang="en-US" sz="1500" dirty="0" err="1"/>
              <a:t>Petal.Length</a:t>
            </a:r>
            <a:r>
              <a:rPr lang="en-US" sz="1500" dirty="0"/>
              <a:t> </a:t>
            </a:r>
            <a:r>
              <a:rPr lang="en-US" sz="1500" dirty="0" err="1"/>
              <a:t>Petal.Width</a:t>
            </a:r>
            <a:endParaRPr lang="en-US" sz="1500" dirty="0"/>
          </a:p>
          <a:p>
            <a:r>
              <a:rPr lang="en-US" sz="1500" dirty="0" err="1"/>
              <a:t>setosa</a:t>
            </a:r>
            <a:r>
              <a:rPr lang="en-US" sz="1500" dirty="0"/>
              <a:t>         5.037500    3.431250     1.487500    0.256250</a:t>
            </a:r>
          </a:p>
          <a:p>
            <a:r>
              <a:rPr lang="en-US" sz="1500" dirty="0"/>
              <a:t>versicolor     6.125000    2.800000     4.375000    1.400000</a:t>
            </a:r>
          </a:p>
          <a:p>
            <a:r>
              <a:rPr lang="en-US" sz="1500" dirty="0" err="1"/>
              <a:t>virginica</a:t>
            </a:r>
            <a:r>
              <a:rPr lang="en-US" sz="1500" dirty="0"/>
              <a:t>      6.622222    3.044444     5.477778    2.033333</a:t>
            </a:r>
          </a:p>
          <a:p>
            <a:endParaRPr lang="en-US" sz="1500" dirty="0"/>
          </a:p>
          <a:p>
            <a:r>
              <a:rPr lang="en-US" sz="1500" dirty="0"/>
              <a:t>Coefficients of linear discriminants:</a:t>
            </a:r>
          </a:p>
          <a:p>
            <a:r>
              <a:rPr lang="en-US" sz="1500" dirty="0"/>
              <a:t>                   LD1        LD2</a:t>
            </a:r>
          </a:p>
          <a:p>
            <a:r>
              <a:rPr lang="en-US" sz="1500" dirty="0" err="1"/>
              <a:t>Sepal.Length</a:t>
            </a:r>
            <a:r>
              <a:rPr lang="en-US" sz="1500" dirty="0"/>
              <a:t>  1.633904  0.8667576</a:t>
            </a:r>
          </a:p>
          <a:p>
            <a:r>
              <a:rPr lang="en-US" sz="1500" dirty="0" err="1"/>
              <a:t>Sepal.Width</a:t>
            </a:r>
            <a:r>
              <a:rPr lang="en-US" sz="1500" dirty="0"/>
              <a:t>   1.138961 -3.0680077</a:t>
            </a:r>
          </a:p>
          <a:p>
            <a:r>
              <a:rPr lang="en-US" sz="1500" dirty="0" err="1"/>
              <a:t>Petal.Length</a:t>
            </a:r>
            <a:r>
              <a:rPr lang="en-US" sz="1500" dirty="0"/>
              <a:t> -3.307819  0.2157918</a:t>
            </a:r>
          </a:p>
          <a:p>
            <a:r>
              <a:rPr lang="en-US" sz="1500" dirty="0" err="1"/>
              <a:t>Petal.Width</a:t>
            </a:r>
            <a:r>
              <a:rPr lang="en-US" sz="1500" dirty="0"/>
              <a:t>  -1.393453 -2.1223230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1660" y="609600"/>
            <a:ext cx="3363357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  <a:p>
            <a:r>
              <a:rPr lang="en-US" sz="1500" dirty="0"/>
              <a:t>Proportion of trace:</a:t>
            </a:r>
          </a:p>
          <a:p>
            <a:r>
              <a:rPr lang="en-US" sz="1500" dirty="0"/>
              <a:t>  LD1   LD2 </a:t>
            </a:r>
          </a:p>
          <a:p>
            <a:r>
              <a:rPr lang="en-US" sz="1500" dirty="0"/>
              <a:t>0.989 0.011 </a:t>
            </a:r>
          </a:p>
          <a:p>
            <a:endParaRPr lang="en-US" sz="1500" dirty="0"/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</a:t>
            </a:r>
            <a:r>
              <a:rPr lang="en-US" sz="1500" dirty="0" err="1">
                <a:solidFill>
                  <a:srgbClr val="0000FF"/>
                </a:solidFill>
              </a:rPr>
              <a:t>espestim</a:t>
            </a:r>
            <a:r>
              <a:rPr lang="en-US" sz="1500" dirty="0">
                <a:solidFill>
                  <a:srgbClr val="0000FF"/>
                </a:solidFill>
              </a:rPr>
              <a:t> &lt;- predict(lda0, </a:t>
            </a:r>
            <a:r>
              <a:rPr lang="en-US" sz="1500" dirty="0" err="1">
                <a:solidFill>
                  <a:srgbClr val="0000FF"/>
                </a:solidFill>
              </a:rPr>
              <a:t>tabsup</a:t>
            </a:r>
            <a:r>
              <a:rPr lang="en-US" sz="1500" dirty="0">
                <a:solidFill>
                  <a:srgbClr val="0000FF"/>
                </a:solidFill>
              </a:rPr>
              <a:t>)$class</a:t>
            </a:r>
          </a:p>
          <a:p>
            <a:r>
              <a:rPr lang="en-US" sz="1500" dirty="0">
                <a:solidFill>
                  <a:srgbClr val="0000FF"/>
                </a:solidFill>
              </a:rPr>
              <a:t>&gt; table(</a:t>
            </a:r>
            <a:r>
              <a:rPr lang="en-US" sz="1500" dirty="0" err="1">
                <a:solidFill>
                  <a:srgbClr val="0000FF"/>
                </a:solidFill>
              </a:rPr>
              <a:t>espestim</a:t>
            </a:r>
            <a:r>
              <a:rPr lang="en-US" sz="1500" dirty="0">
                <a:solidFill>
                  <a:srgbClr val="0000FF"/>
                </a:solidFill>
              </a:rPr>
              <a:t>, </a:t>
            </a:r>
            <a:r>
              <a:rPr lang="en-US" sz="1500" dirty="0" err="1">
                <a:solidFill>
                  <a:srgbClr val="0000FF"/>
                </a:solidFill>
              </a:rPr>
              <a:t>espsup</a:t>
            </a:r>
            <a:r>
              <a:rPr lang="en-US" sz="1500" dirty="0">
                <a:solidFill>
                  <a:srgbClr val="0000FF"/>
                </a:solidFill>
              </a:rPr>
              <a:t>)</a:t>
            </a:r>
          </a:p>
          <a:p>
            <a:endParaRPr lang="en-US" sz="1500" dirty="0"/>
          </a:p>
          <a:p>
            <a:r>
              <a:rPr lang="en-US" sz="1500" dirty="0"/>
              <a:t>            </a:t>
            </a:r>
            <a:r>
              <a:rPr lang="en-US" sz="1500" dirty="0" err="1"/>
              <a:t>espsup</a:t>
            </a:r>
            <a:endParaRPr lang="en-US" sz="1500" dirty="0"/>
          </a:p>
          <a:p>
            <a:r>
              <a:rPr lang="en-US" sz="1500" dirty="0" err="1"/>
              <a:t>espestim</a:t>
            </a:r>
            <a:r>
              <a:rPr lang="en-US" sz="1500" dirty="0"/>
              <a:t>     </a:t>
            </a:r>
            <a:r>
              <a:rPr lang="en-US" sz="1500" dirty="0" err="1"/>
              <a:t>setosa</a:t>
            </a:r>
            <a:r>
              <a:rPr lang="en-US" sz="1500" dirty="0"/>
              <a:t> versicolor </a:t>
            </a:r>
            <a:r>
              <a:rPr lang="en-US" sz="1500" dirty="0" err="1"/>
              <a:t>virginica</a:t>
            </a:r>
            <a:endParaRPr lang="en-US" sz="1500" dirty="0"/>
          </a:p>
          <a:p>
            <a:r>
              <a:rPr lang="en-US" sz="1500" dirty="0"/>
              <a:t>  </a:t>
            </a:r>
            <a:r>
              <a:rPr lang="en-US" sz="1500" dirty="0" err="1"/>
              <a:t>setosa</a:t>
            </a:r>
            <a:r>
              <a:rPr lang="en-US" sz="1500" dirty="0"/>
              <a:t>          34           0          0</a:t>
            </a:r>
          </a:p>
          <a:p>
            <a:r>
              <a:rPr lang="en-US" sz="1500" dirty="0"/>
              <a:t>  versicolor      0         32          0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virginica</a:t>
            </a:r>
            <a:r>
              <a:rPr lang="en-US" sz="1500" dirty="0"/>
              <a:t>         0           2        32</a:t>
            </a:r>
          </a:p>
          <a:p>
            <a:endParaRPr lang="en-US" sz="15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0" y="6284536"/>
            <a:ext cx="339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https://pbil.univ-lyon1.fr/R/pdf/course5.pdf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81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1228" y="1098913"/>
            <a:ext cx="8207696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require(MASS)</a:t>
            </a:r>
          </a:p>
          <a:p>
            <a:r>
              <a:rPr lang="en-US" sz="1200" dirty="0">
                <a:solidFill>
                  <a:srgbClr val="0000FF"/>
                </a:solidFill>
              </a:rPr>
              <a:t>require(ggplot2)</a:t>
            </a:r>
          </a:p>
          <a:p>
            <a:r>
              <a:rPr lang="en-US" sz="1200" dirty="0">
                <a:solidFill>
                  <a:srgbClr val="0000FF"/>
                </a:solidFill>
              </a:rPr>
              <a:t>require(scales)</a:t>
            </a:r>
          </a:p>
          <a:p>
            <a:r>
              <a:rPr lang="en-US" sz="1200" dirty="0">
                <a:solidFill>
                  <a:srgbClr val="0000FF"/>
                </a:solidFill>
              </a:rPr>
              <a:t>require(</a:t>
            </a:r>
            <a:r>
              <a:rPr lang="en-US" sz="1200" dirty="0" err="1">
                <a:solidFill>
                  <a:srgbClr val="0000FF"/>
                </a:solidFill>
              </a:rPr>
              <a:t>gridExtra</a:t>
            </a:r>
            <a:r>
              <a:rPr lang="en-US" sz="1200" dirty="0">
                <a:solidFill>
                  <a:srgbClr val="0000FF"/>
                </a:solidFill>
              </a:rPr>
              <a:t>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 err="1">
                <a:solidFill>
                  <a:srgbClr val="0000FF"/>
                </a:solidFill>
              </a:rPr>
              <a:t>pca</a:t>
            </a:r>
            <a:r>
              <a:rPr lang="en-US" sz="1200" dirty="0">
                <a:solidFill>
                  <a:srgbClr val="0000FF"/>
                </a:solidFill>
              </a:rPr>
              <a:t> &lt;- </a:t>
            </a:r>
            <a:r>
              <a:rPr lang="en-US" sz="1200" dirty="0" err="1">
                <a:solidFill>
                  <a:srgbClr val="0000FF"/>
                </a:solidFill>
              </a:rPr>
              <a:t>prcomp</a:t>
            </a:r>
            <a:r>
              <a:rPr lang="en-US" sz="1200" dirty="0">
                <a:solidFill>
                  <a:srgbClr val="0000FF"/>
                </a:solidFill>
              </a:rPr>
              <a:t>(iris[,-5],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   center = TRUE,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   scale. = TRUE) </a:t>
            </a:r>
          </a:p>
          <a:p>
            <a:r>
              <a:rPr lang="en-US" sz="1200" dirty="0" err="1">
                <a:solidFill>
                  <a:srgbClr val="0000FF"/>
                </a:solidFill>
              </a:rPr>
              <a:t>prop.pca</a:t>
            </a:r>
            <a:r>
              <a:rPr lang="en-US" sz="1200" dirty="0">
                <a:solidFill>
                  <a:srgbClr val="0000FF"/>
                </a:solidFill>
              </a:rPr>
              <a:t> = pca$sdev^2/sum(pca$sdev^2)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 err="1">
                <a:solidFill>
                  <a:srgbClr val="0000FF"/>
                </a:solidFill>
              </a:rPr>
              <a:t>lda</a:t>
            </a:r>
            <a:r>
              <a:rPr lang="en-US" sz="1200" dirty="0">
                <a:solidFill>
                  <a:srgbClr val="0000FF"/>
                </a:solidFill>
              </a:rPr>
              <a:t> &lt;- </a:t>
            </a:r>
            <a:r>
              <a:rPr lang="en-US" sz="1200" dirty="0" err="1">
                <a:solidFill>
                  <a:srgbClr val="0000FF"/>
                </a:solidFill>
              </a:rPr>
              <a:t>lda</a:t>
            </a:r>
            <a:r>
              <a:rPr lang="en-US" sz="1200" dirty="0">
                <a:solidFill>
                  <a:srgbClr val="0000FF"/>
                </a:solidFill>
              </a:rPr>
              <a:t>(Species ~ ., 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iris, 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prior = c(1,1,1)/3)</a:t>
            </a:r>
          </a:p>
          <a:p>
            <a:r>
              <a:rPr lang="en-US" sz="1200" dirty="0" err="1">
                <a:solidFill>
                  <a:srgbClr val="0000FF"/>
                </a:solidFill>
              </a:rPr>
              <a:t>prop.lda</a:t>
            </a:r>
            <a:r>
              <a:rPr lang="en-US" sz="1200" dirty="0">
                <a:solidFill>
                  <a:srgbClr val="0000FF"/>
                </a:solidFill>
              </a:rPr>
              <a:t> = r$svd^2/sum(r$svd^2)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 err="1">
                <a:solidFill>
                  <a:srgbClr val="0000FF"/>
                </a:solidFill>
              </a:rPr>
              <a:t>plda</a:t>
            </a:r>
            <a:r>
              <a:rPr lang="en-US" sz="1200" dirty="0">
                <a:solidFill>
                  <a:srgbClr val="0000FF"/>
                </a:solidFill>
              </a:rPr>
              <a:t> &lt;- predict(object = </a:t>
            </a:r>
            <a:r>
              <a:rPr lang="en-US" sz="1200" dirty="0" err="1">
                <a:solidFill>
                  <a:srgbClr val="0000FF"/>
                </a:solidFill>
              </a:rPr>
              <a:t>lda</a:t>
            </a:r>
            <a:r>
              <a:rPr lang="en-US" sz="1200" dirty="0">
                <a:solidFill>
                  <a:srgbClr val="0000FF"/>
                </a:solidFill>
              </a:rPr>
              <a:t>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     </a:t>
            </a:r>
            <a:r>
              <a:rPr lang="en-US" sz="1200" dirty="0" err="1">
                <a:solidFill>
                  <a:srgbClr val="0000FF"/>
                </a:solidFill>
              </a:rPr>
              <a:t>newdata</a:t>
            </a:r>
            <a:r>
              <a:rPr lang="en-US" sz="1200" dirty="0">
                <a:solidFill>
                  <a:srgbClr val="0000FF"/>
                </a:solidFill>
              </a:rPr>
              <a:t> = iris)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>
                <a:solidFill>
                  <a:srgbClr val="0000FF"/>
                </a:solidFill>
              </a:rPr>
              <a:t>dataset = </a:t>
            </a:r>
            <a:r>
              <a:rPr lang="en-US" sz="1200" dirty="0" err="1">
                <a:solidFill>
                  <a:srgbClr val="0000FF"/>
                </a:solidFill>
              </a:rPr>
              <a:t>data.frame</a:t>
            </a:r>
            <a:r>
              <a:rPr lang="en-US" sz="1200" dirty="0">
                <a:solidFill>
                  <a:srgbClr val="0000FF"/>
                </a:solidFill>
              </a:rPr>
              <a:t>(species = iris[,"Species"],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              </a:t>
            </a:r>
            <a:r>
              <a:rPr lang="en-US" sz="1200" dirty="0" err="1">
                <a:solidFill>
                  <a:srgbClr val="0000FF"/>
                </a:solidFill>
              </a:rPr>
              <a:t>pca</a:t>
            </a:r>
            <a:r>
              <a:rPr lang="en-US" sz="1200" dirty="0">
                <a:solidFill>
                  <a:srgbClr val="0000FF"/>
                </a:solidFill>
              </a:rPr>
              <a:t> = </a:t>
            </a:r>
            <a:r>
              <a:rPr lang="en-US" sz="1200" dirty="0" err="1">
                <a:solidFill>
                  <a:srgbClr val="0000FF"/>
                </a:solidFill>
              </a:rPr>
              <a:t>pca$x</a:t>
            </a:r>
            <a:r>
              <a:rPr lang="en-US" sz="1200" dirty="0">
                <a:solidFill>
                  <a:srgbClr val="0000FF"/>
                </a:solidFill>
              </a:rPr>
              <a:t>, </a:t>
            </a:r>
            <a:r>
              <a:rPr lang="en-US" sz="1200" dirty="0" err="1">
                <a:solidFill>
                  <a:srgbClr val="0000FF"/>
                </a:solidFill>
              </a:rPr>
              <a:t>lda</a:t>
            </a:r>
            <a:r>
              <a:rPr lang="en-US" sz="1200" dirty="0">
                <a:solidFill>
                  <a:srgbClr val="0000FF"/>
                </a:solidFill>
              </a:rPr>
              <a:t> = </a:t>
            </a:r>
            <a:r>
              <a:rPr lang="en-US" sz="1200" dirty="0" err="1">
                <a:solidFill>
                  <a:srgbClr val="0000FF"/>
                </a:solidFill>
              </a:rPr>
              <a:t>plda$x</a:t>
            </a:r>
            <a:r>
              <a:rPr lang="en-US" sz="1200" dirty="0">
                <a:solidFill>
                  <a:srgbClr val="0000FF"/>
                </a:solidFill>
              </a:rPr>
              <a:t>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>
                <a:solidFill>
                  <a:srgbClr val="0000FF"/>
                </a:solidFill>
              </a:rPr>
              <a:t>p1 &lt;- </a:t>
            </a:r>
            <a:r>
              <a:rPr lang="en-US" sz="1200" dirty="0" err="1">
                <a:solidFill>
                  <a:srgbClr val="0000FF"/>
                </a:solidFill>
              </a:rPr>
              <a:t>ggplot</a:t>
            </a:r>
            <a:r>
              <a:rPr lang="en-US" sz="1200" dirty="0">
                <a:solidFill>
                  <a:srgbClr val="0000FF"/>
                </a:solidFill>
              </a:rPr>
              <a:t>(dataset) + </a:t>
            </a:r>
            <a:r>
              <a:rPr lang="en-US" sz="1200" dirty="0" err="1">
                <a:solidFill>
                  <a:srgbClr val="0000FF"/>
                </a:solidFill>
              </a:rPr>
              <a:t>geom_point</a:t>
            </a:r>
            <a:r>
              <a:rPr lang="en-US" sz="1200" dirty="0">
                <a:solidFill>
                  <a:srgbClr val="0000FF"/>
                </a:solidFill>
              </a:rPr>
              <a:t>(</a:t>
            </a:r>
            <a:r>
              <a:rPr lang="en-US" sz="1200" dirty="0" err="1">
                <a:solidFill>
                  <a:srgbClr val="0000FF"/>
                </a:solidFill>
              </a:rPr>
              <a:t>aes</a:t>
            </a:r>
            <a:r>
              <a:rPr lang="en-US" sz="1200" dirty="0">
                <a:solidFill>
                  <a:srgbClr val="0000FF"/>
                </a:solidFill>
              </a:rPr>
              <a:t>(lda.LD1, lda.LD2, </a:t>
            </a:r>
            <a:r>
              <a:rPr lang="en-US" sz="1200" dirty="0" err="1">
                <a:solidFill>
                  <a:srgbClr val="0000FF"/>
                </a:solidFill>
              </a:rPr>
              <a:t>colour</a:t>
            </a:r>
            <a:r>
              <a:rPr lang="en-US" sz="1200" dirty="0">
                <a:solidFill>
                  <a:srgbClr val="0000FF"/>
                </a:solidFill>
              </a:rPr>
              <a:t> = species, shape = species), size = 2.5) + 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labs(x = paste("LD1 (", percent(</a:t>
            </a:r>
            <a:r>
              <a:rPr lang="en-US" sz="1200" dirty="0" err="1">
                <a:solidFill>
                  <a:srgbClr val="0000FF"/>
                </a:solidFill>
              </a:rPr>
              <a:t>prop.lda</a:t>
            </a:r>
            <a:r>
              <a:rPr lang="en-US" sz="1200" dirty="0">
                <a:solidFill>
                  <a:srgbClr val="0000FF"/>
                </a:solidFill>
              </a:rPr>
              <a:t>[1]), ")", </a:t>
            </a:r>
            <a:r>
              <a:rPr lang="en-US" sz="1200" dirty="0" err="1">
                <a:solidFill>
                  <a:srgbClr val="0000FF"/>
                </a:solidFill>
              </a:rPr>
              <a:t>sep</a:t>
            </a:r>
            <a:r>
              <a:rPr lang="en-US" sz="1200" dirty="0">
                <a:solidFill>
                  <a:srgbClr val="0000FF"/>
                </a:solidFill>
              </a:rPr>
              <a:t>=""),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y = paste("LD2 (", percent(</a:t>
            </a:r>
            <a:r>
              <a:rPr lang="en-US" sz="1200" dirty="0" err="1">
                <a:solidFill>
                  <a:srgbClr val="0000FF"/>
                </a:solidFill>
              </a:rPr>
              <a:t>prop.lda</a:t>
            </a:r>
            <a:r>
              <a:rPr lang="en-US" sz="1200" dirty="0">
                <a:solidFill>
                  <a:srgbClr val="0000FF"/>
                </a:solidFill>
              </a:rPr>
              <a:t>[2]), ")", </a:t>
            </a:r>
            <a:r>
              <a:rPr lang="en-US" sz="1200" dirty="0" err="1">
                <a:solidFill>
                  <a:srgbClr val="0000FF"/>
                </a:solidFill>
              </a:rPr>
              <a:t>sep</a:t>
            </a:r>
            <a:r>
              <a:rPr lang="en-US" sz="1200" dirty="0">
                <a:solidFill>
                  <a:srgbClr val="0000FF"/>
                </a:solidFill>
              </a:rPr>
              <a:t>=""))</a:t>
            </a:r>
          </a:p>
          <a:p>
            <a:r>
              <a:rPr lang="en-US" sz="1200" dirty="0">
                <a:solidFill>
                  <a:srgbClr val="0000FF"/>
                </a:solidFill>
              </a:rPr>
              <a:t>p2 &lt;- </a:t>
            </a:r>
            <a:r>
              <a:rPr lang="en-US" sz="1200" dirty="0" err="1">
                <a:solidFill>
                  <a:srgbClr val="0000FF"/>
                </a:solidFill>
              </a:rPr>
              <a:t>ggplot</a:t>
            </a:r>
            <a:r>
              <a:rPr lang="en-US" sz="1200" dirty="0">
                <a:solidFill>
                  <a:srgbClr val="0000FF"/>
                </a:solidFill>
              </a:rPr>
              <a:t>(dataset) + </a:t>
            </a:r>
            <a:r>
              <a:rPr lang="en-US" sz="1200" dirty="0" err="1">
                <a:solidFill>
                  <a:srgbClr val="0000FF"/>
                </a:solidFill>
              </a:rPr>
              <a:t>geom_point</a:t>
            </a:r>
            <a:r>
              <a:rPr lang="en-US" sz="1200" dirty="0">
                <a:solidFill>
                  <a:srgbClr val="0000FF"/>
                </a:solidFill>
              </a:rPr>
              <a:t>(</a:t>
            </a:r>
            <a:r>
              <a:rPr lang="en-US" sz="1200" dirty="0" err="1">
                <a:solidFill>
                  <a:srgbClr val="0000FF"/>
                </a:solidFill>
              </a:rPr>
              <a:t>aes</a:t>
            </a:r>
            <a:r>
              <a:rPr lang="en-US" sz="1200" dirty="0">
                <a:solidFill>
                  <a:srgbClr val="0000FF"/>
                </a:solidFill>
              </a:rPr>
              <a:t>(pca.PC1, pca.PC2, </a:t>
            </a:r>
            <a:r>
              <a:rPr lang="en-US" sz="1200" dirty="0" err="1">
                <a:solidFill>
                  <a:srgbClr val="0000FF"/>
                </a:solidFill>
              </a:rPr>
              <a:t>colour</a:t>
            </a:r>
            <a:r>
              <a:rPr lang="en-US" sz="1200" dirty="0">
                <a:solidFill>
                  <a:srgbClr val="0000FF"/>
                </a:solidFill>
              </a:rPr>
              <a:t> = species, shape = species), size = 2.5) +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labs(x = paste("PC1 (", percent(</a:t>
            </a:r>
            <a:r>
              <a:rPr lang="en-US" sz="1200" dirty="0" err="1">
                <a:solidFill>
                  <a:srgbClr val="0000FF"/>
                </a:solidFill>
              </a:rPr>
              <a:t>prop.pca</a:t>
            </a:r>
            <a:r>
              <a:rPr lang="en-US" sz="1200" dirty="0">
                <a:solidFill>
                  <a:srgbClr val="0000FF"/>
                </a:solidFill>
              </a:rPr>
              <a:t>[1]), ")", </a:t>
            </a:r>
            <a:r>
              <a:rPr lang="en-US" sz="1200" dirty="0" err="1">
                <a:solidFill>
                  <a:srgbClr val="0000FF"/>
                </a:solidFill>
              </a:rPr>
              <a:t>sep</a:t>
            </a:r>
            <a:r>
              <a:rPr lang="en-US" sz="1200" dirty="0">
                <a:solidFill>
                  <a:srgbClr val="0000FF"/>
                </a:solidFill>
              </a:rPr>
              <a:t>=""),</a:t>
            </a:r>
          </a:p>
          <a:p>
            <a:r>
              <a:rPr lang="en-US" sz="1200" dirty="0">
                <a:solidFill>
                  <a:srgbClr val="0000FF"/>
                </a:solidFill>
              </a:rPr>
              <a:t>       y = paste("PC2 (", percent(</a:t>
            </a:r>
            <a:r>
              <a:rPr lang="en-US" sz="1200" dirty="0" err="1">
                <a:solidFill>
                  <a:srgbClr val="0000FF"/>
                </a:solidFill>
              </a:rPr>
              <a:t>prop.pca</a:t>
            </a:r>
            <a:r>
              <a:rPr lang="en-US" sz="1200" dirty="0">
                <a:solidFill>
                  <a:srgbClr val="0000FF"/>
                </a:solidFill>
              </a:rPr>
              <a:t>[2]), ")", </a:t>
            </a:r>
            <a:r>
              <a:rPr lang="en-US" sz="1200" dirty="0" err="1">
                <a:solidFill>
                  <a:srgbClr val="0000FF"/>
                </a:solidFill>
              </a:rPr>
              <a:t>sep</a:t>
            </a:r>
            <a:r>
              <a:rPr lang="en-US" sz="1200" dirty="0">
                <a:solidFill>
                  <a:srgbClr val="0000FF"/>
                </a:solidFill>
              </a:rPr>
              <a:t>=""))</a:t>
            </a:r>
          </a:p>
          <a:p>
            <a:endParaRPr lang="en-US" sz="1200" dirty="0">
              <a:solidFill>
                <a:srgbClr val="0000FF"/>
              </a:solidFill>
            </a:endParaRPr>
          </a:p>
          <a:p>
            <a:r>
              <a:rPr lang="en-US" sz="1200" dirty="0" err="1">
                <a:solidFill>
                  <a:srgbClr val="0000FF"/>
                </a:solidFill>
              </a:rPr>
              <a:t>grid.arrange</a:t>
            </a:r>
            <a:r>
              <a:rPr lang="en-US" sz="1200" dirty="0">
                <a:solidFill>
                  <a:srgbClr val="0000FF"/>
                </a:solidFill>
              </a:rPr>
              <a:t>(p1, p2)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2800" y="457200"/>
            <a:ext cx="545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Shorter R code to conduct both PCA and LDA and generate comparison plots.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0200" y="6320828"/>
            <a:ext cx="3259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https://gist.github.com/thigm85/8424654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90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Discriminant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Attempts to express a categorical dependent variable as a linear combination of other independent variables.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the independent variables are normally distributed.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dimensionality reduction before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121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D167A7-6AD6-4783-AE46-F068B4D7D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93DC9D-F418-4417-A373-1544C18AAB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169D9B-B8D9-436B-8527-D376E6DD519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16636</TotalTime>
  <Words>4389</Words>
  <Application>Microsoft Office PowerPoint</Application>
  <PresentationFormat>On-screen Show (4:3)</PresentationFormat>
  <Paragraphs>969</Paragraphs>
  <Slides>43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Cambria Math</vt:lpstr>
      <vt:lpstr>Century Gothic</vt:lpstr>
      <vt:lpstr>Courier New</vt:lpstr>
      <vt:lpstr>Helvetica Neue</vt:lpstr>
      <vt:lpstr>Times New Roman</vt:lpstr>
      <vt:lpstr>Wingdings 3</vt:lpstr>
      <vt:lpstr>Wisp</vt:lpstr>
      <vt:lpstr>Machine Learning</vt:lpstr>
      <vt:lpstr>Lesson Outline</vt:lpstr>
      <vt:lpstr>Eigenvectors and Eigenvalues</vt:lpstr>
      <vt:lpstr>Eigenvectors and Eigenvalues Cont’d. 2</vt:lpstr>
      <vt:lpstr>Two Solutions</vt:lpstr>
      <vt:lpstr>Eigenvalues and Eigenvectors</vt:lpstr>
      <vt:lpstr>Conducting a PCA</vt:lpstr>
      <vt:lpstr>PCA Graphically</vt:lpstr>
      <vt:lpstr>PCA</vt:lpstr>
      <vt:lpstr>PCA in Python</vt:lpstr>
      <vt:lpstr>More information</vt:lpstr>
      <vt:lpstr>More information</vt:lpstr>
      <vt:lpstr>PCA in R</vt:lpstr>
      <vt:lpstr>PowerPoint Presentation</vt:lpstr>
      <vt:lpstr>Factor Analysis</vt:lpstr>
      <vt:lpstr>Factor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Discriminant Analysis (LDA)</vt:lpstr>
      <vt:lpstr>The Problem…</vt:lpstr>
      <vt:lpstr>Using one gene to decide…</vt:lpstr>
      <vt:lpstr>Using one gene to decide…</vt:lpstr>
      <vt:lpstr>Using one gene to decide…</vt:lpstr>
      <vt:lpstr>Using two genes to decide…</vt:lpstr>
      <vt:lpstr>Using three genes to decide…</vt:lpstr>
      <vt:lpstr>Four or more genes…</vt:lpstr>
      <vt:lpstr>A super simple example</vt:lpstr>
      <vt:lpstr>Reducing a 2-D graph to a 1-D graph with LDA</vt:lpstr>
      <vt:lpstr>Reducing a 2-D graph to a 1-D graph with LDA</vt:lpstr>
      <vt:lpstr>Reducing a 2-D graph to a 1-D graph with LDA</vt:lpstr>
      <vt:lpstr>How LDA creates a new axis…</vt:lpstr>
      <vt:lpstr>LDA and PCA comparison</vt:lpstr>
      <vt:lpstr>LDA and PCA comparison</vt:lpstr>
      <vt:lpstr>LDA with the Iris Dataset</vt:lpstr>
      <vt:lpstr>PowerPoint Presentation</vt:lpstr>
      <vt:lpstr>PowerPoint Presentation</vt:lpstr>
      <vt:lpstr>PowerPoint Presentation</vt:lpstr>
      <vt:lpstr>Linear Discriminant Analysis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705</cp:revision>
  <cp:lastPrinted>2018-06-11T17:11:55Z</cp:lastPrinted>
  <dcterms:created xsi:type="dcterms:W3CDTF">2016-06-23T19:27:44Z</dcterms:created>
  <dcterms:modified xsi:type="dcterms:W3CDTF">2023-07-12T19:33:52Z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