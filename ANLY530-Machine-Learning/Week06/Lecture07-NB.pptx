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</p:sldMasterIdLst>
  <p:notesMasterIdLst>
    <p:notesMasterId r:id="rId24"/>
  </p:notesMasterIdLst>
  <p:sldIdLst>
    <p:sldId id="256" r:id="rId5"/>
    <p:sldId id="257" r:id="rId6"/>
    <p:sldId id="305" r:id="rId7"/>
    <p:sldId id="259" r:id="rId8"/>
    <p:sldId id="307" r:id="rId9"/>
    <p:sldId id="260" r:id="rId10"/>
    <p:sldId id="261" r:id="rId11"/>
    <p:sldId id="262" r:id="rId12"/>
    <p:sldId id="263" r:id="rId13"/>
    <p:sldId id="306" r:id="rId14"/>
    <p:sldId id="315" r:id="rId15"/>
    <p:sldId id="319" r:id="rId16"/>
    <p:sldId id="316" r:id="rId17"/>
    <p:sldId id="271" r:id="rId18"/>
    <p:sldId id="317" r:id="rId19"/>
    <p:sldId id="318" r:id="rId20"/>
    <p:sldId id="308" r:id="rId21"/>
    <p:sldId id="309" r:id="rId22"/>
    <p:sldId id="265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272A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4" autoAdjust="0"/>
    <p:restoredTop sz="91540" autoAdjust="0"/>
  </p:normalViewPr>
  <p:slideViewPr>
    <p:cSldViewPr>
      <p:cViewPr varScale="1">
        <p:scale>
          <a:sx n="147" d="100"/>
          <a:sy n="147" d="100"/>
        </p:scale>
        <p:origin x="2196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062"/>
    </p:cViewPr>
  </p:sorterViewPr>
  <p:notesViewPr>
    <p:cSldViewPr>
      <p:cViewPr varScale="1">
        <p:scale>
          <a:sx n="77" d="100"/>
          <a:sy n="77" d="100"/>
        </p:scale>
        <p:origin x="-864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3F5D42-D8C1-4DAB-B388-35B930361576}" type="datetimeFigureOut">
              <a:rPr lang="en-US" smtClean="0"/>
              <a:t>6/21/2023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2D4B71-1EF1-4D07-950D-945192FC58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332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2D4B71-1EF1-4D07-950D-945192FC58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51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2D4B71-1EF1-4D07-950D-945192FC58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751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BF315-28A5-40DB-BACE-F51BEB94C969}" type="datetime1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813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02AF8-BB51-4CB9-BBCD-782B61B51DF3}" type="datetime1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538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55DEF-E12A-4B60-98F4-6EA3A8BADD0E}" type="datetime1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340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B2642-D36A-4A25-A979-59CE0FEA41B8}" type="datetime1">
              <a:rPr lang="en-US" smtClean="0"/>
              <a:t>6/21/2023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824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9BB48-FE8A-417B-9392-AFFAF3878169}" type="datetime1">
              <a:rPr lang="en-US" smtClean="0"/>
              <a:t>6/21/2023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584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A9498-D8AB-428E-BC01-680540AEF579}" type="datetime1">
              <a:rPr lang="en-US" smtClean="0"/>
              <a:t>6/21/2023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315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870AB-AD72-4565-9EDA-2675377B0024}" type="datetime1">
              <a:rPr lang="en-US" smtClean="0"/>
              <a:t>6/21/2023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193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1B302-32FE-4107-B4FB-E85291A09660}" type="datetime1">
              <a:rPr lang="en-US" smtClean="0"/>
              <a:t>6/21/2023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443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2AF0C-10CA-4DDA-8365-C38A97662975}" type="datetime1">
              <a:rPr lang="en-US" smtClean="0"/>
              <a:t>6/21/2023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592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48C69-332E-4F91-8B46-D130229D3E7E}" type="datetime1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87277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48C69-332E-4F91-8B46-D130229D3E7E}" type="datetime1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1368019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48C69-332E-4F91-8B46-D130229D3E7E}" type="datetime1">
              <a:rPr lang="en-US" smtClean="0"/>
              <a:t>6/21/2023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15909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48C69-332E-4F91-8B46-D130229D3E7E}" type="datetime1">
              <a:rPr lang="en-US" smtClean="0"/>
              <a:t>6/21/2023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32156194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48C69-332E-4F91-8B46-D130229D3E7E}" type="datetime1">
              <a:rPr lang="en-US" smtClean="0"/>
              <a:t>6/21/2023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008901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DFF88-7A55-49A7-97A0-4BA7BA4BE019}" type="datetime1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560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D932D-D241-4E05-AB51-6D33B2D75C6E}" type="datetime1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412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48C69-332E-4F91-8B46-D130229D3E7E}" type="datetime1">
              <a:rPr lang="en-US" smtClean="0"/>
              <a:t>6/21/2023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6F96C40-0356-46F5-90E5-FF57DE76D9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702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7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 Techniques and Algorithms –Bayesian Method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54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7500"/>
          </a:bodyPr>
          <a:lstStyle/>
          <a:p>
            <a:r>
              <a:rPr lang="en-US" sz="4100" b="1" dirty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Lesson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and Introduction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Bayes Theorem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using Bayes Theorem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Naïve Bayes Classifiers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956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4651" y="170972"/>
            <a:ext cx="8229600" cy="102076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Bayes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015" y="2017598"/>
            <a:ext cx="8229600" cy="415498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Task: determine the probability that incoming email was spam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guess – prior probability – 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information</a:t>
            </a:r>
          </a:p>
          <a:p>
            <a:pPr lvl="2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spam message contains the </a:t>
            </a:r>
          </a:p>
          <a:p>
            <a:pPr marL="1124712" lvl="3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“Urgent” – likelihood given by</a:t>
            </a:r>
          </a:p>
          <a:p>
            <a:pPr marL="1124712" lvl="3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message contains the word</a:t>
            </a:r>
          </a:p>
          <a:p>
            <a:pPr marL="1124712" lvl="3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“Urgent” – marginal likelihood</a:t>
            </a:r>
          </a:p>
          <a:p>
            <a:pPr marL="925830" lvl="1" indent="-285750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5830" lvl="1" indent="-285750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compute the posterior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905000" y="1143000"/>
                <a:ext cx="5325882" cy="8745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𝐴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 </m:t>
                      </m:r>
                      <m:r>
                        <a:rPr lang="en-US" sz="2400" b="0" i="1" smtClean="0">
                          <a:latin typeface="Cambria Math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/>
                            </a:rPr>
                            <m:t>𝑃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𝐴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∩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𝐵</m:t>
                          </m:r>
                          <m:r>
                            <a:rPr lang="en-US" sz="2400" b="0" i="1" smtClean="0">
                              <a:latin typeface="Cambria Math"/>
                              <a:ea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/>
                            </a:rPr>
                            <m:t>𝑃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𝐵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en-US" sz="2400" i="1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𝐵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2400" i="1">
                              <a:latin typeface="Cambria Math"/>
                            </a:rPr>
                            <m:t> </m:t>
                          </m:r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  <m:r>
                            <a:rPr lang="en-US" sz="2400" i="1">
                              <a:latin typeface="Cambria Math"/>
                            </a:rPr>
                            <m:t>) </m:t>
                          </m:r>
                          <m:r>
                            <a:rPr lang="en-US" sz="2400" i="1">
                              <a:latin typeface="Cambria Math"/>
                            </a:rPr>
                            <m:t>𝑃</m:t>
                          </m:r>
                          <m:r>
                            <a:rPr lang="en-US" sz="2400" i="1">
                              <a:latin typeface="Cambria Math"/>
                            </a:rPr>
                            <m:t>(</m:t>
                          </m:r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2400" i="1">
                              <a:latin typeface="Cambria Math"/>
                            </a:rPr>
                            <m:t>𝑃</m:t>
                          </m:r>
                          <m:r>
                            <a:rPr lang="en-US" sz="2400" i="1">
                              <a:latin typeface="Cambria Math"/>
                            </a:rPr>
                            <m:t>(</m:t>
                          </m:r>
                          <m:r>
                            <a:rPr lang="en-US" sz="2400" i="1">
                              <a:latin typeface="Cambria Math"/>
                            </a:rPr>
                            <m:t>𝐵</m:t>
                          </m:r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1143000"/>
                <a:ext cx="5325882" cy="8745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6263487" y="4419600"/>
            <a:ext cx="2431128" cy="2061174"/>
            <a:chOff x="5562600" y="3769892"/>
            <a:chExt cx="3055815" cy="2590800"/>
          </a:xfrm>
        </p:grpSpPr>
        <p:sp>
          <p:nvSpPr>
            <p:cNvPr id="6" name="Rectangle 5"/>
            <p:cNvSpPr/>
            <p:nvPr/>
          </p:nvSpPr>
          <p:spPr>
            <a:xfrm>
              <a:off x="5562600" y="3769892"/>
              <a:ext cx="3055815" cy="2590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dirty="0"/>
                <a:t>ham 80%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6631353" y="4513029"/>
              <a:ext cx="1660769" cy="1461477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spam 20%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090508" y="3773718"/>
              <a:ext cx="13794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all email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5926756" y="4093741"/>
              <a:ext cx="1239952" cy="1091633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Urgent 5%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876800" y="2493979"/>
                <a:ext cx="211057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𝑠𝑝𝑎𝑚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𝑜𝑟</m:t>
                      </m:r>
                      <m:r>
                        <a:rPr lang="en-US" sz="2000" b="0" i="1" smtClean="0">
                          <a:latin typeface="Cambria Math"/>
                        </a:rPr>
                        <m:t> </m:t>
                      </m:r>
                      <m:r>
                        <a:rPr lang="en-US" sz="2000" b="0" i="1" smtClean="0">
                          <a:latin typeface="Cambria Math"/>
                        </a:rPr>
                        <m:t>𝑃</m:t>
                      </m:r>
                      <m:r>
                        <a:rPr lang="en-US" sz="2000" b="0" i="1" smtClean="0">
                          <a:latin typeface="Cambria Math"/>
                        </a:rPr>
                        <m:t>(</m:t>
                      </m:r>
                      <m:r>
                        <a:rPr lang="en-US" sz="2000" b="0" i="1" smtClean="0">
                          <a:latin typeface="Cambria Math"/>
                        </a:rPr>
                        <m:t>𝐴</m:t>
                      </m:r>
                      <m:r>
                        <a:rPr lang="en-US" sz="20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2493979"/>
                <a:ext cx="2110578" cy="400110"/>
              </a:xfrm>
              <a:prstGeom prst="rect">
                <a:avLst/>
              </a:prstGeom>
              <a:blipFill>
                <a:blip r:embed="rId3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043085" y="5281974"/>
                <a:ext cx="21293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𝑈𝑟𝑔𝑒𝑛𝑡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𝑜𝑟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𝑃</m:t>
                      </m:r>
                      <m:r>
                        <a:rPr lang="en-US" b="0" i="1" smtClean="0">
                          <a:latin typeface="Cambria Math"/>
                        </a:rPr>
                        <m:t>(</m:t>
                      </m:r>
                      <m:r>
                        <a:rPr lang="en-US" b="0" i="1" smtClean="0">
                          <a:latin typeface="Cambria Math"/>
                        </a:rPr>
                        <m:t>𝐵</m:t>
                      </m:r>
                      <m:r>
                        <a:rPr lang="en-US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3085" y="5281974"/>
                <a:ext cx="2129301" cy="369332"/>
              </a:xfrm>
              <a:prstGeom prst="rect">
                <a:avLst/>
              </a:prstGeom>
              <a:blipFill>
                <a:blip r:embed="rId4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018535" y="4050268"/>
                <a:ext cx="32417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𝑈𝑟𝑔𝑒𝑛𝑡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𝑠𝑝𝑎𝑚</m:t>
                      </m:r>
                      <m:r>
                        <a:rPr lang="en-US" b="0" i="1" smtClean="0">
                          <a:latin typeface="Cambria Math"/>
                        </a:rPr>
                        <m:t>) </m:t>
                      </m:r>
                      <m:r>
                        <a:rPr lang="en-US" b="0" i="1" smtClean="0">
                          <a:latin typeface="Cambria Math"/>
                        </a:rPr>
                        <m:t>𝑜𝑟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𝐴</m:t>
                      </m:r>
                      <m:r>
                        <a:rPr lang="en-US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8535" y="4050268"/>
                <a:ext cx="3241785" cy="369332"/>
              </a:xfrm>
              <a:prstGeom prst="rect">
                <a:avLst/>
              </a:prstGeom>
              <a:blipFill>
                <a:blip r:embed="rId5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905000" y="6070510"/>
                <a:ext cx="32417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𝑠𝑝𝑎𝑚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𝑈𝑟𝑔𝑒𝑛𝑡</m:t>
                      </m:r>
                      <m:r>
                        <a:rPr lang="en-US" b="0" i="1" smtClean="0">
                          <a:latin typeface="Cambria Math"/>
                        </a:rPr>
                        <m:t>) </m:t>
                      </m:r>
                      <m:r>
                        <a:rPr lang="en-US" b="0" i="1" smtClean="0">
                          <a:latin typeface="Cambria Math"/>
                        </a:rPr>
                        <m:t>𝑜𝑟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𝐵</m:t>
                      </m:r>
                      <m:r>
                        <a:rPr lang="en-US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6070510"/>
                <a:ext cx="3241785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3</a:t>
            </a:fld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43128" y="1656854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Posterior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1676400" y="1769719"/>
            <a:ext cx="685800" cy="113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724400" y="793231"/>
            <a:ext cx="1386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Likelihood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4669" y="771366"/>
            <a:ext cx="858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5879" y="1617079"/>
            <a:ext cx="1386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Marginal Likelihood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flipH="1">
            <a:off x="6705600" y="1087868"/>
            <a:ext cx="385836" cy="1225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5691308" y="1112312"/>
            <a:ext cx="205498" cy="1225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 flipV="1">
            <a:off x="6553200" y="1686836"/>
            <a:ext cx="345318" cy="1677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1236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1" grpId="0"/>
      <p:bldP spid="12" grpId="0"/>
      <p:bldP spid="13" grpId="0"/>
      <p:bldP spid="14" grpId="0"/>
      <p:bldP spid="15" grpId="0"/>
      <p:bldP spid="18" grpId="0"/>
      <p:bldP spid="19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5384" y="94168"/>
            <a:ext cx="6589199" cy="1280890"/>
          </a:xfrm>
        </p:spPr>
        <p:txBody>
          <a:bodyPr vert="horz" lIns="91440" tIns="45720" rIns="91440" bIns="45720" rtlCol="0" anchor="ctr">
            <a:normAutofit fontScale="97500"/>
          </a:bodyPr>
          <a:lstStyle/>
          <a:p>
            <a:r>
              <a:rPr lang="en-US" sz="4100" b="1" dirty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Bayes Theorem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4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650446" y="1046383"/>
            <a:ext cx="7873593" cy="5419946"/>
            <a:chOff x="357867" y="1588861"/>
            <a:chExt cx="7873593" cy="5419946"/>
          </a:xfrm>
        </p:grpSpPr>
        <p:cxnSp>
          <p:nvCxnSpPr>
            <p:cNvPr id="4" name="Straight Arrow Connector 3"/>
            <p:cNvCxnSpPr/>
            <p:nvPr/>
          </p:nvCxnSpPr>
          <p:spPr>
            <a:xfrm flipH="1">
              <a:off x="2903637" y="2887103"/>
              <a:ext cx="308984" cy="28894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 Box 2"/>
            <p:cNvSpPr txBox="1">
              <a:spLocks noChangeArrowheads="1"/>
            </p:cNvSpPr>
            <p:nvPr/>
          </p:nvSpPr>
          <p:spPr bwMode="auto">
            <a:xfrm>
              <a:off x="357870" y="4021643"/>
              <a:ext cx="7726401" cy="7718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2000" b="1" dirty="0">
                  <a:effectLst/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</a:rPr>
                <a:t>Prior Probability: </a:t>
              </a:r>
              <a:r>
                <a:rPr lang="en-US" sz="2000" dirty="0">
                  <a:effectLst/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</a:rPr>
                <a:t>Describes the degree to which we believe the model accurately describes reality based on all of our prior information</a:t>
              </a:r>
            </a:p>
          </p:txBody>
        </p:sp>
        <p:cxnSp>
          <p:nvCxnSpPr>
            <p:cNvPr id="6" name="Straight Arrow Connector 5"/>
            <p:cNvCxnSpPr/>
            <p:nvPr/>
          </p:nvCxnSpPr>
          <p:spPr>
            <a:xfrm flipH="1" flipV="1">
              <a:off x="4538691" y="2003790"/>
              <a:ext cx="469900" cy="35242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 Box 2"/>
            <p:cNvSpPr txBox="1">
              <a:spLocks noChangeArrowheads="1"/>
            </p:cNvSpPr>
            <p:nvPr/>
          </p:nvSpPr>
          <p:spPr bwMode="auto">
            <a:xfrm>
              <a:off x="3466777" y="1616403"/>
              <a:ext cx="1346044" cy="4462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2000" dirty="0">
                  <a:effectLst/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</a:rPr>
                <a:t>Likelihood</a:t>
              </a:r>
            </a:p>
          </p:txBody>
        </p:sp>
        <p:cxnSp>
          <p:nvCxnSpPr>
            <p:cNvPr id="8" name="Straight Arrow Connector 7"/>
            <p:cNvCxnSpPr/>
            <p:nvPr/>
          </p:nvCxnSpPr>
          <p:spPr>
            <a:xfrm flipV="1">
              <a:off x="5879621" y="1939757"/>
              <a:ext cx="378460" cy="35242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 Box 2"/>
            <p:cNvSpPr txBox="1">
              <a:spLocks noChangeArrowheads="1"/>
            </p:cNvSpPr>
            <p:nvPr/>
          </p:nvSpPr>
          <p:spPr bwMode="auto">
            <a:xfrm>
              <a:off x="5132535" y="1588861"/>
              <a:ext cx="3020696" cy="4462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2000" dirty="0">
                  <a:effectLst/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</a:rPr>
                <a:t>Class- Prior Probability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>
              <a:off x="5270021" y="3113714"/>
              <a:ext cx="457200" cy="33390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 Box 2"/>
            <p:cNvSpPr txBox="1">
              <a:spLocks noChangeArrowheads="1"/>
            </p:cNvSpPr>
            <p:nvPr/>
          </p:nvSpPr>
          <p:spPr bwMode="auto">
            <a:xfrm>
              <a:off x="4239229" y="3320836"/>
              <a:ext cx="3992231" cy="8002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2000" dirty="0">
                  <a:effectLst/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</a:rPr>
                <a:t>Predictor Prior Probability or Normalization constant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Rectangle 2"/>
                <p:cNvSpPr/>
                <p:nvPr/>
              </p:nvSpPr>
              <p:spPr>
                <a:xfrm>
                  <a:off x="2903637" y="2301454"/>
                  <a:ext cx="3354444" cy="87459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latin typeface="Cambria Math"/>
                          </a:rPr>
                          <m:t>𝑃</m:t>
                        </m:r>
                        <m:d>
                          <m:dPr>
                            <m:endChr m:val="|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𝑐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 </m:t>
                            </m:r>
                          </m:e>
                        </m:d>
                        <m:r>
                          <a:rPr lang="en-US" sz="2400" i="1">
                            <a:latin typeface="Cambria Math"/>
                          </a:rPr>
                          <m:t> </m:t>
                        </m:r>
                        <m:r>
                          <a:rPr lang="en-US" sz="2400" i="1">
                            <a:latin typeface="Cambria Math"/>
                          </a:rPr>
                          <m:t>𝑥</m:t>
                        </m:r>
                        <m:r>
                          <a:rPr lang="en-US" sz="2400" i="1">
                            <a:latin typeface="Cambria Math"/>
                          </a:rPr>
                          <m:t>)= 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/>
                              </a:rPr>
                              <m:t>𝑃</m:t>
                            </m:r>
                            <m:d>
                              <m:dPr>
                                <m:endChr m:val="|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latin typeface="Cambria Math"/>
                                  </a:rPr>
                                  <m:t> </m:t>
                                </m:r>
                              </m:e>
                            </m:d>
                            <m:r>
                              <a:rPr lang="en-US" sz="2400" i="1">
                                <a:latin typeface="Cambria Math"/>
                              </a:rPr>
                              <m:t>𝑐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) 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𝑃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(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𝑐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)</m:t>
                            </m:r>
                          </m:num>
                          <m:den>
                            <m:r>
                              <a:rPr lang="en-US" sz="2400" i="1">
                                <a:latin typeface="Cambria Math"/>
                              </a:rPr>
                              <m:t>𝑃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(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/>
                              </a:rPr>
                              <m:t>)</m:t>
                            </m:r>
                          </m:den>
                        </m:f>
                      </m:oMath>
                    </m:oMathPara>
                  </a14:m>
                  <a:endPara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" name="Rectangle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3637" y="2301454"/>
                  <a:ext cx="3354444" cy="874598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Text Box 2"/>
            <p:cNvSpPr txBox="1">
              <a:spLocks noChangeArrowheads="1"/>
            </p:cNvSpPr>
            <p:nvPr/>
          </p:nvSpPr>
          <p:spPr bwMode="auto">
            <a:xfrm>
              <a:off x="1217264" y="3195305"/>
              <a:ext cx="3021965" cy="4462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2000" dirty="0">
                  <a:effectLst/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</a:rPr>
                <a:t>Posterior Probability</a:t>
              </a:r>
            </a:p>
          </p:txBody>
        </p:sp>
        <p:sp>
          <p:nvSpPr>
            <p:cNvPr id="18" name="Text Box 2"/>
            <p:cNvSpPr txBox="1">
              <a:spLocks noChangeArrowheads="1"/>
            </p:cNvSpPr>
            <p:nvPr/>
          </p:nvSpPr>
          <p:spPr bwMode="auto">
            <a:xfrm>
              <a:off x="357867" y="4855786"/>
              <a:ext cx="7726401" cy="4462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2000" b="1" dirty="0">
                  <a:effectLst/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</a:rPr>
                <a:t>Likelihood: </a:t>
              </a:r>
              <a:r>
                <a:rPr lang="en-US" sz="2000" dirty="0">
                  <a:effectLst/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</a:rPr>
                <a:t>Describes how well the model predicts the data</a:t>
              </a:r>
            </a:p>
          </p:txBody>
        </p:sp>
        <p:sp>
          <p:nvSpPr>
            <p:cNvPr id="20" name="Text Box 2"/>
            <p:cNvSpPr txBox="1">
              <a:spLocks noChangeArrowheads="1"/>
            </p:cNvSpPr>
            <p:nvPr/>
          </p:nvSpPr>
          <p:spPr bwMode="auto">
            <a:xfrm>
              <a:off x="357868" y="5257849"/>
              <a:ext cx="7726401" cy="4178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2000" b="1" dirty="0">
                  <a:effectLst/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</a:rPr>
                <a:t>Normalization Constant: </a:t>
              </a:r>
              <a:r>
                <a:rPr lang="en-US" sz="2000" dirty="0">
                  <a:effectLst/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</a:rPr>
                <a:t>Makes the posterior density integrate to one</a:t>
              </a:r>
            </a:p>
          </p:txBody>
        </p:sp>
        <p:sp>
          <p:nvSpPr>
            <p:cNvPr id="21" name="Text Box 2"/>
            <p:cNvSpPr txBox="1">
              <a:spLocks noChangeArrowheads="1"/>
            </p:cNvSpPr>
            <p:nvPr/>
          </p:nvSpPr>
          <p:spPr bwMode="auto">
            <a:xfrm>
              <a:off x="376028" y="5854645"/>
              <a:ext cx="7726401" cy="1154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2000" b="1" dirty="0"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</a:rPr>
                <a:t>Posterior Probability</a:t>
              </a:r>
              <a:r>
                <a:rPr lang="en-US" sz="2000" b="1" dirty="0">
                  <a:effectLst/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</a:rPr>
                <a:t>: </a:t>
              </a:r>
              <a:r>
                <a:rPr lang="en-US" sz="2000" dirty="0">
                  <a:effectLst/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</a:rPr>
                <a:t>Shows the degree to which we believe a given model accurately describes the situation given the available data and all the prior information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9303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147338"/>
            <a:ext cx="6589199" cy="128089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100" b="1" dirty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Example Using Bayes Theorem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5</a:t>
            </a:fld>
            <a:endParaRPr lang="en-US"/>
          </a:p>
        </p:txBody>
      </p:sp>
      <p:pic>
        <p:nvPicPr>
          <p:cNvPr id="1026" name="Picture 2" descr="https://cdn.iconscout.com/icon/premium/png-256-thumb/golf-483-79708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2362200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1989453"/>
              </p:ext>
            </p:extLst>
          </p:nvPr>
        </p:nvGraphicFramePr>
        <p:xfrm>
          <a:off x="803717" y="1600200"/>
          <a:ext cx="5704909" cy="4724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3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9896">
                  <a:extLst>
                    <a:ext uri="{9D8B030D-6E8A-4147-A177-3AD203B41FA5}">
                      <a16:colId xmlns:a16="http://schemas.microsoft.com/office/drawing/2014/main" val="4265940404"/>
                    </a:ext>
                  </a:extLst>
                </a:gridCol>
                <a:gridCol w="1449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44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8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92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49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Day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 algn="l" defTabSz="4572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outlook</a:t>
                      </a: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Temperature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Humidity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Windy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Play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Sunny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Hot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High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FALSE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No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Sunny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Hot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High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TRUE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No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Overcast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Hot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High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FALSE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Yes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Rainy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Mild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High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FALSE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Yes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5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Rainy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Cool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Normal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FALSE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Yes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6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Rainy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Cool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Normal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TRUE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No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7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Overcast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Cool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Normal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TRUE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Yes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8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Sunny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Mild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High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FALSE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No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9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Sunny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Cool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Normal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FALSE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Yes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Rainy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Mild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Normal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FALSE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Yes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11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Sunny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Mild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Normal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TRUE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Yes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12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Overcast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Mild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High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TRUE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Yes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13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Overcast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Hot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Normal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FALSE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Yes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49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14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Rainy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Mild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High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TRUE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No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1180" marR="5118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3062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147338"/>
            <a:ext cx="6589199" cy="128089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100" b="1" dirty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Example Using Bayes Theorem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467026"/>
              </p:ext>
            </p:extLst>
          </p:nvPr>
        </p:nvGraphicFramePr>
        <p:xfrm>
          <a:off x="483260" y="1541646"/>
          <a:ext cx="8534400" cy="28799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395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3339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40002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Outlook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Temp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Humidity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Windy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Play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7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Yes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No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Yes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No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Yes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No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Yes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No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Yes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No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39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Sunny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Hot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High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False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9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5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5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Overcast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4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Mild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4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Normal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6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True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73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Rainy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Cool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3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73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35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Sunny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2/9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3/5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Hot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2/9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2/5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High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3/9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4/5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False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6/9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2/5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9/14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5/14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51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Overcast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4/9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0/5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Mild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4/9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2/5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Normal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6/9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1/5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True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3/9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3/5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66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Rainy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3/9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2/5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Cool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3/9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1/5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498771"/>
              </p:ext>
            </p:extLst>
          </p:nvPr>
        </p:nvGraphicFramePr>
        <p:xfrm>
          <a:off x="582370" y="5820533"/>
          <a:ext cx="8229600" cy="4206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Outlook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Temperature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Humidity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Windy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Play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Sunny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Cool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High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True</a:t>
                      </a:r>
                      <a:endParaRPr lang="en-US" sz="1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?</a:t>
                      </a:r>
                      <a:endParaRPr lang="en-US" sz="1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2370" y="5407191"/>
            <a:ext cx="625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probability of playing knowing in this condition?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4529493"/>
            <a:ext cx="4535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P(Temperature=cool | Play=Yes)=3/9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0561" y="4822059"/>
            <a:ext cx="4256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P(Outlook=Rainy | Play=No)=2/5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62200" y="6327461"/>
            <a:ext cx="4581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call this condition X and the Playing, C</a:t>
            </a:r>
          </a:p>
        </p:txBody>
      </p:sp>
      <p:pic>
        <p:nvPicPr>
          <p:cNvPr id="10" name="Picture 2" descr="Question expression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6874" y="6040272"/>
            <a:ext cx="762315" cy="762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 rot="19738525">
            <a:off x="7097948" y="5686497"/>
            <a:ext cx="2237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Play or not??!!</a:t>
            </a:r>
          </a:p>
        </p:txBody>
      </p:sp>
    </p:spTree>
    <p:extLst>
      <p:ext uri="{BB962C8B-B14F-4D97-AF65-F5344CB8AC3E}">
        <p14:creationId xmlns:p14="http://schemas.microsoft.com/office/powerpoint/2010/main" val="435978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9760" y="-28432"/>
            <a:ext cx="2452273" cy="954300"/>
          </a:xfrm>
        </p:spPr>
        <p:txBody>
          <a:bodyPr vert="horz" lIns="91440" tIns="45720" rIns="91440" bIns="45720" rtlCol="0" anchor="ctr">
            <a:normAutofit fontScale="97500"/>
          </a:bodyPr>
          <a:lstStyle/>
          <a:p>
            <a:r>
              <a:rPr lang="en-US" sz="4100" b="1" dirty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81000" y="1727302"/>
                <a:ext cx="8023172" cy="6705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𝑃𝑙𝑎𝑦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𝑌𝑒𝑠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𝑃𝑙𝑎𝑦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𝑌𝑒𝑠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en-US" sz="2000" i="1">
                              <a:latin typeface="Cambria Math"/>
                            </a:rPr>
                            <m:t>9</m:t>
                          </m:r>
                        </m:den>
                      </m:f>
                      <m:r>
                        <a:rPr lang="en-US" sz="2000" i="1">
                          <a:latin typeface="Cambria Math"/>
                        </a:rPr>
                        <m:t>∗ 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US" sz="2000" i="1">
                              <a:latin typeface="Cambria Math"/>
                            </a:rPr>
                            <m:t>9</m:t>
                          </m:r>
                        </m:den>
                      </m:f>
                      <m:r>
                        <a:rPr lang="en-US" sz="2000" i="1">
                          <a:latin typeface="Cambria Math"/>
                        </a:rPr>
                        <m:t>∗ 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US" sz="2000" i="1">
                              <a:latin typeface="Cambria Math"/>
                            </a:rPr>
                            <m:t>9</m:t>
                          </m:r>
                        </m:den>
                      </m:f>
                      <m:r>
                        <a:rPr lang="en-US" sz="2000" i="1">
                          <a:latin typeface="Cambria Math"/>
                        </a:rPr>
                        <m:t>∗ 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US" sz="2000" i="1">
                              <a:latin typeface="Cambria Math"/>
                            </a:rPr>
                            <m:t>9</m:t>
                          </m:r>
                        </m:den>
                      </m:f>
                      <m:r>
                        <a:rPr lang="en-US" sz="2000" i="1">
                          <a:latin typeface="Cambria Math"/>
                        </a:rPr>
                        <m:t>∗ 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</a:rPr>
                            <m:t>9</m:t>
                          </m:r>
                        </m:num>
                        <m:den>
                          <m:r>
                            <a:rPr lang="en-US" sz="2000" i="1">
                              <a:latin typeface="Cambria Math"/>
                            </a:rPr>
                            <m:t>14</m:t>
                          </m:r>
                        </m:den>
                      </m:f>
                      <m:r>
                        <a:rPr lang="en-US" sz="2000" i="1">
                          <a:latin typeface="Cambria Math"/>
                        </a:rPr>
                        <m:t>=0.0053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727302"/>
                <a:ext cx="8023172" cy="6705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57433" y="2397870"/>
                <a:ext cx="8023172" cy="6767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𝑃𝑙𝑎𝑦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𝑁𝑜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𝑃𝑙𝑎𝑦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𝑁𝑜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US" sz="2000" i="1"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US" sz="2000" i="1">
                          <a:latin typeface="Cambria Math"/>
                        </a:rPr>
                        <m:t>∗ 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US" sz="2000" i="1">
                          <a:latin typeface="Cambria Math"/>
                        </a:rPr>
                        <m:t>∗ 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US" sz="2000" i="1"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US" sz="2000" i="1">
                          <a:latin typeface="Cambria Math"/>
                        </a:rPr>
                        <m:t>∗ 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US" sz="2000" i="1">
                              <a:latin typeface="Cambria Math"/>
                            </a:rPr>
                            <m:t>5</m:t>
                          </m:r>
                        </m:den>
                      </m:f>
                      <m:r>
                        <a:rPr lang="en-US" sz="2000" i="1">
                          <a:latin typeface="Cambria Math"/>
                        </a:rPr>
                        <m:t>∗ 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</a:rPr>
                            <m:t>5</m:t>
                          </m:r>
                        </m:num>
                        <m:den>
                          <m:r>
                            <a:rPr lang="en-US" sz="2000" i="1">
                              <a:latin typeface="Cambria Math"/>
                            </a:rPr>
                            <m:t>14</m:t>
                          </m:r>
                        </m:den>
                      </m:f>
                      <m:r>
                        <a:rPr lang="en-US" sz="2000" i="1">
                          <a:latin typeface="Cambria Math"/>
                        </a:rPr>
                        <m:t>=0.0206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433" y="2397870"/>
                <a:ext cx="8023172" cy="6767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53915" y="5489210"/>
                <a:ext cx="8023172" cy="6790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Play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Yes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|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𝑃𝑙𝑎𝑦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𝑌𝑒𝑠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𝑃𝑙𝑎𝑦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𝑌𝑒𝑠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𝑃</m:t>
                          </m:r>
                          <m:r>
                            <a:rPr lang="en-US" i="1">
                              <a:latin typeface="Cambria Math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0.0053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0.02186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=0.</m:t>
                      </m:r>
                      <m:r>
                        <a:rPr lang="en-US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2424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915" y="5489210"/>
                <a:ext cx="8023172" cy="6790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489232" y="3293767"/>
            <a:ext cx="8087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all the weather condition that we considered are independent from each other, then: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5304" y="3872072"/>
            <a:ext cx="8458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𝑃(𝑋)=𝑃(𝑂𝑢𝑡𝑙𝑜𝑜𝑘=𝑠𝑢𝑛𝑛𝑦)∗ 𝑃(𝑇𝑒𝑛𝑝𝑟𝑒𝑟𝑎𝑡𝑢𝑟𝑒=𝐶𝑜𝑜𝑙)∗𝑃(𝐻𝑢𝑚𝑖𝑑𝑖𝑡𝑦=𝐻𝑖𝑔ℎ)∗ 𝑃(𝑊𝑖𝑛𝑑𝑦=𝑇𝑟𝑢𝑒)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396711" y="4188328"/>
                <a:ext cx="8023172" cy="6165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∗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∗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∗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=0.</m:t>
                      </m:r>
                      <m:r>
                        <a:rPr lang="en-US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02186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711" y="4188328"/>
                <a:ext cx="8023172" cy="6165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3575453" y="4836102"/>
                <a:ext cx="2567691" cy="6790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𝑥</m:t>
                      </m:r>
                      <m:r>
                        <a:rPr lang="en-US" i="1">
                          <a:latin typeface="Cambria Math"/>
                        </a:rPr>
                        <m:t>)=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 </m:t>
                              </m:r>
                            </m:e>
                          </m:d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  <m:r>
                            <a:rPr lang="en-US" i="1">
                              <a:latin typeface="Cambria Math"/>
                            </a:rPr>
                            <m:t>) </m:t>
                          </m:r>
                          <m:r>
                            <a:rPr lang="en-US" i="1">
                              <a:latin typeface="Cambria Math"/>
                            </a:rPr>
                            <m:t>𝑃</m:t>
                          </m:r>
                          <m:r>
                            <a:rPr lang="en-US" i="1">
                              <a:latin typeface="Cambria Math"/>
                            </a:rPr>
                            <m:t>(</m:t>
                          </m:r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𝑃</m:t>
                          </m:r>
                          <m:r>
                            <a:rPr lang="en-US" i="1">
                              <a:latin typeface="Cambria Math"/>
                            </a:rPr>
                            <m:t>(</m:t>
                          </m:r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453" y="4836102"/>
                <a:ext cx="2567691" cy="6790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1905000" y="4936433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Remember: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337794" y="6098944"/>
                <a:ext cx="8023172" cy="61831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Play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No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|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0.0206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0.02186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=0.</m:t>
                      </m:r>
                      <m:r>
                        <a:rPr lang="en-US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9421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794" y="6098944"/>
                <a:ext cx="8023172" cy="61831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803717" y="1158243"/>
                <a:ext cx="5469113" cy="6790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Play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Yes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| 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𝑃𝑙𝑎𝑦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𝑌𝑒𝑠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𝑃𝑙𝑎𝑦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𝑌𝑒𝑠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𝑃</m:t>
                          </m:r>
                          <m:r>
                            <a:rPr lang="en-US" i="1">
                              <a:latin typeface="Cambria Math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717" y="1158243"/>
                <a:ext cx="5469113" cy="6790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7605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6101" y="260124"/>
            <a:ext cx="6589199" cy="1280890"/>
          </a:xfrm>
        </p:spPr>
        <p:txBody>
          <a:bodyPr vert="horz" lIns="91440" tIns="45720" rIns="91440" bIns="45720" rtlCol="0" anchor="ctr">
            <a:normAutofit fontScale="97500"/>
          </a:bodyPr>
          <a:lstStyle/>
          <a:p>
            <a:r>
              <a:rPr lang="en-US" sz="4100" b="1" dirty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Naïve Bayes Classifiers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074414"/>
          </a:xfrm>
        </p:spPr>
        <p:txBody>
          <a:bodyPr>
            <a:normAutofit fontScale="85000"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probability: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probability of an event before evidence of that event is seen P(H)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posteriori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probability: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probability of an event after the evidence of that event is seen P(H|E)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independence- That’s why we call it naïve!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447800" y="3733800"/>
                <a:ext cx="6629400" cy="27515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𝐸</m:t>
                          </m:r>
                        </m:e>
                        <m:e>
                          <m:r>
                            <a:rPr lang="en-US" sz="2400" i="1">
                              <a:latin typeface="Cambria Math"/>
                            </a:rPr>
                            <m:t>𝐻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 </m:t>
                      </m:r>
                      <m:r>
                        <a:rPr lang="en-US" sz="2400" i="1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r>
                            <a:rPr lang="en-US" sz="2400" i="1">
                              <a:latin typeface="Cambria Math"/>
                            </a:rPr>
                            <m:t>𝐻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∗ </m:t>
                      </m:r>
                      <m:r>
                        <a:rPr lang="en-US" sz="2400" i="1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en-US" sz="2400" i="1">
                              <a:latin typeface="Cambria Math"/>
                            </a:rPr>
                            <m:t>𝐻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∗…∗</m:t>
                      </m:r>
                      <m:r>
                        <a:rPr lang="en-US" sz="2400" i="1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e>
                        <m:e>
                          <m:r>
                            <a:rPr lang="en-US" sz="2400" i="1">
                              <a:latin typeface="Cambria Math"/>
                            </a:rPr>
                            <m:t>𝐻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And Bayes Theorem is: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𝐻</m:t>
                          </m:r>
                        </m:e>
                        <m:e>
                          <m:r>
                            <a:rPr lang="en-US" sz="2400" i="1">
                              <a:latin typeface="Cambria Math"/>
                            </a:rPr>
                            <m:t>𝐸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</m:t>
                      </m:r>
                      <m:r>
                        <a:rPr lang="en-US" sz="2400" i="1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𝐸</m:t>
                          </m:r>
                        </m:e>
                        <m:e>
                          <m:r>
                            <a:rPr lang="en-US" sz="2400" i="1">
                              <a:latin typeface="Cambria Math"/>
                            </a:rPr>
                            <m:t>𝐻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∗ 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/>
                            </a:rPr>
                            <m:t>𝑃</m:t>
                          </m:r>
                          <m:r>
                            <a:rPr lang="en-US" sz="2400" i="1">
                              <a:latin typeface="Cambria Math"/>
                            </a:rPr>
                            <m:t>(</m:t>
                          </m:r>
                          <m:r>
                            <a:rPr lang="en-US" sz="2400" i="1">
                              <a:latin typeface="Cambria Math"/>
                            </a:rPr>
                            <m:t>𝐻</m:t>
                          </m:r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2400" i="1">
                              <a:latin typeface="Cambria Math"/>
                            </a:rPr>
                            <m:t>𝑃</m:t>
                          </m:r>
                          <m:r>
                            <a:rPr lang="en-US" sz="2400" i="1">
                              <a:latin typeface="Cambria Math"/>
                            </a:rPr>
                            <m:t>(</m:t>
                          </m:r>
                          <m:r>
                            <a:rPr lang="en-US" sz="2400" i="1">
                              <a:latin typeface="Cambria Math"/>
                            </a:rPr>
                            <m:t>𝐸</m:t>
                          </m:r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en-US" sz="2400" i="1"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𝐻</m:t>
                              </m:r>
                            </m:e>
                          </m:d>
                          <m:r>
                            <a:rPr lang="en-US" sz="24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𝐻</m:t>
                              </m:r>
                            </m:e>
                          </m:d>
                          <m:r>
                            <a:rPr lang="en-US" sz="2400" i="1">
                              <a:latin typeface="Cambria Math"/>
                            </a:rPr>
                            <m:t>…</m:t>
                          </m:r>
                          <m:r>
                            <a:rPr lang="en-US" sz="24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𝐻</m:t>
                              </m:r>
                            </m:e>
                          </m:d>
                          <m:r>
                            <a:rPr lang="en-US" sz="2400" i="1">
                              <a:latin typeface="Cambria Math"/>
                            </a:rPr>
                            <m:t>𝑃</m:t>
                          </m:r>
                          <m:r>
                            <a:rPr lang="en-US" sz="2400" i="1">
                              <a:latin typeface="Cambria Math"/>
                            </a:rPr>
                            <m:t>(</m:t>
                          </m:r>
                          <m:r>
                            <a:rPr lang="en-US" sz="2400" i="1">
                              <a:latin typeface="Cambria Math"/>
                            </a:rPr>
                            <m:t>𝐻</m:t>
                          </m:r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2400" i="1">
                              <a:latin typeface="Cambria Math"/>
                            </a:rPr>
                            <m:t>𝑃</m:t>
                          </m:r>
                          <m:r>
                            <a:rPr lang="en-US" sz="2400" i="1">
                              <a:latin typeface="Cambria Math"/>
                            </a:rPr>
                            <m:t>(</m:t>
                          </m:r>
                          <m:r>
                            <a:rPr lang="en-US" sz="2400" i="1">
                              <a:latin typeface="Cambria Math"/>
                            </a:rPr>
                            <m:t>𝐸</m:t>
                          </m:r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3733800"/>
                <a:ext cx="6629400" cy="2751587"/>
              </a:xfrm>
              <a:prstGeom prst="rect">
                <a:avLst/>
              </a:prstGeom>
              <a:blipFill rotWithShape="1">
                <a:blip r:embed="rId2"/>
                <a:stretch>
                  <a:fillRect l="-14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6836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147338"/>
            <a:ext cx="6589199" cy="128089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100" b="1" dirty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Was that essential to compute P(X)?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9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53915" y="4798391"/>
            <a:ext cx="8458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Remember that we don’t actually have to calculate P(X) because it is constant for all classes.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28600" y="2090357"/>
                <a:ext cx="8023172" cy="6790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Play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Yes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|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𝑃𝑙𝑎𝑦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𝑌𝑒𝑠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𝑃𝑙𝑎𝑦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𝑌𝑒𝑠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𝑃</m:t>
                          </m:r>
                          <m:r>
                            <a:rPr lang="en-US" i="1">
                              <a:latin typeface="Cambria Math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0.0053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2090357"/>
                <a:ext cx="8023172" cy="6790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66307" y="2842394"/>
                <a:ext cx="8023172" cy="6790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Play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No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|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𝑃𝑙𝑎𝑦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𝑁𝑜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𝑃𝑙𝑎𝑦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𝑁𝑜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𝑃</m:t>
                          </m:r>
                          <m:r>
                            <a:rPr lang="en-US" i="1">
                              <a:latin typeface="Cambria Math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0.0206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307" y="2842394"/>
                <a:ext cx="8023172" cy="6790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2643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6101" y="260124"/>
            <a:ext cx="6589199" cy="128089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4100" b="1" dirty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Naïve Bayes Classifier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074414"/>
          </a:xfrm>
        </p:spPr>
        <p:txBody>
          <a:bodyPr>
            <a:normAutofit/>
          </a:bodyPr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484" y="1828800"/>
            <a:ext cx="8343031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508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32732" y="264366"/>
            <a:ext cx="5105400" cy="1143000"/>
          </a:xfrm>
        </p:spPr>
        <p:txBody>
          <a:bodyPr>
            <a:normAutofit/>
          </a:bodyPr>
          <a:lstStyle/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classes example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11</a:t>
            </a:fld>
            <a:endParaRPr lang="en-US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47700" y="1524000"/>
            <a:ext cx="8458200" cy="51816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this part, let’s load the Iris dataset</a:t>
            </a: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11228" y="2895600"/>
            <a:ext cx="8458200" cy="8382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03717" y="2083475"/>
            <a:ext cx="750601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sklearn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datasets </a:t>
            </a:r>
          </a:p>
          <a:p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numpy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as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np 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iris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datasets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load_iris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X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iris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008000"/>
                </a:solidFill>
                <a:latin typeface="Courier New" panose="02070309020205020404" pitchFamily="49" charset="0"/>
              </a:rPr>
              <a:t># Sepal and pedal </a:t>
            </a:r>
            <a:r>
              <a:rPr lang="en-US" sz="1400" dirty="0" err="1">
                <a:solidFill>
                  <a:srgbClr val="008000"/>
                </a:solidFill>
                <a:latin typeface="Courier New" panose="02070309020205020404" pitchFamily="49" charset="0"/>
              </a:rPr>
              <a:t>negth</a:t>
            </a:r>
            <a:r>
              <a:rPr lang="en-US" sz="1400" dirty="0">
                <a:solidFill>
                  <a:srgbClr val="008000"/>
                </a:solidFill>
                <a:latin typeface="Courier New" panose="02070309020205020404" pitchFamily="49" charset="0"/>
              </a:rPr>
              <a:t> and width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y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iris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target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IRIS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pd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DataFrame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({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400" dirty="0" err="1">
                <a:solidFill>
                  <a:srgbClr val="808080"/>
                </a:solidFill>
                <a:latin typeface="Courier New" panose="02070309020205020404" pitchFamily="49" charset="0"/>
              </a:rPr>
              <a:t>Sepal_Length'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: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[:,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0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],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400" dirty="0" err="1">
                <a:solidFill>
                  <a:srgbClr val="808080"/>
                </a:solidFill>
                <a:latin typeface="Courier New" panose="02070309020205020404" pitchFamily="49" charset="0"/>
              </a:rPr>
              <a:t>Sepal_Width'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: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[:,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],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400" dirty="0" err="1">
                <a:solidFill>
                  <a:srgbClr val="808080"/>
                </a:solidFill>
                <a:latin typeface="Courier New" panose="02070309020205020404" pitchFamily="49" charset="0"/>
              </a:rPr>
              <a:t>Petal_Length'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: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[:,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2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],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400" dirty="0" err="1">
                <a:solidFill>
                  <a:srgbClr val="808080"/>
                </a:solidFill>
                <a:latin typeface="Courier New" panose="02070309020205020404" pitchFamily="49" charset="0"/>
              </a:rPr>
              <a:t>Petal_Width'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: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[:,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3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],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urier New" panose="02070309020205020404" pitchFamily="49" charset="0"/>
              </a:rPr>
              <a:t>'</a:t>
            </a:r>
            <a:r>
              <a:rPr lang="en-US" sz="1400" dirty="0" err="1">
                <a:solidFill>
                  <a:srgbClr val="808080"/>
                </a:solidFill>
                <a:latin typeface="Courier New" panose="02070309020205020404" pitchFamily="49" charset="0"/>
              </a:rPr>
              <a:t>Species'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: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})</a:t>
            </a:r>
            <a:endParaRPr lang="en-US" sz="1400" dirty="0"/>
          </a:p>
          <a:p>
            <a:endParaRPr lang="en-US" sz="1400" dirty="0">
              <a:effectLst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4335200"/>
            <a:ext cx="4105275" cy="20478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651" y="4335200"/>
            <a:ext cx="3752850" cy="2076450"/>
          </a:xfrm>
          <a:prstGeom prst="rect">
            <a:avLst/>
          </a:prstGeom>
        </p:spPr>
      </p:pic>
      <p:pic>
        <p:nvPicPr>
          <p:cNvPr id="1026" name="Picture 2" descr="Image result for setosa virginica and versicol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900" y="1666953"/>
            <a:ext cx="7397644" cy="234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8895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32732" y="264366"/>
            <a:ext cx="5105400" cy="1143000"/>
          </a:xfrm>
        </p:spPr>
        <p:txBody>
          <a:bodyPr>
            <a:normAutofit/>
          </a:bodyPr>
          <a:lstStyle/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classes example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12</a:t>
            </a:fld>
            <a:endParaRPr lang="en-US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47700" y="1524000"/>
            <a:ext cx="8458200" cy="51816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see what is going in our problem</a:t>
            </a: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11228" y="2895600"/>
            <a:ext cx="8458200" cy="8382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2209800" y="2438288"/>
            <a:ext cx="609600" cy="900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2666986" y="2170241"/>
                <a:ext cx="3776098" cy="8745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 i="1">
                          <a:latin typeface="Cambria Math"/>
                        </a:rPr>
                        <m:t>)= 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400" i="1" smtClean="0">
                                  <a:latin typeface="Cambria Math"/>
                                </a:rPr>
                                <m:t> 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) </m:t>
                          </m:r>
                          <m:r>
                            <a:rPr lang="en-US" sz="2400" i="1">
                              <a:latin typeface="Cambria Math"/>
                            </a:rPr>
                            <m:t>𝑃</m:t>
                          </m:r>
                          <m:r>
                            <a:rPr lang="en-US" sz="2400" i="1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2400" i="1">
                              <a:latin typeface="Cambria Math"/>
                            </a:rPr>
                            <m:t>𝑃</m:t>
                          </m:r>
                          <m:r>
                            <a:rPr lang="en-US" sz="2400" i="1">
                              <a:latin typeface="Cambria Math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986" y="2170241"/>
                <a:ext cx="3776098" cy="8745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 Box 2"/>
          <p:cNvSpPr txBox="1">
            <a:spLocks noChangeArrowheads="1"/>
          </p:cNvSpPr>
          <p:nvPr/>
        </p:nvSpPr>
        <p:spPr bwMode="auto">
          <a:xfrm>
            <a:off x="342121" y="1992012"/>
            <a:ext cx="4212914" cy="446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000" dirty="0" err="1">
                <a:effectLst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Setosa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| length and width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1104062" y="3805661"/>
                <a:ext cx="7102457" cy="8745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 i="1">
                          <a:latin typeface="Cambria Math"/>
                        </a:rPr>
                        <m:t>)= 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  <m:r>
                            <a:rPr lang="en-US" sz="24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  <m:r>
                            <a:rPr lang="en-US" sz="24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  <m:r>
                            <a:rPr lang="en-US" sz="24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  <m:r>
                            <a:rPr lang="en-US" sz="2400" i="1">
                              <a:latin typeface="Cambria Math"/>
                            </a:rPr>
                            <m:t>𝑃</m:t>
                          </m:r>
                          <m:r>
                            <a:rPr lang="en-US" sz="2400" i="1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2400" i="1">
                              <a:latin typeface="Cambria Math"/>
                            </a:rPr>
                            <m:t>𝑃</m:t>
                          </m:r>
                          <m:r>
                            <a:rPr lang="en-US" sz="2400" i="1">
                              <a:latin typeface="Cambria Math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062" y="3805661"/>
                <a:ext cx="7102457" cy="8745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1235559" y="4923162"/>
                <a:ext cx="7102457" cy="8745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 i="1">
                          <a:latin typeface="Cambria Math"/>
                        </a:rPr>
                        <m:t>)= 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  <m:r>
                            <a:rPr lang="en-US" sz="24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  <m:r>
                            <a:rPr lang="en-US" sz="24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  <m:r>
                            <a:rPr lang="en-US" sz="24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  <m:r>
                            <a:rPr lang="en-US" sz="2400" i="1">
                              <a:latin typeface="Cambria Math"/>
                            </a:rPr>
                            <m:t>𝑃</m:t>
                          </m:r>
                          <m:r>
                            <a:rPr lang="en-US" sz="2400" i="1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2400" i="1">
                              <a:latin typeface="Cambria Math"/>
                            </a:rPr>
                            <m:t>𝑃</m:t>
                          </m:r>
                          <m:r>
                            <a:rPr lang="en-US" sz="2400" i="1">
                              <a:latin typeface="Cambria Math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559" y="4923162"/>
                <a:ext cx="7102457" cy="8745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/>
          <p:cNvCxnSpPr/>
          <p:nvPr/>
        </p:nvCxnSpPr>
        <p:spPr>
          <a:xfrm flipH="1" flipV="1">
            <a:off x="3124200" y="3575069"/>
            <a:ext cx="457200" cy="25669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2"/>
          <p:cNvSpPr txBox="1">
            <a:spLocks noChangeArrowheads="1"/>
          </p:cNvSpPr>
          <p:nvPr/>
        </p:nvSpPr>
        <p:spPr bwMode="auto">
          <a:xfrm>
            <a:off x="1649386" y="3173839"/>
            <a:ext cx="2340028" cy="4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petal length | </a:t>
            </a:r>
            <a:r>
              <a:rPr lang="en-US" sz="2000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Setosa</a:t>
            </a: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endParaRPr lang="en-US" sz="2000" dirty="0">
              <a:effectLst/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26" name="Text Box 2"/>
          <p:cNvSpPr txBox="1">
            <a:spLocks noChangeArrowheads="1"/>
          </p:cNvSpPr>
          <p:nvPr/>
        </p:nvSpPr>
        <p:spPr bwMode="auto">
          <a:xfrm>
            <a:off x="3875207" y="3002013"/>
            <a:ext cx="2340028" cy="4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petal width | </a:t>
            </a:r>
            <a:r>
              <a:rPr lang="en-US" sz="2000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Setosa</a:t>
            </a:r>
            <a:endParaRPr lang="en-US" sz="2000" dirty="0">
              <a:effectLst/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4485432" y="3448289"/>
            <a:ext cx="169858" cy="3780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Box 2"/>
          <p:cNvSpPr txBox="1">
            <a:spLocks noChangeArrowheads="1"/>
          </p:cNvSpPr>
          <p:nvPr/>
        </p:nvSpPr>
        <p:spPr bwMode="auto">
          <a:xfrm>
            <a:off x="5464228" y="3287524"/>
            <a:ext cx="2340028" cy="446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sepal length | </a:t>
            </a:r>
            <a:r>
              <a:rPr lang="en-US" sz="2000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Setosa</a:t>
            </a:r>
            <a:endParaRPr lang="en-US" sz="2000" dirty="0">
              <a:effectLst/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 flipV="1">
            <a:off x="5601538" y="3687543"/>
            <a:ext cx="456362" cy="16289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Box 2"/>
          <p:cNvSpPr txBox="1">
            <a:spLocks noChangeArrowheads="1"/>
          </p:cNvSpPr>
          <p:nvPr/>
        </p:nvSpPr>
        <p:spPr bwMode="auto">
          <a:xfrm>
            <a:off x="6697636" y="2826294"/>
            <a:ext cx="2340028" cy="4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sepal width | </a:t>
            </a:r>
            <a:r>
              <a:rPr lang="en-US" sz="2000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Setosa</a:t>
            </a:r>
            <a:endParaRPr lang="en-US" sz="2000" dirty="0">
              <a:effectLst/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cxnSp>
        <p:nvCxnSpPr>
          <p:cNvPr id="34" name="Straight Arrow Connector 33"/>
          <p:cNvCxnSpPr/>
          <p:nvPr/>
        </p:nvCxnSpPr>
        <p:spPr>
          <a:xfrm flipV="1">
            <a:off x="6962839" y="3210040"/>
            <a:ext cx="1158961" cy="6890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1235558" y="5937415"/>
                <a:ext cx="7102457" cy="8745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 i="1">
                          <a:latin typeface="Cambria Math"/>
                        </a:rPr>
                        <m:t>)= 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  <m:r>
                            <a:rPr lang="en-US" sz="24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  <m:r>
                            <a:rPr lang="en-US" sz="24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  <m:r>
                            <a:rPr lang="en-US" sz="2400" i="1"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  <m:r>
                            <a:rPr lang="en-US" sz="2400" i="1">
                              <a:latin typeface="Cambria Math"/>
                            </a:rPr>
                            <m:t>𝑃</m:t>
                          </m:r>
                          <m:r>
                            <a:rPr lang="en-US" sz="2400" i="1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2400" i="1">
                              <a:latin typeface="Cambria Math"/>
                            </a:rPr>
                            <m:t>𝑃</m:t>
                          </m:r>
                          <m:r>
                            <a:rPr lang="en-US" sz="2400" i="1">
                              <a:latin typeface="Cambria Math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400" i="1"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558" y="5937415"/>
                <a:ext cx="7102457" cy="8745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 Box 2"/>
          <p:cNvSpPr txBox="1">
            <a:spLocks noChangeArrowheads="1"/>
          </p:cNvSpPr>
          <p:nvPr/>
        </p:nvSpPr>
        <p:spPr bwMode="auto">
          <a:xfrm>
            <a:off x="511228" y="4550286"/>
            <a:ext cx="4714871" cy="446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000" dirty="0" err="1">
                <a:effectLst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Virginica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| length and width information</a:t>
            </a:r>
          </a:p>
        </p:txBody>
      </p:sp>
      <p:sp>
        <p:nvSpPr>
          <p:cNvPr id="38" name="Text Box 2"/>
          <p:cNvSpPr txBox="1">
            <a:spLocks noChangeArrowheads="1"/>
          </p:cNvSpPr>
          <p:nvPr/>
        </p:nvSpPr>
        <p:spPr bwMode="auto">
          <a:xfrm>
            <a:off x="357832" y="5621112"/>
            <a:ext cx="4714871" cy="446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Versicolor | length and width information</a:t>
            </a:r>
          </a:p>
        </p:txBody>
      </p:sp>
      <p:sp>
        <p:nvSpPr>
          <p:cNvPr id="28" name="Text Box 2"/>
          <p:cNvSpPr txBox="1">
            <a:spLocks noChangeArrowheads="1"/>
          </p:cNvSpPr>
          <p:nvPr/>
        </p:nvSpPr>
        <p:spPr bwMode="auto">
          <a:xfrm>
            <a:off x="8019338" y="3621628"/>
            <a:ext cx="954097" cy="446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Setosa</a:t>
            </a:r>
            <a:endParaRPr lang="en-US" sz="2000" dirty="0">
              <a:effectLst/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cxnSp>
        <p:nvCxnSpPr>
          <p:cNvPr id="29" name="Straight Arrow Connector 28"/>
          <p:cNvCxnSpPr>
            <a:endCxn id="28" idx="1"/>
          </p:cNvCxnSpPr>
          <p:nvPr/>
        </p:nvCxnSpPr>
        <p:spPr>
          <a:xfrm flipV="1">
            <a:off x="7772400" y="3844766"/>
            <a:ext cx="246938" cy="542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7405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5" grpId="0"/>
      <p:bldP spid="26" grpId="0"/>
      <p:bldP spid="30" grpId="0"/>
      <p:bldP spid="33" grpId="0"/>
      <p:bldP spid="36" grpId="0"/>
      <p:bldP spid="37" grpId="0"/>
      <p:bldP spid="38" grpId="0"/>
      <p:bldP spid="2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32732" y="264366"/>
            <a:ext cx="5105400" cy="1143000"/>
          </a:xfrm>
        </p:spPr>
        <p:txBody>
          <a:bodyPr>
            <a:normAutofit/>
          </a:bodyPr>
          <a:lstStyle/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data to train and test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13</a:t>
            </a:fld>
            <a:endParaRPr lang="en-US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47700" y="1524000"/>
            <a:ext cx="8458200" cy="51816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same methodology as before to split data to train and test</a:t>
            </a: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we have 70% of data for training and the rest for testing</a:t>
            </a: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11228" y="2895600"/>
            <a:ext cx="8458200" cy="8382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6490" y="2139843"/>
            <a:ext cx="788308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sklearn</a:t>
            </a:r>
            <a:r>
              <a:rPr lang="en-US" sz="1400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model_selection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train_test_split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X_train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X_test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y_train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y_test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train_test_split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y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test_size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0.30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random_state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52</a:t>
            </a:r>
            <a:r>
              <a:rPr lang="en-US" sz="1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endParaRPr lang="en-US" sz="1400" dirty="0"/>
          </a:p>
          <a:p>
            <a:endParaRPr lang="en-US" sz="1400" dirty="0">
              <a:effectLst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109" y="3744798"/>
            <a:ext cx="4056645" cy="277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0323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855663"/>
            <a:ext cx="5943600" cy="5145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597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32732" y="264366"/>
            <a:ext cx="5105400" cy="1143000"/>
          </a:xfrm>
        </p:spPr>
        <p:txBody>
          <a:bodyPr>
            <a:normAutofit fontScale="90000"/>
          </a:bodyPr>
          <a:lstStyle/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and evaluate the model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15</a:t>
            </a:fld>
            <a:endParaRPr lang="en-US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47700" y="1524000"/>
            <a:ext cx="8458200" cy="51816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we can train and evaluate the model</a:t>
            </a: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way of improving the accuracy is to change the prior probabilities</a:t>
            </a: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discrete features we use </a:t>
            </a:r>
            <a:r>
              <a:rPr lang="en-US" i="1" dirty="0" err="1"/>
              <a:t>MultinomialNB</a:t>
            </a:r>
            <a:r>
              <a:rPr lang="en-US" i="1" dirty="0"/>
              <a:t>()</a:t>
            </a:r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11228" y="2895600"/>
            <a:ext cx="8458200" cy="8382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08832" y="2209800"/>
            <a:ext cx="65532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sklearn</a:t>
            </a:r>
            <a:r>
              <a:rPr lang="en-US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naive_bayes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GaussianNB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from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sklearn</a:t>
            </a:r>
            <a:r>
              <a:rPr lang="en-US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metrics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accuracy_score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gnb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GaussianNB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gnb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gnb</a:t>
            </a:r>
            <a:r>
              <a:rPr lang="en-US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fit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X_train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y_train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y_predict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gnb</a:t>
            </a:r>
            <a:r>
              <a:rPr lang="en-US" b="1" dirty="0" err="1">
                <a:solidFill>
                  <a:srgbClr val="000080"/>
                </a:solidFill>
                <a:latin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predict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X_test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accuracy_score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y_test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y_predict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)*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100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>
              <a:effectLst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968806">
            <a:off x="6781800" y="3145486"/>
            <a:ext cx="1532682" cy="2859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061004" y="5044178"/>
            <a:ext cx="5943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gnb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GaussianNB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priors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=[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.13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.74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.13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])</a:t>
            </a:r>
            <a:endParaRPr lang="en-US" dirty="0">
              <a:effectLst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676124">
            <a:off x="6584891" y="5261123"/>
            <a:ext cx="1666032" cy="23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072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32732" y="264366"/>
            <a:ext cx="5105400" cy="1143000"/>
          </a:xfrm>
        </p:spPr>
        <p:txBody>
          <a:bodyPr>
            <a:normAutofit/>
          </a:bodyPr>
          <a:lstStyle/>
          <a:p>
            <a:pPr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information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16</a:t>
            </a:fld>
            <a:endParaRPr lang="en-US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647700" y="1524000"/>
            <a:ext cx="8458200" cy="51816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get more information about the model</a:t>
            </a: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we can show likelihood of features</a:t>
            </a:r>
          </a:p>
          <a:p>
            <a:pPr lvl="1" fontAlgn="base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theta_ : mean of each feature per class</a:t>
            </a:r>
          </a:p>
          <a:p>
            <a:pPr lvl="1" fontAlgn="base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sigma_ : variance of each feature per class</a:t>
            </a:r>
          </a:p>
          <a:p>
            <a:pPr lvl="1" fontAlgn="base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11228" y="2895600"/>
            <a:ext cx="8458200" cy="8382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71600" y="2046470"/>
            <a:ext cx="15969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gnb</a:t>
            </a:r>
            <a:r>
              <a:rPr lang="en-US" dirty="0"/>
              <a:t>.__</a:t>
            </a:r>
            <a:r>
              <a:rPr lang="en-US" dirty="0" err="1"/>
              <a:t>dict</a:t>
            </a:r>
            <a:r>
              <a:rPr lang="en-US" dirty="0"/>
              <a:t>__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206" y="2600325"/>
            <a:ext cx="5638740" cy="1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9942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319310"/>
            <a:ext cx="6589199" cy="128089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100" b="1" dirty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R- Iris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229600" cy="4635115"/>
          </a:xfrm>
        </p:spPr>
        <p:txBody>
          <a:bodyPr>
            <a:normAutofit/>
          </a:bodyPr>
          <a:lstStyle/>
          <a:p>
            <a:pPr marL="137160" indent="0">
              <a:buNone/>
            </a:pPr>
            <a:r>
              <a:rPr lang="en-US" dirty="0"/>
              <a:t>&gt; library(</a:t>
            </a:r>
            <a:r>
              <a:rPr lang="en-US" dirty="0" err="1"/>
              <a:t>caTools</a:t>
            </a:r>
            <a:r>
              <a:rPr lang="en-US" dirty="0"/>
              <a:t>)</a:t>
            </a:r>
          </a:p>
          <a:p>
            <a:pPr marL="137160" indent="0">
              <a:buNone/>
            </a:pPr>
            <a:r>
              <a:rPr lang="en-US" dirty="0"/>
              <a:t>&gt; # Make 70% of data for training and the rest for testing</a:t>
            </a:r>
          </a:p>
          <a:p>
            <a:pPr marL="137160" indent="0">
              <a:buNone/>
            </a:pPr>
            <a:r>
              <a:rPr lang="en-US" dirty="0"/>
              <a:t>&gt; </a:t>
            </a:r>
            <a:r>
              <a:rPr lang="en-US" dirty="0" err="1"/>
              <a:t>set.seed</a:t>
            </a:r>
            <a:r>
              <a:rPr lang="en-US" dirty="0"/>
              <a:t>(1)</a:t>
            </a:r>
          </a:p>
          <a:p>
            <a:pPr marL="137160" indent="0">
              <a:buNone/>
            </a:pPr>
            <a:r>
              <a:rPr lang="en-US" dirty="0"/>
              <a:t>&gt; </a:t>
            </a:r>
            <a:r>
              <a:rPr lang="en-US" dirty="0" err="1"/>
              <a:t>iris$spl</a:t>
            </a:r>
            <a:r>
              <a:rPr lang="en-US" dirty="0"/>
              <a:t> &lt;- </a:t>
            </a:r>
            <a:r>
              <a:rPr lang="en-US" dirty="0" err="1"/>
              <a:t>sample.split</a:t>
            </a:r>
            <a:r>
              <a:rPr lang="en-US" dirty="0"/>
              <a:t>(</a:t>
            </a:r>
            <a:r>
              <a:rPr lang="en-US" dirty="0" err="1"/>
              <a:t>iris,SplitRatio</a:t>
            </a:r>
            <a:r>
              <a:rPr lang="en-US" dirty="0"/>
              <a:t> = 0.7) </a:t>
            </a:r>
          </a:p>
          <a:p>
            <a:pPr marL="137160" indent="0">
              <a:buNone/>
            </a:pPr>
            <a:r>
              <a:rPr lang="en-US" dirty="0"/>
              <a:t>&gt; train &lt;- subset(iris, </a:t>
            </a:r>
            <a:r>
              <a:rPr lang="en-US" dirty="0" err="1"/>
              <a:t>iris$spl</a:t>
            </a:r>
            <a:r>
              <a:rPr lang="en-US" dirty="0"/>
              <a:t>==TRUE)</a:t>
            </a:r>
          </a:p>
          <a:p>
            <a:pPr marL="137160" indent="0">
              <a:buNone/>
            </a:pPr>
            <a:r>
              <a:rPr lang="en-US" dirty="0"/>
              <a:t>&gt; test &lt;- subset(iris, </a:t>
            </a:r>
            <a:r>
              <a:rPr lang="en-US" dirty="0" err="1"/>
              <a:t>iris$spl</a:t>
            </a:r>
            <a:r>
              <a:rPr lang="en-US" dirty="0"/>
              <a:t>==FALSE)</a:t>
            </a:r>
          </a:p>
          <a:p>
            <a:pPr marL="137160" indent="0">
              <a:buNone/>
            </a:pPr>
            <a:r>
              <a:rPr lang="en-US" dirty="0"/>
              <a:t>&gt; # drop the newly added column</a:t>
            </a:r>
          </a:p>
          <a:p>
            <a:pPr marL="137160" indent="0">
              <a:buNone/>
            </a:pPr>
            <a:r>
              <a:rPr lang="en-US" dirty="0"/>
              <a:t>&gt; train1 &lt;- train[-6]</a:t>
            </a:r>
          </a:p>
          <a:p>
            <a:pPr marL="137160" indent="0">
              <a:buNone/>
            </a:pPr>
            <a:r>
              <a:rPr lang="en-US" dirty="0"/>
              <a:t>&gt; test1 &lt;- test[-6]</a:t>
            </a:r>
          </a:p>
          <a:p>
            <a:pPr marL="137160" indent="0">
              <a:buNone/>
            </a:pPr>
            <a:r>
              <a:rPr lang="en-US" dirty="0"/>
              <a:t>&gt; library(</a:t>
            </a:r>
            <a:r>
              <a:rPr lang="en-US" dirty="0" err="1"/>
              <a:t>naivebayes</a:t>
            </a:r>
            <a:r>
              <a:rPr lang="en-US" dirty="0"/>
              <a:t>)</a:t>
            </a:r>
          </a:p>
          <a:p>
            <a:pPr marL="137160" indent="0">
              <a:buNone/>
            </a:pPr>
            <a:r>
              <a:rPr lang="en-US" dirty="0"/>
              <a:t> 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418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319310"/>
            <a:ext cx="6589199" cy="128089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100" b="1" dirty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R- Naïve Bayes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229600" cy="4724399"/>
          </a:xfrm>
        </p:spPr>
        <p:txBody>
          <a:bodyPr>
            <a:normAutofit/>
          </a:bodyPr>
          <a:lstStyle/>
          <a:p>
            <a:pPr marL="137160" indent="0">
              <a:buNone/>
            </a:pPr>
            <a:r>
              <a:rPr lang="en-US" dirty="0"/>
              <a:t>&gt; naive &lt;-</a:t>
            </a:r>
            <a:r>
              <a:rPr lang="en-US" dirty="0" err="1"/>
              <a:t>naive_bayes</a:t>
            </a:r>
            <a:r>
              <a:rPr lang="en-US" dirty="0"/>
              <a:t>(Species ~ ., data=train1)</a:t>
            </a:r>
          </a:p>
          <a:p>
            <a:pPr marL="137160" indent="0">
              <a:buNone/>
            </a:pPr>
            <a:r>
              <a:rPr lang="en-US" dirty="0"/>
              <a:t>&gt; (mat&lt;- table(predict(naive, test1[,-5]), test1[,5]))</a:t>
            </a:r>
          </a:p>
          <a:p>
            <a:pPr marL="137160" indent="0">
              <a:buNone/>
            </a:pPr>
            <a:r>
              <a:rPr lang="en-US" dirty="0"/>
              <a:t>            </a:t>
            </a:r>
          </a:p>
          <a:p>
            <a:pPr marL="137160" indent="0">
              <a:buNone/>
            </a:pPr>
            <a:r>
              <a:rPr lang="en-US" dirty="0"/>
              <a:t>             </a:t>
            </a:r>
            <a:r>
              <a:rPr lang="en-US" dirty="0" err="1"/>
              <a:t>setosa</a:t>
            </a:r>
            <a:r>
              <a:rPr lang="en-US" dirty="0"/>
              <a:t> versicolor </a:t>
            </a:r>
            <a:r>
              <a:rPr lang="en-US" dirty="0" err="1"/>
              <a:t>virginica</a:t>
            </a:r>
            <a:endParaRPr lang="en-US" dirty="0"/>
          </a:p>
          <a:p>
            <a:pPr marL="137160" indent="0">
              <a:buNone/>
            </a:pPr>
            <a:r>
              <a:rPr lang="en-US" dirty="0"/>
              <a:t>  </a:t>
            </a:r>
            <a:r>
              <a:rPr lang="en-US" dirty="0" err="1"/>
              <a:t>setosa</a:t>
            </a:r>
            <a:r>
              <a:rPr lang="en-US" dirty="0"/>
              <a:t>         16          0         0</a:t>
            </a:r>
          </a:p>
          <a:p>
            <a:pPr marL="137160" indent="0">
              <a:buNone/>
            </a:pPr>
            <a:r>
              <a:rPr lang="en-US" dirty="0"/>
              <a:t>  versicolor      0         16         1</a:t>
            </a:r>
          </a:p>
          <a:p>
            <a:pPr marL="137160" indent="0">
              <a:buNone/>
            </a:pPr>
            <a:r>
              <a:rPr lang="en-US" dirty="0"/>
              <a:t>  </a:t>
            </a:r>
            <a:r>
              <a:rPr lang="en-US" dirty="0" err="1"/>
              <a:t>virginica</a:t>
            </a:r>
            <a:r>
              <a:rPr lang="en-US" dirty="0"/>
              <a:t>       0          1        16</a:t>
            </a:r>
          </a:p>
          <a:p>
            <a:pPr marL="137160" indent="0">
              <a:buNone/>
            </a:pPr>
            <a:endParaRPr lang="en-US" dirty="0"/>
          </a:p>
          <a:p>
            <a:pPr marL="137160" indent="0">
              <a:buNone/>
            </a:pPr>
            <a:r>
              <a:rPr lang="pl-PL" dirty="0"/>
              <a:t>&gt; (Accuracy &lt;- sum(diag(mat))/sum(mat)*100)</a:t>
            </a:r>
          </a:p>
          <a:p>
            <a:pPr marL="137160" indent="0">
              <a:buNone/>
            </a:pPr>
            <a:r>
              <a:rPr lang="pl-PL" dirty="0"/>
              <a:t>[1] 96</a:t>
            </a:r>
            <a:endParaRPr lang="en-US" dirty="0"/>
          </a:p>
          <a:p>
            <a:pPr marL="13716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6204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300260"/>
            <a:ext cx="6589199" cy="128089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100" b="1" dirty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Pros and Cons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47426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easy and fast for classification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events are independent,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Naïve Bayes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 acts better and we need less training data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works better on categorical variables compered to numerical ones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there is a category which is not seen in training, the probability of zero will be assigned that affects the final result (Zero frequency)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 of independent redactors in real world does not hold</a:t>
            </a:r>
          </a:p>
          <a:p>
            <a:pPr lvl="1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96C40-0356-46F5-90E5-FF57DE76D9A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95081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376BFFEBE008478A0EC19FFC5CAE25" ma:contentTypeVersion="2" ma:contentTypeDescription="Create a new document." ma:contentTypeScope="" ma:versionID="222da272828c52aae3aea7aac679f7eb">
  <xsd:schema xmlns:xsd="http://www.w3.org/2001/XMLSchema" xmlns:xs="http://www.w3.org/2001/XMLSchema" xmlns:p="http://schemas.microsoft.com/office/2006/metadata/properties" xmlns:ns2="54f0c67b-9c4f-47ec-b2e9-282ef016d26c" targetNamespace="http://schemas.microsoft.com/office/2006/metadata/properties" ma:root="true" ma:fieldsID="9c3027e3c2b9147528be8a0aa63380b9" ns2:_="">
    <xsd:import namespace="54f0c67b-9c4f-47ec-b2e9-282ef016d26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f0c67b-9c4f-47ec-b2e9-282ef016d26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59F388A-2A12-4F06-96F8-77E7921E1D8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6F0A3B4-8292-44E8-9B2D-9F9D51F4082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E0F9962-FC68-4F9C-AD75-05D34B166C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4f0c67b-9c4f-47ec-b2e9-282ef016d2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15529</TotalTime>
  <Words>1417</Words>
  <Application>Microsoft Office PowerPoint</Application>
  <PresentationFormat>On-screen Show (4:3)</PresentationFormat>
  <Paragraphs>423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Cambria Math</vt:lpstr>
      <vt:lpstr>Century Gothic</vt:lpstr>
      <vt:lpstr>Courier New</vt:lpstr>
      <vt:lpstr>Times New Roman</vt:lpstr>
      <vt:lpstr>Wingdings 3</vt:lpstr>
      <vt:lpstr>Wisp</vt:lpstr>
      <vt:lpstr>Machine Learning</vt:lpstr>
      <vt:lpstr>Lesson Outline</vt:lpstr>
      <vt:lpstr>Bayes Theorem</vt:lpstr>
      <vt:lpstr>Bayes Theorem</vt:lpstr>
      <vt:lpstr>Example Using Bayes Theorem</vt:lpstr>
      <vt:lpstr>Example Using Bayes Theorem</vt:lpstr>
      <vt:lpstr>Example</vt:lpstr>
      <vt:lpstr>Naïve Bayes Classifiers</vt:lpstr>
      <vt:lpstr>Was that essential to compute P(X)?</vt:lpstr>
      <vt:lpstr>Naïve Bayes Classifier Applications</vt:lpstr>
      <vt:lpstr>Multiple classes example</vt:lpstr>
      <vt:lpstr>Multiple classes example</vt:lpstr>
      <vt:lpstr>Split data to train and test</vt:lpstr>
      <vt:lpstr>PowerPoint Presentation</vt:lpstr>
      <vt:lpstr>Train and evaluate the model</vt:lpstr>
      <vt:lpstr>More information</vt:lpstr>
      <vt:lpstr>R- Iris Dataset</vt:lpstr>
      <vt:lpstr>R- Naïve Bayes model</vt:lpstr>
      <vt:lpstr>Pros and Cons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I</dc:title>
  <dc:creator>Marvine</dc:creator>
  <cp:lastModifiedBy>Roozbeh Sadeghian</cp:lastModifiedBy>
  <cp:revision>587</cp:revision>
  <dcterms:created xsi:type="dcterms:W3CDTF">2016-06-23T19:27:44Z</dcterms:created>
  <dcterms:modified xsi:type="dcterms:W3CDTF">2023-06-22T00:30:32Z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0x010100FF376BFFEBE008478A0EC19FFC5CAE25</vt:lpwstr>
  </property>
</Properties>
</file>